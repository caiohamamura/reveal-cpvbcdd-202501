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Roboto"/>
      <p:regular r:id="rId35"/>
      <p:bold r:id="rId36"/>
      <p:italic r:id="rId37"/>
      <p:boldItalic r:id="rId38"/>
    </p:embeddedFont>
    <p:embeddedFont>
      <p:font typeface="EB Garamond"/>
      <p:regular r:id="rId39"/>
      <p:bold r:id="rId40"/>
      <p:italic r:id="rId41"/>
      <p:boldItalic r:id="rId42"/>
    </p:embeddedFont>
    <p:embeddedFont>
      <p:font typeface="Oswald"/>
      <p:regular r:id="rId43"/>
      <p:bold r:id="rId44"/>
    </p:embeddedFont>
    <p:embeddedFont>
      <p:font typeface="Century Gothic"/>
      <p:regular r:id="rId45"/>
      <p:bold r:id="rId46"/>
      <p:italic r:id="rId47"/>
      <p:boldItalic r:id="rId48"/>
    </p:embeddedFont>
    <p:embeddedFont>
      <p:font typeface="Open Sans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EBGaramond-bold.fntdata"/><Relationship Id="rId42" Type="http://schemas.openxmlformats.org/officeDocument/2006/relationships/font" Target="fonts/EBGaramond-boldItalic.fntdata"/><Relationship Id="rId41" Type="http://schemas.openxmlformats.org/officeDocument/2006/relationships/font" Target="fonts/EBGaramond-italic.fntdata"/><Relationship Id="rId44" Type="http://schemas.openxmlformats.org/officeDocument/2006/relationships/font" Target="fonts/Oswald-bold.fntdata"/><Relationship Id="rId43" Type="http://schemas.openxmlformats.org/officeDocument/2006/relationships/font" Target="fonts/Oswald-regular.fntdata"/><Relationship Id="rId46" Type="http://schemas.openxmlformats.org/officeDocument/2006/relationships/font" Target="fonts/CenturyGothic-bold.fntdata"/><Relationship Id="rId45" Type="http://schemas.openxmlformats.org/officeDocument/2006/relationships/font" Target="fonts/CenturyGothic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CenturyGothic-boldItalic.fntdata"/><Relationship Id="rId47" Type="http://schemas.openxmlformats.org/officeDocument/2006/relationships/font" Target="fonts/CenturyGothic-italic.fntdata"/><Relationship Id="rId49" Type="http://schemas.openxmlformats.org/officeDocument/2006/relationships/font" Target="fonts/Open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font" Target="fonts/Roboto-regular.fntdata"/><Relationship Id="rId34" Type="http://schemas.openxmlformats.org/officeDocument/2006/relationships/slide" Target="slides/slide29.xml"/><Relationship Id="rId37" Type="http://schemas.openxmlformats.org/officeDocument/2006/relationships/font" Target="fonts/Roboto-italic.fntdata"/><Relationship Id="rId36" Type="http://schemas.openxmlformats.org/officeDocument/2006/relationships/font" Target="fonts/Roboto-bold.fntdata"/><Relationship Id="rId39" Type="http://schemas.openxmlformats.org/officeDocument/2006/relationships/font" Target="fonts/EBGaramond-regular.fntdata"/><Relationship Id="rId38" Type="http://schemas.openxmlformats.org/officeDocument/2006/relationships/font" Target="fonts/Roboto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OpenSans-italic.fntdata"/><Relationship Id="rId50" Type="http://schemas.openxmlformats.org/officeDocument/2006/relationships/font" Target="fonts/OpenSans-bold.fntdata"/><Relationship Id="rId52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0deab8ac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0deab8ac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d5b5d3f0e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d5b5d3f0e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d5b5d3f0e3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d5b5d3f0e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d5b5d3f0e3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d5b5d3f0e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d5b5d3f0e3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d5b5d3f0e3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d5b5d3f0e3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d5b5d3f0e3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64a848ba9c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64a848ba9c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79ce3c252b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79ce3c252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d5b5d3f0e3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d5b5d3f0e3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d5bc94f107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d5bc94f107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d5bc94f107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d5bc94f107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d5bc94f107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d5bc94f107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d5bc94f107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d5bc94f107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4cffddd9d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4cffddd9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4cffddd9d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4cffddd9d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64a848ba9c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64a848ba9c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64a848ba9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64a848ba9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64a848ba9c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64a848ba9c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64a848ba9c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64a848ba9c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64a848ba9c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64a848ba9c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64a848ba9c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64a848ba9c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64a848ba9c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64a848ba9c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64a848ba9c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64a848ba9c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64a848ba9c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64a848ba9c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64a848ba9c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64a848ba9c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64a848ba9c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64a848ba9c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64a848ba9c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64a848ba9c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64a848ba9c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64a848ba9c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-2381"/>
            <a:ext cx="9144000" cy="3902869"/>
          </a:xfrm>
          <a:custGeom>
            <a:rect b="b" l="l" r="r" t="t"/>
            <a:pathLst>
              <a:path extrusionOk="0" h="3278" w="576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607501" y="1086860"/>
            <a:ext cx="7929000" cy="22284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Roboto"/>
              <a:buNone/>
              <a:defRPr b="0" sz="41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07501" y="3960635"/>
            <a:ext cx="7929000" cy="32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7000970" y="4531022"/>
            <a:ext cx="1007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338635" y="4531022"/>
            <a:ext cx="648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008748" y="4436916"/>
            <a:ext cx="7965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b" bIns="8100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5225" y="3843125"/>
            <a:ext cx="3110024" cy="111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1282294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900"/>
              <a:buFont typeface="Impact"/>
              <a:buNone/>
              <a:defRPr b="0" sz="2900">
                <a:latin typeface="Impact"/>
                <a:ea typeface="Impact"/>
                <a:cs typeface="Impact"/>
                <a:sym typeface="Impac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EB Garamond"/>
              <a:buChar char="●"/>
              <a:defRPr sz="2100">
                <a:latin typeface="EB Garamond"/>
                <a:ea typeface="EB Garamond"/>
                <a:cs typeface="EB Garamond"/>
                <a:sym typeface="EB Garamond"/>
              </a:defRPr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EB Garamond"/>
              <a:buChar char="○"/>
              <a:defRPr sz="1800">
                <a:latin typeface="EB Garamond"/>
                <a:ea typeface="EB Garamond"/>
                <a:cs typeface="EB Garamond"/>
                <a:sym typeface="EB Garamond"/>
              </a:defRPr>
            </a:lvl2pPr>
            <a:lvl3pPr indent="-32385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EB Garamond"/>
              <a:buChar char="■"/>
              <a:defRPr sz="1500">
                <a:latin typeface="EB Garamond"/>
                <a:ea typeface="EB Garamond"/>
                <a:cs typeface="EB Garamond"/>
                <a:sym typeface="EB Garamond"/>
              </a:defRPr>
            </a:lvl3pPr>
            <a:lvl4pPr indent="-3175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●"/>
              <a:defRPr sz="1400">
                <a:latin typeface="EB Garamond"/>
                <a:ea typeface="EB Garamond"/>
                <a:cs typeface="EB Garamond"/>
                <a:sym typeface="EB Garamond"/>
              </a:defRPr>
            </a:lvl4pPr>
            <a:lvl5pPr indent="-3175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○"/>
              <a:defRPr sz="1400">
                <a:latin typeface="EB Garamond"/>
                <a:ea typeface="EB Garamond"/>
                <a:cs typeface="EB Garamond"/>
                <a:sym typeface="EB Garamond"/>
              </a:defRPr>
            </a:lvl5pPr>
            <a:lvl6pPr indent="-3175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■"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indent="-3175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●"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indent="-3175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○"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indent="-3175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■"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a numerada">
  <p:cSld name="OBJECT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1282294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>
            <p:ph type="title"/>
          </p:nvPr>
        </p:nvSpPr>
        <p:spPr>
          <a:xfrm>
            <a:off x="607500" y="167975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900"/>
              <a:buFont typeface="Impact"/>
              <a:buNone/>
              <a:defRPr b="0" sz="2900">
                <a:latin typeface="Impact"/>
                <a:ea typeface="Impact"/>
                <a:cs typeface="Impact"/>
                <a:sym typeface="Impac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9pPr>
          </a:lstStyle>
          <a:p/>
        </p:txBody>
      </p:sp>
      <p:sp>
        <p:nvSpPr>
          <p:cNvPr id="26" name="Google Shape;26;p4"/>
          <p:cNvSpPr/>
          <p:nvPr/>
        </p:nvSpPr>
        <p:spPr>
          <a:xfrm>
            <a:off x="607500" y="1555104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607500" y="2258791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607500" y="2962479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3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607500" y="3666166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4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607500" y="4369854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5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1275175" y="15550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1275175" y="22587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1275175" y="29624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1275175" y="36661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1275175" y="43698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0" y="1"/>
            <a:ext cx="9144000" cy="3902869"/>
          </a:xfrm>
          <a:custGeom>
            <a:rect b="b" l="l" r="r" t="t"/>
            <a:pathLst>
              <a:path extrusionOk="0" h="3278" w="576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5"/>
          <p:cNvSpPr txBox="1"/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Roboto"/>
              <a:buNone/>
              <a:defRPr b="0" sz="3600" cap="none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Roboto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0" type="dt"/>
          </p:nvPr>
        </p:nvSpPr>
        <p:spPr>
          <a:xfrm>
            <a:off x="7000970" y="4531022"/>
            <a:ext cx="1007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338635" y="4531022"/>
            <a:ext cx="648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008748" y="4436916"/>
            <a:ext cx="7965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b" bIns="8100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25" y="5281"/>
            <a:ext cx="9144000" cy="1388037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409450" y="2729548"/>
            <a:ext cx="38895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AutoNum type="arabicPeriod"/>
              <a:defRPr sz="1800"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AutoNum type="alphaLcPeriod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AutoNum type="romanLcPeriod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AutoNum type="arabicPeriod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AutoNum type="alphaLcPeriod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4794225" y="2729548"/>
            <a:ext cx="38895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AutoNum type="arabicPeriod"/>
              <a:defRPr sz="1800"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AutoNum type="alphaLcPeriod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AutoNum type="romanLcPeriod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AutoNum type="arabicPeriod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AutoNum type="alphaLcPeriod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artes de Conteúdo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25" y="5281"/>
            <a:ext cx="9144000" cy="1388037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8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220850" y="2729550"/>
            <a:ext cx="26178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AutoNum type="alphaLcPeriod"/>
              <a:defRPr sz="900"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AutoNum type="romanLcPeriod"/>
              <a:defRPr sz="800">
                <a:latin typeface="Open Sans"/>
                <a:ea typeface="Open Sans"/>
                <a:cs typeface="Open Sans"/>
                <a:sym typeface="Open Sans"/>
              </a:defRPr>
            </a:lvl3pPr>
            <a:lvl4pPr indent="-2667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rabicPeriod"/>
              <a:defRPr sz="600">
                <a:latin typeface="Open Sans"/>
                <a:ea typeface="Open Sans"/>
                <a:cs typeface="Open Sans"/>
                <a:sym typeface="Open Sans"/>
              </a:defRPr>
            </a:lvl4pPr>
            <a:lvl5pPr indent="-2667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lphaLcPeriod"/>
              <a:defRPr sz="600">
                <a:latin typeface="Open Sans"/>
                <a:ea typeface="Open Sans"/>
                <a:cs typeface="Open Sans"/>
                <a:sym typeface="Open Sans"/>
              </a:defRPr>
            </a:lvl5pPr>
            <a:lvl6pPr indent="-29845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romanLcPeriod"/>
              <a:defRPr sz="600"/>
            </a:lvl6pPr>
            <a:lvl7pPr indent="-29845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600"/>
            </a:lvl7pPr>
            <a:lvl8pPr indent="-29845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lphaLcPeriod"/>
              <a:defRPr sz="600"/>
            </a:lvl8pPr>
            <a:lvl9pPr indent="-298450" lvl="8" marL="4114800" algn="l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ts val="1100"/>
              <a:buAutoNum type="romanLcPeriod"/>
              <a:defRPr sz="600"/>
            </a:lvl9pPr>
          </a:lstStyle>
          <a:p/>
        </p:txBody>
      </p:sp>
      <p:sp>
        <p:nvSpPr>
          <p:cNvPr id="53" name="Google Shape;53;p8"/>
          <p:cNvSpPr txBox="1"/>
          <p:nvPr>
            <p:ph idx="2" type="body"/>
          </p:nvPr>
        </p:nvSpPr>
        <p:spPr>
          <a:xfrm>
            <a:off x="3263100" y="2729550"/>
            <a:ext cx="26178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AutoNum type="alphaLcPeriod"/>
              <a:defRPr sz="900"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AutoNum type="romanLcPeriod"/>
              <a:defRPr sz="800">
                <a:latin typeface="Open Sans"/>
                <a:ea typeface="Open Sans"/>
                <a:cs typeface="Open Sans"/>
                <a:sym typeface="Open Sans"/>
              </a:defRPr>
            </a:lvl3pPr>
            <a:lvl4pPr indent="-2667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rabicPeriod"/>
              <a:defRPr sz="600">
                <a:latin typeface="Open Sans"/>
                <a:ea typeface="Open Sans"/>
                <a:cs typeface="Open Sans"/>
                <a:sym typeface="Open Sans"/>
              </a:defRPr>
            </a:lvl4pPr>
            <a:lvl5pPr indent="-2667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lphaLcPeriod"/>
              <a:defRPr sz="600">
                <a:latin typeface="Open Sans"/>
                <a:ea typeface="Open Sans"/>
                <a:cs typeface="Open Sans"/>
                <a:sym typeface="Open Sans"/>
              </a:defRPr>
            </a:lvl5pPr>
            <a:lvl6pPr indent="-29845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romanLcPeriod"/>
              <a:defRPr sz="600"/>
            </a:lvl6pPr>
            <a:lvl7pPr indent="-29845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600"/>
            </a:lvl7pPr>
            <a:lvl8pPr indent="-29845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lphaLcPeriod"/>
              <a:defRPr sz="600"/>
            </a:lvl8pPr>
            <a:lvl9pPr indent="-298450" lvl="8" marL="4114800" algn="l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ts val="1100"/>
              <a:buAutoNum type="romanLcPeriod"/>
              <a:defRPr sz="600"/>
            </a:lvl9pPr>
          </a:lstStyle>
          <a:p/>
        </p:txBody>
      </p:sp>
      <p:sp>
        <p:nvSpPr>
          <p:cNvPr id="54" name="Google Shape;54;p8"/>
          <p:cNvSpPr txBox="1"/>
          <p:nvPr>
            <p:ph idx="3" type="body"/>
          </p:nvPr>
        </p:nvSpPr>
        <p:spPr>
          <a:xfrm>
            <a:off x="6265925" y="2729550"/>
            <a:ext cx="26178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AutoNum type="alphaLcPeriod"/>
              <a:defRPr sz="900"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AutoNum type="romanLcPeriod"/>
              <a:defRPr sz="800">
                <a:latin typeface="Open Sans"/>
                <a:ea typeface="Open Sans"/>
                <a:cs typeface="Open Sans"/>
                <a:sym typeface="Open Sans"/>
              </a:defRPr>
            </a:lvl3pPr>
            <a:lvl4pPr indent="-2667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rabicPeriod"/>
              <a:defRPr sz="600">
                <a:latin typeface="Open Sans"/>
                <a:ea typeface="Open Sans"/>
                <a:cs typeface="Open Sans"/>
                <a:sym typeface="Open Sans"/>
              </a:defRPr>
            </a:lvl4pPr>
            <a:lvl5pPr indent="-2667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lphaLcPeriod"/>
              <a:defRPr sz="600">
                <a:latin typeface="Open Sans"/>
                <a:ea typeface="Open Sans"/>
                <a:cs typeface="Open Sans"/>
                <a:sym typeface="Open Sans"/>
              </a:defRPr>
            </a:lvl5pPr>
            <a:lvl6pPr indent="-29845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romanLcPeriod"/>
              <a:defRPr sz="600"/>
            </a:lvl6pPr>
            <a:lvl7pPr indent="-29845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600"/>
            </a:lvl7pPr>
            <a:lvl8pPr indent="-29845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lphaLcPeriod"/>
              <a:defRPr sz="600"/>
            </a:lvl8pPr>
            <a:lvl9pPr indent="-298450" lvl="8" marL="4114800" algn="l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ts val="1100"/>
              <a:buAutoNum type="romanLcPeriod"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25" y="5281"/>
            <a:ext cx="9144000" cy="1388037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9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/>
          <p:nvPr/>
        </p:nvSpPr>
        <p:spPr>
          <a:xfrm>
            <a:off x="804875" y="334571"/>
            <a:ext cx="2660653" cy="862852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10"/>
          <p:cNvSpPr txBox="1"/>
          <p:nvPr>
            <p:ph type="title"/>
          </p:nvPr>
        </p:nvSpPr>
        <p:spPr>
          <a:xfrm>
            <a:off x="804875" y="334575"/>
            <a:ext cx="2660700" cy="684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500"/>
              <a:buFont typeface="Open Sans"/>
              <a:buNone/>
              <a:defRPr b="1" sz="15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3641725" y="334566"/>
            <a:ext cx="4689600" cy="4061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2" type="body"/>
          </p:nvPr>
        </p:nvSpPr>
        <p:spPr>
          <a:xfrm>
            <a:off x="804863" y="1695553"/>
            <a:ext cx="2660700" cy="2700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611046" y="545642"/>
            <a:ext cx="3639600" cy="12129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Open Sans"/>
              <a:buNone/>
              <a:defRPr b="0" sz="18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1"/>
          <p:cNvSpPr/>
          <p:nvPr>
            <p:ph idx="2" type="pic"/>
          </p:nvPr>
        </p:nvSpPr>
        <p:spPr>
          <a:xfrm>
            <a:off x="4573588" y="0"/>
            <a:ext cx="4570500" cy="51435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611046" y="1758513"/>
            <a:ext cx="3639600" cy="2637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9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Panorâmica com Legenda">
  <p:cSld name="Foto Panorâmica com Legenda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607500" y="3600450"/>
            <a:ext cx="7921200" cy="425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Open Sans"/>
              <a:buNone/>
              <a:defRPr b="0" sz="18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2"/>
          <p:cNvSpPr/>
          <p:nvPr>
            <p:ph idx="2" type="pic"/>
          </p:nvPr>
        </p:nvSpPr>
        <p:spPr>
          <a:xfrm>
            <a:off x="0" y="0"/>
            <a:ext cx="9144000" cy="3600600"/>
          </a:xfrm>
          <a:prstGeom prst="rect">
            <a:avLst/>
          </a:prstGeom>
          <a:noFill/>
          <a:ln cap="rnd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607500" y="4025504"/>
            <a:ext cx="7921200" cy="370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9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ção com Legenda">
  <p:cSld name="Citação com Legenda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/>
          <p:nvPr/>
        </p:nvSpPr>
        <p:spPr>
          <a:xfrm>
            <a:off x="473773" y="811092"/>
            <a:ext cx="4749309" cy="2429389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13"/>
          <p:cNvSpPr txBox="1"/>
          <p:nvPr>
            <p:ph type="title"/>
          </p:nvPr>
        </p:nvSpPr>
        <p:spPr>
          <a:xfrm>
            <a:off x="638239" y="928876"/>
            <a:ext cx="4420500" cy="1984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Open Sans"/>
              <a:buNone/>
              <a:defRPr b="1" sz="3200" cap="none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>
            <a:off x="639900" y="3332730"/>
            <a:ext cx="4418700" cy="16089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" name="Google Shape;75;p13"/>
          <p:cNvSpPr txBox="1"/>
          <p:nvPr>
            <p:ph idx="2" type="body"/>
          </p:nvPr>
        </p:nvSpPr>
        <p:spPr>
          <a:xfrm>
            <a:off x="5680982" y="811092"/>
            <a:ext cx="2857500" cy="3056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tão de Nome">
  <p:cSld name="Cartão de Nome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/>
          <p:nvPr/>
        </p:nvSpPr>
        <p:spPr>
          <a:xfrm>
            <a:off x="855663" y="1714939"/>
            <a:ext cx="3671335" cy="1877979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14"/>
          <p:cNvSpPr txBox="1"/>
          <p:nvPr>
            <p:ph type="title"/>
          </p:nvPr>
        </p:nvSpPr>
        <p:spPr>
          <a:xfrm>
            <a:off x="1017817" y="1826968"/>
            <a:ext cx="3286800" cy="1505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Open Sans"/>
              <a:buNone/>
              <a:defRPr sz="24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4617000" y="1714500"/>
            <a:ext cx="3660300" cy="1721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0"/>
            <a:ext cx="9144000" cy="1639491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15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 rot="5400000">
            <a:off x="3190864" y="-944999"/>
            <a:ext cx="2755800" cy="79224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/>
          <p:nvPr/>
        </p:nvSpPr>
        <p:spPr>
          <a:xfrm>
            <a:off x="5752238" y="334567"/>
            <a:ext cx="3391764" cy="4061221"/>
          </a:xfrm>
          <a:custGeom>
            <a:rect b="b" l="l" r="r" t="t"/>
            <a:pathLst>
              <a:path extrusionOk="0" h="4320" w="2879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6"/>
          <p:cNvSpPr txBox="1"/>
          <p:nvPr>
            <p:ph type="title"/>
          </p:nvPr>
        </p:nvSpPr>
        <p:spPr>
          <a:xfrm rot="5400000">
            <a:off x="5147648" y="1429628"/>
            <a:ext cx="3851100" cy="1871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 rot="5400000">
            <a:off x="1056256" y="-114233"/>
            <a:ext cx="4061100" cy="4958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235500" y="140225"/>
            <a:ext cx="8520600" cy="572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159300" y="923875"/>
            <a:ext cx="8821500" cy="3852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Font typeface="EB Garamond"/>
              <a:buChar char="●"/>
              <a:defRPr sz="2100">
                <a:latin typeface="EB Garamond"/>
                <a:ea typeface="EB Garamond"/>
                <a:cs typeface="EB Garamond"/>
                <a:sym typeface="EB Garamond"/>
              </a:defRPr>
            </a:lvl1pPr>
            <a:lvl2pPr indent="-34925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00"/>
              <a:buFont typeface="EB Garamond"/>
              <a:buChar char="○"/>
              <a:defRPr sz="1900">
                <a:latin typeface="EB Garamond"/>
                <a:ea typeface="EB Garamond"/>
                <a:cs typeface="EB Garamond"/>
                <a:sym typeface="EB Garamond"/>
              </a:defRPr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EB Garamond"/>
              <a:buChar char="■"/>
              <a:defRPr sz="1800">
                <a:latin typeface="EB Garamond"/>
                <a:ea typeface="EB Garamond"/>
                <a:cs typeface="EB Garamond"/>
                <a:sym typeface="EB Garamond"/>
              </a:defRPr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●"/>
              <a:defRPr sz="1600">
                <a:latin typeface="EB Garamond"/>
                <a:ea typeface="EB Garamond"/>
                <a:cs typeface="EB Garamond"/>
                <a:sym typeface="EB Garamond"/>
              </a:defRPr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○"/>
              <a:defRPr sz="1600">
                <a:latin typeface="EB Garamond"/>
                <a:ea typeface="EB Garamond"/>
                <a:cs typeface="EB Garamond"/>
                <a:sym typeface="EB Garamond"/>
              </a:defRPr>
            </a:lvl5pPr>
            <a:lvl6pPr indent="-3302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■"/>
              <a:defRPr sz="1600">
                <a:latin typeface="EB Garamond"/>
                <a:ea typeface="EB Garamond"/>
                <a:cs typeface="EB Garamond"/>
                <a:sym typeface="EB Garamond"/>
              </a:defRPr>
            </a:lvl6pPr>
            <a:lvl7pPr indent="-3302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●"/>
              <a:defRPr sz="1600">
                <a:latin typeface="EB Garamond"/>
                <a:ea typeface="EB Garamond"/>
                <a:cs typeface="EB Garamond"/>
                <a:sym typeface="EB Garamond"/>
              </a:defRPr>
            </a:lvl7pPr>
            <a:lvl8pPr indent="-3302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○"/>
              <a:defRPr sz="1600">
                <a:latin typeface="EB Garamond"/>
                <a:ea typeface="EB Garamond"/>
                <a:cs typeface="EB Garamond"/>
                <a:sym typeface="EB Garamond"/>
              </a:defRPr>
            </a:lvl8pPr>
            <a:lvl9pPr indent="-3302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600"/>
              <a:buFont typeface="EB Garamond"/>
              <a:buChar char="■"/>
              <a:defRPr sz="1600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  <p:sp>
        <p:nvSpPr>
          <p:cNvPr id="93" name="Google Shape;93;p18"/>
          <p:cNvSpPr/>
          <p:nvPr/>
        </p:nvSpPr>
        <p:spPr>
          <a:xfrm>
            <a:off x="0" y="5013150"/>
            <a:ext cx="9144000" cy="130200"/>
          </a:xfrm>
          <a:prstGeom prst="rect">
            <a:avLst/>
          </a:prstGeom>
          <a:solidFill>
            <a:srgbClr val="359E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?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200"/>
              <a:buChar char="?"/>
              <a:defRPr sz="1200"/>
            </a:lvl9pPr>
          </a:lstStyle>
          <a:p/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8100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">
  <p:cSld name="Custom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/>
          <p:nvPr/>
        </p:nvSpPr>
        <p:spPr>
          <a:xfrm>
            <a:off x="0" y="5013150"/>
            <a:ext cx="9144000" cy="130200"/>
          </a:xfrm>
          <a:prstGeom prst="rect">
            <a:avLst/>
          </a:prstGeom>
          <a:solidFill>
            <a:srgbClr val="359E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Century Gothic"/>
              <a:buNone/>
              <a:defRPr b="1" i="0" sz="3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07500" y="1638301"/>
            <a:ext cx="7922400" cy="27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🞆"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8575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338635" y="4531022"/>
            <a:ext cx="648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7000970" y="4531022"/>
            <a:ext cx="1007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008748" y="4436916"/>
            <a:ext cx="7965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b" bIns="8100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Relationship Id="rId4" Type="http://schemas.openxmlformats.org/officeDocument/2006/relationships/image" Target="../media/image3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9" Type="http://schemas.openxmlformats.org/officeDocument/2006/relationships/image" Target="../media/image17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Relationship Id="rId7" Type="http://schemas.openxmlformats.org/officeDocument/2006/relationships/image" Target="../media/image7.png"/><Relationship Id="rId8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youtube.com/watch?v=UKcWu1l_UNw&amp;list=PLsYgNgmVQaSAYPf11Pyc8QQuRLe5mVgXq&amp;index=3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colab.research.google.com/drive/1K1KHQzcpkriH8NE7wHWapd0lf-6pV6z8#scrollTo=9ba6f23a" TargetMode="External"/><Relationship Id="rId4" Type="http://schemas.openxmlformats.org/officeDocument/2006/relationships/hyperlink" Target="https://colab.research.google.com/drive/1AY2oaX3KgJuqmU6y7056EVsWeHdNuCY_#scrollTo=MSaCzawwjCAs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png"/><Relationship Id="rId4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Relationship Id="rId5" Type="http://schemas.openxmlformats.org/officeDocument/2006/relationships/image" Target="../media/image22.png"/><Relationship Id="rId6" Type="http://schemas.openxmlformats.org/officeDocument/2006/relationships/image" Target="../media/image27.png"/><Relationship Id="rId7" Type="http://schemas.openxmlformats.org/officeDocument/2006/relationships/hyperlink" Target="https://1drv.ms/x/c/f616ef8249d93b8a/EYo72UmC7xYggPZjHQAAAAABkK-p4Khjb7oGax5HDXL9ow?e=O7zakC" TargetMode="External"/><Relationship Id="rId8" Type="http://schemas.openxmlformats.org/officeDocument/2006/relationships/image" Target="../media/image3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colab.research.google.com/drive/18XgeuSCii2h7dPBvKF1Y0MI0dh0QO6mo?usp=sharing" TargetMode="External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colab.research.google.com/drive/18XgeuSCii2h7dPBvKF1Y0MI0dh0QO6mo?usp=sharing" TargetMode="External"/><Relationship Id="rId4" Type="http://schemas.openxmlformats.org/officeDocument/2006/relationships/image" Target="../media/image3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github.com/pytorch/vision/blob/main/torchvision/models/resnet.py" TargetMode="External"/><Relationship Id="rId4" Type="http://schemas.openxmlformats.org/officeDocument/2006/relationships/hyperlink" Target="https://github.com/tensorflow/models/tree/master/official/vision/beta/modeling/layers/mobilenet_v3" TargetMode="External"/><Relationship Id="rId5" Type="http://schemas.openxmlformats.org/officeDocument/2006/relationships/hyperlink" Target="https://github.com/ultralytics/ultralytic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ctrTitle"/>
          </p:nvPr>
        </p:nvSpPr>
        <p:spPr>
          <a:xfrm>
            <a:off x="591985" y="1086860"/>
            <a:ext cx="7929000" cy="2228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Tipos e arquiteturas de redes neurais</a:t>
            </a:r>
            <a:endParaRPr sz="3900"/>
          </a:p>
        </p:txBody>
      </p:sp>
      <p:sp>
        <p:nvSpPr>
          <p:cNvPr id="105" name="Google Shape;105;p21"/>
          <p:cNvSpPr txBox="1"/>
          <p:nvPr>
            <p:ph idx="1" type="subTitle"/>
          </p:nvPr>
        </p:nvSpPr>
        <p:spPr>
          <a:xfrm>
            <a:off x="607501" y="3960635"/>
            <a:ext cx="79290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Prof. Caio Hamamura</a:t>
            </a:r>
            <a:endParaRPr/>
          </a:p>
        </p:txBody>
      </p:sp>
      <p:sp>
        <p:nvSpPr>
          <p:cNvPr id="106" name="Google Shape;106;p21"/>
          <p:cNvSpPr txBox="1"/>
          <p:nvPr/>
        </p:nvSpPr>
        <p:spPr>
          <a:xfrm>
            <a:off x="7486374" y="170683"/>
            <a:ext cx="137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Aula 04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Neural Network Deep Learning Prismatic 2 | Free SVG"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000" y="246650"/>
            <a:ext cx="1498550" cy="149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5950" y="90438"/>
            <a:ext cx="4307626" cy="181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Contexto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614025" y="1369625"/>
            <a:ext cx="7929000" cy="3509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Aprendemos o basico das redes neurais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rede neural</a:t>
            </a:r>
            <a:endParaRPr/>
          </a:p>
        </p:txBody>
      </p:sp>
      <p:cxnSp>
        <p:nvCxnSpPr>
          <p:cNvPr id="120" name="Google Shape;120;p23"/>
          <p:cNvCxnSpPr/>
          <p:nvPr/>
        </p:nvCxnSpPr>
        <p:spPr>
          <a:xfrm>
            <a:off x="1102850" y="2008650"/>
            <a:ext cx="1309500" cy="5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" name="Google Shape;121;p23"/>
          <p:cNvSpPr/>
          <p:nvPr/>
        </p:nvSpPr>
        <p:spPr>
          <a:xfrm>
            <a:off x="2412325" y="1671525"/>
            <a:ext cx="685200" cy="685200"/>
          </a:xfrm>
          <a:prstGeom prst="ellipse">
            <a:avLst/>
          </a:prstGeom>
          <a:solidFill>
            <a:srgbClr val="EB9C5A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22" name="Google Shape;122;p23"/>
          <p:cNvCxnSpPr/>
          <p:nvPr/>
        </p:nvCxnSpPr>
        <p:spPr>
          <a:xfrm flipH="1" rot="10800000">
            <a:off x="1002505" y="225639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" name="Google Shape;123;p23"/>
          <p:cNvSpPr/>
          <p:nvPr/>
        </p:nvSpPr>
        <p:spPr>
          <a:xfrm>
            <a:off x="2339875" y="163402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24" name="Google Shape;124;p23"/>
          <p:cNvCxnSpPr/>
          <p:nvPr/>
        </p:nvCxnSpPr>
        <p:spPr>
          <a:xfrm>
            <a:off x="1002520" y="2251020"/>
            <a:ext cx="1510200" cy="1425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" name="Google Shape;125;p23"/>
          <p:cNvSpPr/>
          <p:nvPr/>
        </p:nvSpPr>
        <p:spPr>
          <a:xfrm>
            <a:off x="417650" y="1666050"/>
            <a:ext cx="685200" cy="685200"/>
          </a:xfrm>
          <a:prstGeom prst="ellipse">
            <a:avLst/>
          </a:prstGeom>
          <a:solidFill>
            <a:srgbClr val="EB9C5A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26" name="Google Shape;126;p23"/>
          <p:cNvCxnSpPr/>
          <p:nvPr/>
        </p:nvCxnSpPr>
        <p:spPr>
          <a:xfrm>
            <a:off x="1102875" y="3919175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23"/>
          <p:cNvSpPr/>
          <p:nvPr/>
        </p:nvSpPr>
        <p:spPr>
          <a:xfrm>
            <a:off x="417650" y="3576550"/>
            <a:ext cx="685200" cy="685200"/>
          </a:xfrm>
          <a:prstGeom prst="ellipse">
            <a:avLst/>
          </a:prstGeom>
          <a:solidFill>
            <a:srgbClr val="EB9C5A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8" name="Google Shape;128;p23"/>
          <p:cNvSpPr/>
          <p:nvPr/>
        </p:nvSpPr>
        <p:spPr>
          <a:xfrm>
            <a:off x="2412375" y="3576575"/>
            <a:ext cx="685200" cy="685200"/>
          </a:xfrm>
          <a:prstGeom prst="ellipse">
            <a:avLst/>
          </a:prstGeom>
          <a:solidFill>
            <a:srgbClr val="EB9C5A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9" name="Google Shape;129;p23"/>
          <p:cNvSpPr/>
          <p:nvPr/>
        </p:nvSpPr>
        <p:spPr>
          <a:xfrm>
            <a:off x="2339875" y="353907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0" name="Google Shape;130;p23"/>
          <p:cNvSpPr/>
          <p:nvPr/>
        </p:nvSpPr>
        <p:spPr>
          <a:xfrm>
            <a:off x="4427750" y="2624050"/>
            <a:ext cx="685200" cy="685200"/>
          </a:xfrm>
          <a:prstGeom prst="ellipse">
            <a:avLst/>
          </a:prstGeom>
          <a:solidFill>
            <a:srgbClr val="EB9C5A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31" name="Google Shape;131;p23"/>
          <p:cNvCxnSpPr>
            <a:endCxn id="130" idx="1"/>
          </p:cNvCxnSpPr>
          <p:nvPr/>
        </p:nvCxnSpPr>
        <p:spPr>
          <a:xfrm>
            <a:off x="3097395" y="2013995"/>
            <a:ext cx="14307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23"/>
          <p:cNvCxnSpPr>
            <a:endCxn id="130" idx="3"/>
          </p:cNvCxnSpPr>
          <p:nvPr/>
        </p:nvCxnSpPr>
        <p:spPr>
          <a:xfrm flipH="1" rot="10800000">
            <a:off x="3097695" y="3208905"/>
            <a:ext cx="14304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" name="Google Shape;133;p23"/>
          <p:cNvSpPr/>
          <p:nvPr/>
        </p:nvSpPr>
        <p:spPr>
          <a:xfrm>
            <a:off x="5562800" y="1405050"/>
            <a:ext cx="685200" cy="685200"/>
          </a:xfrm>
          <a:prstGeom prst="ellipse">
            <a:avLst/>
          </a:prstGeom>
          <a:solidFill>
            <a:srgbClr val="EB9C5A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4" name="Google Shape;134;p23"/>
          <p:cNvSpPr txBox="1"/>
          <p:nvPr/>
        </p:nvSpPr>
        <p:spPr>
          <a:xfrm>
            <a:off x="6441600" y="1547550"/>
            <a:ext cx="270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Neurônio (perceptron)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35" name="Google Shape;135;p23"/>
          <p:cNvCxnSpPr/>
          <p:nvPr/>
        </p:nvCxnSpPr>
        <p:spPr>
          <a:xfrm>
            <a:off x="5562800" y="2724400"/>
            <a:ext cx="7014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" name="Google Shape;136;p23"/>
          <p:cNvSpPr txBox="1"/>
          <p:nvPr/>
        </p:nvSpPr>
        <p:spPr>
          <a:xfrm>
            <a:off x="6441600" y="2524300"/>
            <a:ext cx="270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Conexões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rede neural</a:t>
            </a:r>
            <a:endParaRPr/>
          </a:p>
        </p:txBody>
      </p:sp>
      <p:sp>
        <p:nvSpPr>
          <p:cNvPr id="142" name="Google Shape;142;p24"/>
          <p:cNvSpPr/>
          <p:nvPr/>
        </p:nvSpPr>
        <p:spPr>
          <a:xfrm>
            <a:off x="5562800" y="1405050"/>
            <a:ext cx="685200" cy="685200"/>
          </a:xfrm>
          <a:prstGeom prst="ellipse">
            <a:avLst/>
          </a:prstGeom>
          <a:solidFill>
            <a:srgbClr val="EB9C5A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3" name="Google Shape;143;p24"/>
          <p:cNvSpPr txBox="1"/>
          <p:nvPr/>
        </p:nvSpPr>
        <p:spPr>
          <a:xfrm>
            <a:off x="6441600" y="1547550"/>
            <a:ext cx="270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</a:t>
            </a: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eurônio (perceptron)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44" name="Google Shape;144;p24"/>
          <p:cNvCxnSpPr/>
          <p:nvPr/>
        </p:nvCxnSpPr>
        <p:spPr>
          <a:xfrm>
            <a:off x="5562800" y="2724400"/>
            <a:ext cx="7014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" name="Google Shape;145;p24"/>
          <p:cNvSpPr txBox="1"/>
          <p:nvPr/>
        </p:nvSpPr>
        <p:spPr>
          <a:xfrm>
            <a:off x="6441600" y="2524300"/>
            <a:ext cx="270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Conexões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46" name="Google Shape;146;p24"/>
          <p:cNvCxnSpPr/>
          <p:nvPr/>
        </p:nvCxnSpPr>
        <p:spPr>
          <a:xfrm>
            <a:off x="1102850" y="2008650"/>
            <a:ext cx="1309500" cy="5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" name="Google Shape;147;p24"/>
          <p:cNvSpPr txBox="1"/>
          <p:nvPr/>
        </p:nvSpPr>
        <p:spPr>
          <a:xfrm>
            <a:off x="1491888" y="1607100"/>
            <a:ext cx="582900" cy="446400"/>
          </a:xfrm>
          <a:prstGeom prst="rect">
            <a:avLst/>
          </a:prstGeom>
          <a:solidFill>
            <a:srgbClr val="F16E40">
              <a:alpha val="2975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/>
          </a:p>
        </p:txBody>
      </p:sp>
      <p:sp>
        <p:nvSpPr>
          <p:cNvPr id="148" name="Google Shape;148;p24"/>
          <p:cNvSpPr txBox="1"/>
          <p:nvPr/>
        </p:nvSpPr>
        <p:spPr>
          <a:xfrm>
            <a:off x="1482126" y="2278125"/>
            <a:ext cx="582900" cy="446400"/>
          </a:xfrm>
          <a:prstGeom prst="rect">
            <a:avLst/>
          </a:prstGeom>
          <a:solidFill>
            <a:srgbClr val="F16E40">
              <a:alpha val="2975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49" name="Google Shape;149;p24"/>
          <p:cNvSpPr/>
          <p:nvPr/>
        </p:nvSpPr>
        <p:spPr>
          <a:xfrm>
            <a:off x="2412325" y="1671525"/>
            <a:ext cx="685200" cy="685200"/>
          </a:xfrm>
          <a:prstGeom prst="ellipse">
            <a:avLst/>
          </a:prstGeom>
          <a:solidFill>
            <a:srgbClr val="EB9C5A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50" name="Google Shape;150;p24"/>
          <p:cNvCxnSpPr/>
          <p:nvPr/>
        </p:nvCxnSpPr>
        <p:spPr>
          <a:xfrm flipH="1" rot="10800000">
            <a:off x="1002505" y="225639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" name="Google Shape;151;p24"/>
          <p:cNvSpPr/>
          <p:nvPr/>
        </p:nvSpPr>
        <p:spPr>
          <a:xfrm>
            <a:off x="2339875" y="163402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0,5399149</a:t>
            </a:r>
            <a:endParaRPr sz="10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52" name="Google Shape;152;p24"/>
          <p:cNvCxnSpPr/>
          <p:nvPr/>
        </p:nvCxnSpPr>
        <p:spPr>
          <a:xfrm>
            <a:off x="1002520" y="2251020"/>
            <a:ext cx="1510200" cy="1425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" name="Google Shape;153;p24"/>
          <p:cNvSpPr txBox="1"/>
          <p:nvPr/>
        </p:nvSpPr>
        <p:spPr>
          <a:xfrm>
            <a:off x="1478061" y="3202450"/>
            <a:ext cx="582900" cy="461700"/>
          </a:xfrm>
          <a:prstGeom prst="rect">
            <a:avLst/>
          </a:prstGeom>
          <a:solidFill>
            <a:srgbClr val="F16E40">
              <a:alpha val="2975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0,3</a:t>
            </a:r>
            <a:endParaRPr/>
          </a:p>
        </p:txBody>
      </p:sp>
      <p:sp>
        <p:nvSpPr>
          <p:cNvPr id="154" name="Google Shape;154;p24"/>
          <p:cNvSpPr/>
          <p:nvPr/>
        </p:nvSpPr>
        <p:spPr>
          <a:xfrm>
            <a:off x="417650" y="1666050"/>
            <a:ext cx="685200" cy="685200"/>
          </a:xfrm>
          <a:prstGeom prst="ellipse">
            <a:avLst/>
          </a:prstGeom>
          <a:solidFill>
            <a:srgbClr val="EB9C5A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0,7</a:t>
            </a:r>
            <a:endParaRPr sz="17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55" name="Google Shape;155;p24"/>
          <p:cNvCxnSpPr/>
          <p:nvPr/>
        </p:nvCxnSpPr>
        <p:spPr>
          <a:xfrm>
            <a:off x="1102875" y="3919175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" name="Google Shape;156;p24"/>
          <p:cNvSpPr txBox="1"/>
          <p:nvPr/>
        </p:nvSpPr>
        <p:spPr>
          <a:xfrm>
            <a:off x="1440750" y="3874450"/>
            <a:ext cx="685200" cy="446400"/>
          </a:xfrm>
          <a:prstGeom prst="rect">
            <a:avLst/>
          </a:prstGeom>
          <a:solidFill>
            <a:srgbClr val="F16E40">
              <a:alpha val="2975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0,05</a:t>
            </a:r>
            <a:endParaRPr/>
          </a:p>
        </p:txBody>
      </p:sp>
      <p:sp>
        <p:nvSpPr>
          <p:cNvPr id="157" name="Google Shape;157;p24"/>
          <p:cNvSpPr/>
          <p:nvPr/>
        </p:nvSpPr>
        <p:spPr>
          <a:xfrm>
            <a:off x="417650" y="3576550"/>
            <a:ext cx="685200" cy="685200"/>
          </a:xfrm>
          <a:prstGeom prst="ellipse">
            <a:avLst/>
          </a:prstGeom>
          <a:solidFill>
            <a:srgbClr val="EB9C5A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 sz="17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8" name="Google Shape;158;p24"/>
          <p:cNvSpPr/>
          <p:nvPr/>
        </p:nvSpPr>
        <p:spPr>
          <a:xfrm>
            <a:off x="2412375" y="3576575"/>
            <a:ext cx="685200" cy="685200"/>
          </a:xfrm>
          <a:prstGeom prst="ellipse">
            <a:avLst/>
          </a:prstGeom>
          <a:solidFill>
            <a:srgbClr val="EB9C5A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9" name="Google Shape;159;p24"/>
          <p:cNvSpPr/>
          <p:nvPr/>
        </p:nvSpPr>
        <p:spPr>
          <a:xfrm>
            <a:off x="2339875" y="353907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0,5547792</a:t>
            </a:r>
            <a:endParaRPr sz="10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0" name="Google Shape;160;p24"/>
          <p:cNvSpPr/>
          <p:nvPr/>
        </p:nvSpPr>
        <p:spPr>
          <a:xfrm>
            <a:off x="4427750" y="2624050"/>
            <a:ext cx="685200" cy="685200"/>
          </a:xfrm>
          <a:prstGeom prst="ellipse">
            <a:avLst/>
          </a:prstGeom>
          <a:solidFill>
            <a:srgbClr val="EB9C5A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61" name="Google Shape;161;p24"/>
          <p:cNvCxnSpPr>
            <a:endCxn id="160" idx="1"/>
          </p:cNvCxnSpPr>
          <p:nvPr/>
        </p:nvCxnSpPr>
        <p:spPr>
          <a:xfrm>
            <a:off x="3097395" y="2013995"/>
            <a:ext cx="14307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" name="Google Shape;162;p24"/>
          <p:cNvCxnSpPr>
            <a:endCxn id="160" idx="3"/>
          </p:cNvCxnSpPr>
          <p:nvPr/>
        </p:nvCxnSpPr>
        <p:spPr>
          <a:xfrm flipH="1" rot="10800000">
            <a:off x="3097695" y="3208905"/>
            <a:ext cx="14304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3" name="Google Shape;163;p24"/>
          <p:cNvSpPr/>
          <p:nvPr/>
        </p:nvSpPr>
        <p:spPr>
          <a:xfrm>
            <a:off x="4355300" y="2586550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0,8372357</a:t>
            </a:r>
            <a:endParaRPr sz="10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4" name="Google Shape;164;p24"/>
          <p:cNvSpPr txBox="1"/>
          <p:nvPr/>
        </p:nvSpPr>
        <p:spPr>
          <a:xfrm>
            <a:off x="3661725" y="1904850"/>
            <a:ext cx="582900" cy="446400"/>
          </a:xfrm>
          <a:prstGeom prst="rect">
            <a:avLst/>
          </a:prstGeom>
          <a:solidFill>
            <a:srgbClr val="F16E40">
              <a:alpha val="2975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0,4</a:t>
            </a:r>
            <a:endParaRPr/>
          </a:p>
        </p:txBody>
      </p:sp>
      <p:sp>
        <p:nvSpPr>
          <p:cNvPr id="165" name="Google Shape;165;p24"/>
          <p:cNvSpPr txBox="1"/>
          <p:nvPr/>
        </p:nvSpPr>
        <p:spPr>
          <a:xfrm>
            <a:off x="3661725" y="3576550"/>
            <a:ext cx="582900" cy="446400"/>
          </a:xfrm>
          <a:prstGeom prst="rect">
            <a:avLst/>
          </a:prstGeom>
          <a:solidFill>
            <a:srgbClr val="F16E40">
              <a:alpha val="2975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</a:t>
            </a:r>
            <a:endParaRPr/>
          </a:p>
        </p:txBody>
      </p:sp>
      <p:sp>
        <p:nvSpPr>
          <p:cNvPr id="166" name="Google Shape;166;p24"/>
          <p:cNvSpPr txBox="1"/>
          <p:nvPr/>
        </p:nvSpPr>
        <p:spPr>
          <a:xfrm>
            <a:off x="6441600" y="3501050"/>
            <a:ext cx="270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pesos...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5450300" y="3477950"/>
            <a:ext cx="910200" cy="446400"/>
          </a:xfrm>
          <a:prstGeom prst="rect">
            <a:avLst/>
          </a:prstGeom>
          <a:solidFill>
            <a:srgbClr val="F16E40">
              <a:alpha val="2975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neurônio</a:t>
            </a:r>
            <a:endParaRPr/>
          </a:p>
        </p:txBody>
      </p:sp>
      <p:cxnSp>
        <p:nvCxnSpPr>
          <p:cNvPr id="173" name="Google Shape;173;p25"/>
          <p:cNvCxnSpPr/>
          <p:nvPr/>
        </p:nvCxnSpPr>
        <p:spPr>
          <a:xfrm>
            <a:off x="1002520" y="2251020"/>
            <a:ext cx="1510200" cy="1425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" name="Google Shape;174;p25"/>
          <p:cNvSpPr txBox="1"/>
          <p:nvPr/>
        </p:nvSpPr>
        <p:spPr>
          <a:xfrm>
            <a:off x="1478061" y="3202450"/>
            <a:ext cx="582900" cy="461700"/>
          </a:xfrm>
          <a:prstGeom prst="rect">
            <a:avLst/>
          </a:prstGeom>
          <a:solidFill>
            <a:srgbClr val="F16E40">
              <a:alpha val="2975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0,3</a:t>
            </a:r>
            <a:endParaRPr/>
          </a:p>
        </p:txBody>
      </p:sp>
      <p:cxnSp>
        <p:nvCxnSpPr>
          <p:cNvPr id="175" name="Google Shape;175;p25"/>
          <p:cNvCxnSpPr/>
          <p:nvPr/>
        </p:nvCxnSpPr>
        <p:spPr>
          <a:xfrm>
            <a:off x="1102875" y="3919175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" name="Google Shape;176;p25"/>
          <p:cNvSpPr txBox="1"/>
          <p:nvPr/>
        </p:nvSpPr>
        <p:spPr>
          <a:xfrm>
            <a:off x="1440750" y="3874450"/>
            <a:ext cx="685200" cy="446400"/>
          </a:xfrm>
          <a:prstGeom prst="rect">
            <a:avLst/>
          </a:prstGeom>
          <a:solidFill>
            <a:srgbClr val="F16E40">
              <a:alpha val="2975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0,05</a:t>
            </a:r>
            <a:endParaRPr/>
          </a:p>
        </p:txBody>
      </p:sp>
      <p:sp>
        <p:nvSpPr>
          <p:cNvPr id="177" name="Google Shape;177;p25"/>
          <p:cNvSpPr/>
          <p:nvPr/>
        </p:nvSpPr>
        <p:spPr>
          <a:xfrm>
            <a:off x="2412375" y="3576575"/>
            <a:ext cx="685200" cy="685200"/>
          </a:xfrm>
          <a:prstGeom prst="ellipse">
            <a:avLst/>
          </a:prstGeom>
          <a:solidFill>
            <a:srgbClr val="EB9C5A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8" name="Google Shape;178;p25"/>
          <p:cNvSpPr/>
          <p:nvPr/>
        </p:nvSpPr>
        <p:spPr>
          <a:xfrm>
            <a:off x="2339875" y="353907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0,5547792</a:t>
            </a:r>
            <a:endParaRPr sz="10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9" name="Google Shape;179;p25"/>
          <p:cNvSpPr/>
          <p:nvPr/>
        </p:nvSpPr>
        <p:spPr>
          <a:xfrm>
            <a:off x="4427750" y="2624050"/>
            <a:ext cx="685200" cy="685200"/>
          </a:xfrm>
          <a:prstGeom prst="ellipse">
            <a:avLst/>
          </a:prstGeom>
          <a:solidFill>
            <a:srgbClr val="EB9C5A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80" name="Google Shape;180;p25"/>
          <p:cNvCxnSpPr>
            <a:endCxn id="179" idx="1"/>
          </p:cNvCxnSpPr>
          <p:nvPr/>
        </p:nvCxnSpPr>
        <p:spPr>
          <a:xfrm>
            <a:off x="3097395" y="2013995"/>
            <a:ext cx="14307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25"/>
          <p:cNvCxnSpPr>
            <a:endCxn id="179" idx="3"/>
          </p:cNvCxnSpPr>
          <p:nvPr/>
        </p:nvCxnSpPr>
        <p:spPr>
          <a:xfrm flipH="1" rot="10800000">
            <a:off x="3097695" y="3208905"/>
            <a:ext cx="14304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" name="Google Shape;182;p25"/>
          <p:cNvSpPr/>
          <p:nvPr/>
        </p:nvSpPr>
        <p:spPr>
          <a:xfrm>
            <a:off x="4355300" y="2586550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0,8372357</a:t>
            </a:r>
            <a:endParaRPr sz="10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3" name="Google Shape;183;p25"/>
          <p:cNvSpPr txBox="1"/>
          <p:nvPr/>
        </p:nvSpPr>
        <p:spPr>
          <a:xfrm>
            <a:off x="3661725" y="1904850"/>
            <a:ext cx="582900" cy="446400"/>
          </a:xfrm>
          <a:prstGeom prst="rect">
            <a:avLst/>
          </a:prstGeom>
          <a:solidFill>
            <a:srgbClr val="F16E40">
              <a:alpha val="2975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0,4</a:t>
            </a:r>
            <a:endParaRPr/>
          </a:p>
        </p:txBody>
      </p:sp>
      <p:sp>
        <p:nvSpPr>
          <p:cNvPr id="184" name="Google Shape;184;p25"/>
          <p:cNvSpPr txBox="1"/>
          <p:nvPr/>
        </p:nvSpPr>
        <p:spPr>
          <a:xfrm>
            <a:off x="3661725" y="3576550"/>
            <a:ext cx="582900" cy="446400"/>
          </a:xfrm>
          <a:prstGeom prst="rect">
            <a:avLst/>
          </a:prstGeom>
          <a:solidFill>
            <a:srgbClr val="F16E40">
              <a:alpha val="2975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</a:t>
            </a:r>
            <a:endParaRPr/>
          </a:p>
        </p:txBody>
      </p:sp>
      <p:sp>
        <p:nvSpPr>
          <p:cNvPr id="185" name="Google Shape;185;p25"/>
          <p:cNvSpPr/>
          <p:nvPr/>
        </p:nvSpPr>
        <p:spPr>
          <a:xfrm>
            <a:off x="214950" y="1197600"/>
            <a:ext cx="5466000" cy="3838500"/>
          </a:xfrm>
          <a:prstGeom prst="rect">
            <a:avLst/>
          </a:prstGeom>
          <a:solidFill>
            <a:srgbClr val="000000">
              <a:alpha val="8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86" name="Google Shape;186;p25"/>
          <p:cNvGrpSpPr/>
          <p:nvPr/>
        </p:nvGrpSpPr>
        <p:grpSpPr>
          <a:xfrm>
            <a:off x="417650" y="1607100"/>
            <a:ext cx="2752325" cy="2654650"/>
            <a:chOff x="417650" y="1607100"/>
            <a:chExt cx="2752325" cy="2654650"/>
          </a:xfrm>
        </p:grpSpPr>
        <p:sp>
          <p:nvSpPr>
            <p:cNvPr id="187" name="Google Shape;187;p25"/>
            <p:cNvSpPr/>
            <p:nvPr/>
          </p:nvSpPr>
          <p:spPr>
            <a:xfrm>
              <a:off x="417650" y="3576550"/>
              <a:ext cx="685200" cy="685200"/>
            </a:xfrm>
            <a:prstGeom prst="ellipse">
              <a:avLst/>
            </a:prstGeom>
            <a:solidFill>
              <a:srgbClr val="EB9C5A"/>
            </a:solidFill>
            <a:ln cap="flat" cmpd="sng" w="9525">
              <a:solidFill>
                <a:srgbClr val="2121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0,2</a:t>
              </a:r>
              <a:endParaRPr sz="1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188" name="Google Shape;188;p25"/>
            <p:cNvGrpSpPr/>
            <p:nvPr/>
          </p:nvGrpSpPr>
          <p:grpSpPr>
            <a:xfrm>
              <a:off x="417650" y="1607100"/>
              <a:ext cx="2752325" cy="2069795"/>
              <a:chOff x="417650" y="1607100"/>
              <a:chExt cx="2752325" cy="2069795"/>
            </a:xfrm>
          </p:grpSpPr>
          <p:cxnSp>
            <p:nvCxnSpPr>
              <p:cNvPr id="189" name="Google Shape;189;p25"/>
              <p:cNvCxnSpPr/>
              <p:nvPr/>
            </p:nvCxnSpPr>
            <p:spPr>
              <a:xfrm>
                <a:off x="1102850" y="2008650"/>
                <a:ext cx="1309500" cy="5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EFEFE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90" name="Google Shape;190;p25"/>
              <p:cNvSpPr txBox="1"/>
              <p:nvPr/>
            </p:nvSpPr>
            <p:spPr>
              <a:xfrm>
                <a:off x="1491888" y="1607100"/>
                <a:ext cx="582900" cy="446400"/>
              </a:xfrm>
              <a:prstGeom prst="rect">
                <a:avLst/>
              </a:prstGeom>
              <a:solidFill>
                <a:srgbClr val="F16E40">
                  <a:alpha val="29750"/>
                </a:srgbClr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>
                    <a:solidFill>
                      <a:srgbClr val="FFFFFF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0,2</a:t>
                </a:r>
                <a:endParaRPr/>
              </a:p>
            </p:txBody>
          </p:sp>
          <p:sp>
            <p:nvSpPr>
              <p:cNvPr id="191" name="Google Shape;191;p25"/>
              <p:cNvSpPr txBox="1"/>
              <p:nvPr/>
            </p:nvSpPr>
            <p:spPr>
              <a:xfrm>
                <a:off x="1482126" y="2278125"/>
                <a:ext cx="582900" cy="446400"/>
              </a:xfrm>
              <a:prstGeom prst="rect">
                <a:avLst/>
              </a:prstGeom>
              <a:solidFill>
                <a:srgbClr val="F16E40">
                  <a:alpha val="29750"/>
                </a:srgbClr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>
                    <a:solidFill>
                      <a:srgbClr val="FFFFFF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0,1</a:t>
                </a:r>
                <a:endParaRPr/>
              </a:p>
            </p:txBody>
          </p:sp>
          <p:sp>
            <p:nvSpPr>
              <p:cNvPr id="192" name="Google Shape;192;p25"/>
              <p:cNvSpPr/>
              <p:nvPr/>
            </p:nvSpPr>
            <p:spPr>
              <a:xfrm>
                <a:off x="2412325" y="1671525"/>
                <a:ext cx="685200" cy="685200"/>
              </a:xfrm>
              <a:prstGeom prst="ellipse">
                <a:avLst/>
              </a:prstGeom>
              <a:solidFill>
                <a:srgbClr val="EB9C5A"/>
              </a:solidFill>
              <a:ln cap="flat" cmpd="sng" w="9525">
                <a:solidFill>
                  <a:srgbClr val="21212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cxnSp>
            <p:nvCxnSpPr>
              <p:cNvPr id="193" name="Google Shape;193;p25"/>
              <p:cNvCxnSpPr/>
              <p:nvPr/>
            </p:nvCxnSpPr>
            <p:spPr>
              <a:xfrm flipH="1" rot="10800000">
                <a:off x="1002505" y="2256395"/>
                <a:ext cx="1510200" cy="142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EFEFE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94" name="Google Shape;194;p25"/>
              <p:cNvSpPr/>
              <p:nvPr/>
            </p:nvSpPr>
            <p:spPr>
              <a:xfrm>
                <a:off x="2339875" y="1634025"/>
                <a:ext cx="830100" cy="76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FFFFFF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0,5399149</a:t>
                </a:r>
                <a:endParaRPr sz="1000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95" name="Google Shape;195;p25"/>
              <p:cNvSpPr/>
              <p:nvPr/>
            </p:nvSpPr>
            <p:spPr>
              <a:xfrm>
                <a:off x="417650" y="1666050"/>
                <a:ext cx="685200" cy="685200"/>
              </a:xfrm>
              <a:prstGeom prst="ellipse">
                <a:avLst/>
              </a:prstGeom>
              <a:solidFill>
                <a:srgbClr val="EB9C5A"/>
              </a:solidFill>
              <a:ln cap="flat" cmpd="sng" w="9525">
                <a:solidFill>
                  <a:srgbClr val="21212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>
                    <a:solidFill>
                      <a:srgbClr val="FFFFFF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0,7</a:t>
                </a:r>
                <a:endParaRPr sz="1700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6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neurônio</a:t>
            </a:r>
            <a:endParaRPr/>
          </a:p>
        </p:txBody>
      </p:sp>
      <p:sp>
        <p:nvSpPr>
          <p:cNvPr id="201" name="Google Shape;201;p26"/>
          <p:cNvSpPr/>
          <p:nvPr/>
        </p:nvSpPr>
        <p:spPr>
          <a:xfrm>
            <a:off x="417650" y="3334300"/>
            <a:ext cx="685200" cy="685200"/>
          </a:xfrm>
          <a:prstGeom prst="ellipse">
            <a:avLst/>
          </a:prstGeom>
          <a:solidFill>
            <a:srgbClr val="EB9C5A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 sz="17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417650" y="2123250"/>
            <a:ext cx="685200" cy="685200"/>
          </a:xfrm>
          <a:prstGeom prst="ellipse">
            <a:avLst/>
          </a:prstGeom>
          <a:solidFill>
            <a:srgbClr val="EB9C5A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0,7</a:t>
            </a:r>
            <a:endParaRPr sz="17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03" name="Google Shape;203;p26"/>
          <p:cNvCxnSpPr/>
          <p:nvPr/>
        </p:nvCxnSpPr>
        <p:spPr>
          <a:xfrm>
            <a:off x="1102850" y="2465850"/>
            <a:ext cx="16914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4" name="Google Shape;204;p26"/>
          <p:cNvSpPr txBox="1"/>
          <p:nvPr/>
        </p:nvSpPr>
        <p:spPr>
          <a:xfrm>
            <a:off x="1324650" y="2024850"/>
            <a:ext cx="1201500" cy="446400"/>
          </a:xfrm>
          <a:prstGeom prst="rect">
            <a:avLst/>
          </a:prstGeom>
          <a:solidFill>
            <a:srgbClr val="F16E40">
              <a:alpha val="2975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/>
          </a:p>
        </p:txBody>
      </p:sp>
      <p:sp>
        <p:nvSpPr>
          <p:cNvPr id="205" name="Google Shape;205;p26"/>
          <p:cNvSpPr txBox="1"/>
          <p:nvPr/>
        </p:nvSpPr>
        <p:spPr>
          <a:xfrm>
            <a:off x="1270652" y="3111375"/>
            <a:ext cx="1309500" cy="446400"/>
          </a:xfrm>
          <a:prstGeom prst="rect">
            <a:avLst/>
          </a:prstGeom>
          <a:solidFill>
            <a:srgbClr val="F16E40">
              <a:alpha val="2975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206" name="Google Shape;206;p26"/>
          <p:cNvSpPr/>
          <p:nvPr/>
        </p:nvSpPr>
        <p:spPr>
          <a:xfrm>
            <a:off x="2640925" y="1671525"/>
            <a:ext cx="2884800" cy="2884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07" name="Google Shape;207;p26"/>
          <p:cNvCxnSpPr>
            <a:stCxn id="201" idx="6"/>
          </p:cNvCxnSpPr>
          <p:nvPr/>
        </p:nvCxnSpPr>
        <p:spPr>
          <a:xfrm>
            <a:off x="1102850" y="3676900"/>
            <a:ext cx="16149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08" name="Google Shape;20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650" y="4577261"/>
            <a:ext cx="457200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 txBox="1"/>
          <p:nvPr/>
        </p:nvSpPr>
        <p:spPr>
          <a:xfrm>
            <a:off x="1802900" y="1148325"/>
            <a:ext cx="893400" cy="52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viés</a:t>
            </a:r>
            <a:endParaRPr b="1"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10" name="Google Shape;210;p26"/>
          <p:cNvCxnSpPr>
            <a:stCxn id="209" idx="2"/>
            <a:endCxn id="206" idx="1"/>
          </p:cNvCxnSpPr>
          <p:nvPr/>
        </p:nvCxnSpPr>
        <p:spPr>
          <a:xfrm>
            <a:off x="2249600" y="1671525"/>
            <a:ext cx="813900" cy="422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11" name="Google Shape;21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3600" y="4577251"/>
            <a:ext cx="5334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76569" y="2314575"/>
            <a:ext cx="2324108" cy="72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3" name="Google Shape;213;p26"/>
          <p:cNvCxnSpPr>
            <a:stCxn id="212" idx="2"/>
          </p:cNvCxnSpPr>
          <p:nvPr/>
        </p:nvCxnSpPr>
        <p:spPr>
          <a:xfrm>
            <a:off x="4138623" y="3042375"/>
            <a:ext cx="0" cy="4737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14" name="Google Shape;214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75875" y="3629997"/>
            <a:ext cx="1614900" cy="398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neurônio: ativação sigmóide</a:t>
            </a:r>
            <a:endParaRPr/>
          </a:p>
        </p:txBody>
      </p:sp>
      <p:sp>
        <p:nvSpPr>
          <p:cNvPr id="220" name="Google Shape;220;p27"/>
          <p:cNvSpPr/>
          <p:nvPr/>
        </p:nvSpPr>
        <p:spPr>
          <a:xfrm>
            <a:off x="417650" y="3334300"/>
            <a:ext cx="685200" cy="685200"/>
          </a:xfrm>
          <a:prstGeom prst="ellipse">
            <a:avLst/>
          </a:prstGeom>
          <a:solidFill>
            <a:srgbClr val="EB9C5A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 sz="17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1" name="Google Shape;221;p27"/>
          <p:cNvSpPr/>
          <p:nvPr/>
        </p:nvSpPr>
        <p:spPr>
          <a:xfrm>
            <a:off x="417650" y="2123250"/>
            <a:ext cx="685200" cy="685200"/>
          </a:xfrm>
          <a:prstGeom prst="ellipse">
            <a:avLst/>
          </a:prstGeom>
          <a:solidFill>
            <a:srgbClr val="EB9C5A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0,7</a:t>
            </a:r>
            <a:endParaRPr sz="17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22" name="Google Shape;222;p27"/>
          <p:cNvCxnSpPr/>
          <p:nvPr/>
        </p:nvCxnSpPr>
        <p:spPr>
          <a:xfrm>
            <a:off x="1102850" y="2465850"/>
            <a:ext cx="16914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3" name="Google Shape;223;p27"/>
          <p:cNvSpPr txBox="1"/>
          <p:nvPr/>
        </p:nvSpPr>
        <p:spPr>
          <a:xfrm>
            <a:off x="1324650" y="2024850"/>
            <a:ext cx="1201500" cy="446400"/>
          </a:xfrm>
          <a:prstGeom prst="rect">
            <a:avLst/>
          </a:prstGeom>
          <a:solidFill>
            <a:srgbClr val="F16E40">
              <a:alpha val="2975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/>
          </a:p>
        </p:txBody>
      </p:sp>
      <p:sp>
        <p:nvSpPr>
          <p:cNvPr id="224" name="Google Shape;224;p27"/>
          <p:cNvSpPr txBox="1"/>
          <p:nvPr/>
        </p:nvSpPr>
        <p:spPr>
          <a:xfrm>
            <a:off x="1270652" y="3111375"/>
            <a:ext cx="1309500" cy="446400"/>
          </a:xfrm>
          <a:prstGeom prst="rect">
            <a:avLst/>
          </a:prstGeom>
          <a:solidFill>
            <a:srgbClr val="F16E40">
              <a:alpha val="2975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225" name="Google Shape;225;p27"/>
          <p:cNvSpPr/>
          <p:nvPr/>
        </p:nvSpPr>
        <p:spPr>
          <a:xfrm>
            <a:off x="2640925" y="1671525"/>
            <a:ext cx="2884800" cy="2884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26" name="Google Shape;226;p27"/>
          <p:cNvCxnSpPr>
            <a:stCxn id="220" idx="6"/>
          </p:cNvCxnSpPr>
          <p:nvPr/>
        </p:nvCxnSpPr>
        <p:spPr>
          <a:xfrm>
            <a:off x="1102850" y="3676900"/>
            <a:ext cx="16149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27" name="Google Shape;22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650" y="4577261"/>
            <a:ext cx="457200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7"/>
          <p:cNvSpPr txBox="1"/>
          <p:nvPr/>
        </p:nvSpPr>
        <p:spPr>
          <a:xfrm>
            <a:off x="1802900" y="1148325"/>
            <a:ext cx="893400" cy="52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viés</a:t>
            </a:r>
            <a:endParaRPr b="1"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29" name="Google Shape;229;p27"/>
          <p:cNvCxnSpPr>
            <a:stCxn id="228" idx="2"/>
            <a:endCxn id="225" idx="1"/>
          </p:cNvCxnSpPr>
          <p:nvPr/>
        </p:nvCxnSpPr>
        <p:spPr>
          <a:xfrm>
            <a:off x="2249600" y="1671525"/>
            <a:ext cx="813900" cy="422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30" name="Google Shape;23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3600" y="4577251"/>
            <a:ext cx="5334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76569" y="2314575"/>
            <a:ext cx="2324108" cy="72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2" name="Google Shape;232;p27"/>
          <p:cNvCxnSpPr>
            <a:stCxn id="231" idx="2"/>
          </p:cNvCxnSpPr>
          <p:nvPr/>
        </p:nvCxnSpPr>
        <p:spPr>
          <a:xfrm>
            <a:off x="4138623" y="3042375"/>
            <a:ext cx="0" cy="4737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33" name="Google Shape;233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75875" y="3629997"/>
            <a:ext cx="1614900" cy="398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66975" y="1389150"/>
            <a:ext cx="3836038" cy="28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47825" y="295012"/>
            <a:ext cx="923925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40175" y="2771325"/>
            <a:ext cx="2196320" cy="685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7" name="Google Shape;237;p27"/>
          <p:cNvCxnSpPr>
            <a:endCxn id="236" idx="0"/>
          </p:cNvCxnSpPr>
          <p:nvPr/>
        </p:nvCxnSpPr>
        <p:spPr>
          <a:xfrm>
            <a:off x="7438335" y="1840725"/>
            <a:ext cx="0" cy="930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8" name="Google Shape;238;p27"/>
          <p:cNvSpPr txBox="1"/>
          <p:nvPr/>
        </p:nvSpPr>
        <p:spPr>
          <a:xfrm>
            <a:off x="7630800" y="1995985"/>
            <a:ext cx="155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ativação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39" name="Google Shape;239;p27"/>
          <p:cNvPicPr preferRelativeResize="0"/>
          <p:nvPr/>
        </p:nvPicPr>
        <p:blipFill rotWithShape="1">
          <a:blip r:embed="rId10">
            <a:alphaModFix/>
          </a:blip>
          <a:srcRect b="0" l="0" r="38469" t="0"/>
          <a:stretch/>
        </p:blipFill>
        <p:spPr>
          <a:xfrm>
            <a:off x="5867755" y="3696563"/>
            <a:ext cx="2906870" cy="68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846275" y="4621800"/>
            <a:ext cx="2871625" cy="32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8"/>
          <p:cNvSpPr txBox="1"/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redes e o aprendizado, por que funcionam?</a:t>
            </a:r>
            <a:endParaRPr/>
          </a:p>
        </p:txBody>
      </p:sp>
      <p:sp>
        <p:nvSpPr>
          <p:cNvPr id="246" name="Google Shape;246;p28"/>
          <p:cNvSpPr txBox="1"/>
          <p:nvPr>
            <p:ph idx="1" type="body"/>
          </p:nvPr>
        </p:nvSpPr>
        <p:spPr>
          <a:xfrm>
            <a:off x="607500" y="3960899"/>
            <a:ext cx="7921200" cy="696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https://www.youtube.com/watch?v=UKcWu1l_UNw&amp;list=PLsYgNgmVQaSAYPf11Pyc8QQuRLe5mVgXq&amp;index=3</a:t>
            </a:r>
            <a:endParaRPr/>
          </a:p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9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 que as redes neurais funcionam?</a:t>
            </a:r>
            <a:endParaRPr/>
          </a:p>
        </p:txBody>
      </p:sp>
      <p:sp>
        <p:nvSpPr>
          <p:cNvPr id="252" name="Google Shape;252;p29"/>
          <p:cNvSpPr txBox="1"/>
          <p:nvPr>
            <p:ph idx="1" type="body"/>
          </p:nvPr>
        </p:nvSpPr>
        <p:spPr>
          <a:xfrm>
            <a:off x="614025" y="1369625"/>
            <a:ext cx="7929000" cy="1664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Um conjunto de v</a:t>
            </a:r>
            <a:r>
              <a:rPr lang="en"/>
              <a:t>árias regressões/modelos estatísticos: 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Hipótese do bilhete de loteria:</a:t>
            </a:r>
            <a:endParaRPr/>
          </a:p>
          <a:p>
            <a:pPr indent="-323850" lvl="2" marL="1371600" rtl="0" algn="l">
              <a:spcBef>
                <a:spcPts val="1000"/>
              </a:spcBef>
              <a:spcAft>
                <a:spcPts val="0"/>
              </a:spcAft>
              <a:buSzPts val="1500"/>
              <a:buChar char="■"/>
            </a:pPr>
            <a:r>
              <a:rPr lang="en"/>
              <a:t>Tendo muitos modelos, a chance de </a:t>
            </a:r>
            <a:r>
              <a:rPr lang="en"/>
              <a:t>inicializarmos</a:t>
            </a:r>
            <a:r>
              <a:rPr lang="en"/>
              <a:t> os pesos aleatoriamente de forma melhor é cada vez maior</a:t>
            </a:r>
            <a:endParaRPr/>
          </a:p>
        </p:txBody>
      </p:sp>
      <p:pic>
        <p:nvPicPr>
          <p:cNvPr id="253" name="Google Shape;25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472" y="2900800"/>
            <a:ext cx="3742976" cy="2105426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9"/>
          <p:cNvSpPr txBox="1"/>
          <p:nvPr/>
        </p:nvSpPr>
        <p:spPr>
          <a:xfrm>
            <a:off x="4431917" y="4680930"/>
            <a:ext cx="4943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</a:rPr>
              <a:t>https://laconicml.com/stochastic-gradient-descent-in-python/</a:t>
            </a:r>
            <a:endParaRPr sz="10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/>
          <p:cNvSpPr txBox="1"/>
          <p:nvPr>
            <p:ph type="title"/>
          </p:nvPr>
        </p:nvSpPr>
        <p:spPr>
          <a:xfrm>
            <a:off x="607500" y="2193372"/>
            <a:ext cx="7921200" cy="110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que muda entre as redes neurais?</a:t>
            </a:r>
            <a:endParaRPr/>
          </a:p>
        </p:txBody>
      </p:sp>
      <p:sp>
        <p:nvSpPr>
          <p:cNvPr id="260" name="Google Shape;260;p30"/>
          <p:cNvSpPr txBox="1"/>
          <p:nvPr>
            <p:ph idx="1" type="body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Neural network | Free SVG" id="261" name="Google Shape;26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2066" y="354100"/>
            <a:ext cx="1888572" cy="1888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Número de camadas e neurônios em cada camada</a:t>
            </a:r>
            <a:endParaRPr/>
          </a:p>
        </p:txBody>
      </p:sp>
      <p:sp>
        <p:nvSpPr>
          <p:cNvPr id="267" name="Google Shape;267;p31"/>
          <p:cNvSpPr/>
          <p:nvPr/>
        </p:nvSpPr>
        <p:spPr>
          <a:xfrm>
            <a:off x="160675" y="1436150"/>
            <a:ext cx="2595300" cy="355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File:Neural network example.svg - Wikimedia Commons" id="268" name="Google Shape;26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300" y="1550450"/>
            <a:ext cx="2479626" cy="33061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eural Network Deep Learning Prismatic 2 | Free SVG" id="269" name="Google Shape;26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8375" y="1550450"/>
            <a:ext cx="3440650" cy="344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34176" y="1350214"/>
            <a:ext cx="2490175" cy="1770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Múltiplas saídas</a:t>
            </a:r>
            <a:endParaRPr/>
          </a:p>
        </p:txBody>
      </p:sp>
      <p:pic>
        <p:nvPicPr>
          <p:cNvPr id="276" name="Google Shape;27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9350" y="1772325"/>
            <a:ext cx="5926248" cy="26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3"/>
          <p:cNvSpPr/>
          <p:nvPr/>
        </p:nvSpPr>
        <p:spPr>
          <a:xfrm>
            <a:off x="1282775" y="1679138"/>
            <a:ext cx="2884800" cy="2884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2" name="Google Shape;282;p33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Função de ativação do neurônio</a:t>
            </a:r>
            <a:endParaRPr/>
          </a:p>
        </p:txBody>
      </p:sp>
      <p:sp>
        <p:nvSpPr>
          <p:cNvPr id="283" name="Google Shape;283;p33"/>
          <p:cNvSpPr/>
          <p:nvPr/>
        </p:nvSpPr>
        <p:spPr>
          <a:xfrm>
            <a:off x="1908775" y="3607850"/>
            <a:ext cx="1627200" cy="45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84" name="Google Shape;28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9350" y="1157851"/>
            <a:ext cx="3708762" cy="392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7725" y="3637609"/>
            <a:ext cx="1614900" cy="398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18419" y="2322188"/>
            <a:ext cx="2324108" cy="72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7" name="Google Shape;287;p33"/>
          <p:cNvCxnSpPr>
            <a:stCxn id="286" idx="2"/>
          </p:cNvCxnSpPr>
          <p:nvPr/>
        </p:nvCxnSpPr>
        <p:spPr>
          <a:xfrm>
            <a:off x="2780473" y="3049988"/>
            <a:ext cx="0" cy="4737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Padrão de conectividade</a:t>
            </a:r>
            <a:endParaRPr/>
          </a:p>
        </p:txBody>
      </p:sp>
      <p:pic>
        <p:nvPicPr>
          <p:cNvPr id="293" name="Google Shape;29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238" y="1516150"/>
            <a:ext cx="4103225" cy="3144826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4"/>
          <p:cNvSpPr txBox="1"/>
          <p:nvPr>
            <p:ph idx="1" type="body"/>
          </p:nvPr>
        </p:nvSpPr>
        <p:spPr>
          <a:xfrm>
            <a:off x="4572000" y="1349325"/>
            <a:ext cx="4198200" cy="3478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As RNN, utilizam a recorrência em relação as vezes anteriores em que foi ativada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Funciona como se fosse uma memória do que ocorreu antes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Usos: séries temporais, processamento de linguagem natural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5"/>
          <p:cNvSpPr txBox="1"/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neurais: classificação x regressão</a:t>
            </a:r>
            <a:endParaRPr/>
          </a:p>
        </p:txBody>
      </p:sp>
      <p:sp>
        <p:nvSpPr>
          <p:cNvPr id="300" name="Google Shape;300;p35"/>
          <p:cNvSpPr txBox="1"/>
          <p:nvPr>
            <p:ph idx="1" type="body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6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Classificação</a:t>
            </a:r>
            <a:endParaRPr/>
          </a:p>
        </p:txBody>
      </p:sp>
      <p:pic>
        <p:nvPicPr>
          <p:cNvPr id="306" name="Google Shape;30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3600" y="1706950"/>
            <a:ext cx="5926248" cy="26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7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Exemplos</a:t>
            </a:r>
            <a:endParaRPr/>
          </a:p>
        </p:txBody>
      </p:sp>
      <p:sp>
        <p:nvSpPr>
          <p:cNvPr id="312" name="Google Shape;312;p37"/>
          <p:cNvSpPr txBox="1"/>
          <p:nvPr>
            <p:ph idx="1" type="body"/>
          </p:nvPr>
        </p:nvSpPr>
        <p:spPr>
          <a:xfrm>
            <a:off x="409450" y="2324550"/>
            <a:ext cx="3889500" cy="271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hlinkClick r:id="rId3"/>
              </a:rPr>
              <a:t>https://colab.research.google.com/drive/1K1KHQzcpkriH8NE7wHWapd0lf-6pV6z8#scrollTo=9ba6f23a</a:t>
            </a:r>
            <a:endParaRPr sz="13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13" name="Google Shape;313;p37"/>
          <p:cNvSpPr txBox="1"/>
          <p:nvPr>
            <p:ph idx="2" type="body"/>
          </p:nvPr>
        </p:nvSpPr>
        <p:spPr>
          <a:xfrm>
            <a:off x="4794225" y="2324550"/>
            <a:ext cx="3889500" cy="271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hlinkClick r:id="rId4"/>
              </a:rPr>
              <a:t>https://colab.research.google.com/drive/1AY2oaX3KgJuqmU6y7056EVsWeHdNuCY_#scrollTo=MSaCzawwjCAs</a:t>
            </a:r>
            <a:br>
              <a:rPr lang="en" sz="1300"/>
            </a:br>
            <a:endParaRPr sz="1300"/>
          </a:p>
        </p:txBody>
      </p:sp>
      <p:sp>
        <p:nvSpPr>
          <p:cNvPr id="314" name="Google Shape;314;p37"/>
          <p:cNvSpPr txBox="1"/>
          <p:nvPr>
            <p:ph idx="1" type="body"/>
          </p:nvPr>
        </p:nvSpPr>
        <p:spPr>
          <a:xfrm>
            <a:off x="409450" y="1707449"/>
            <a:ext cx="3889500" cy="617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Classificação de múltiplas classes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15" name="Google Shape;315;p37"/>
          <p:cNvSpPr txBox="1"/>
          <p:nvPr>
            <p:ph idx="1" type="body"/>
          </p:nvPr>
        </p:nvSpPr>
        <p:spPr>
          <a:xfrm>
            <a:off x="4794225" y="1707449"/>
            <a:ext cx="3889500" cy="617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Regressão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8"/>
          <p:cNvSpPr txBox="1"/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Padrão de conectividade CNN</a:t>
            </a:r>
            <a:endParaRPr/>
          </a:p>
        </p:txBody>
      </p:sp>
      <p:pic>
        <p:nvPicPr>
          <p:cNvPr id="321" name="Google Shape;32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475" y="255200"/>
            <a:ext cx="4631824" cy="243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8"/>
          <p:cNvSpPr txBox="1"/>
          <p:nvPr>
            <p:ph idx="1" type="body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9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Contexto</a:t>
            </a:r>
            <a:endParaRPr/>
          </a:p>
        </p:txBody>
      </p:sp>
      <p:sp>
        <p:nvSpPr>
          <p:cNvPr id="328" name="Google Shape;328;p39"/>
          <p:cNvSpPr txBox="1"/>
          <p:nvPr>
            <p:ph idx="1" type="body"/>
          </p:nvPr>
        </p:nvSpPr>
        <p:spPr>
          <a:xfrm>
            <a:off x="614025" y="1369625"/>
            <a:ext cx="7929000" cy="3478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As imagens são matrizes de números</a:t>
            </a:r>
            <a:endParaRPr/>
          </a:p>
        </p:txBody>
      </p:sp>
      <p:pic>
        <p:nvPicPr>
          <p:cNvPr id="329" name="Google Shape;32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3613" y="2571738"/>
            <a:ext cx="4676775" cy="24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0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Contexto</a:t>
            </a:r>
            <a:endParaRPr/>
          </a:p>
        </p:txBody>
      </p:sp>
      <p:sp>
        <p:nvSpPr>
          <p:cNvPr id="335" name="Google Shape;335;p40"/>
          <p:cNvSpPr txBox="1"/>
          <p:nvPr>
            <p:ph idx="1" type="body"/>
          </p:nvPr>
        </p:nvSpPr>
        <p:spPr>
          <a:xfrm>
            <a:off x="614025" y="1369625"/>
            <a:ext cx="7929000" cy="3478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As imagens são matrizes de números</a:t>
            </a:r>
            <a:endParaRPr/>
          </a:p>
        </p:txBody>
      </p:sp>
      <p:pic>
        <p:nvPicPr>
          <p:cNvPr id="336" name="Google Shape;33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3613" y="2571738"/>
            <a:ext cx="4676775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0"/>
          <p:cNvPicPr preferRelativeResize="0"/>
          <p:nvPr/>
        </p:nvPicPr>
        <p:blipFill rotWithShape="1">
          <a:blip r:embed="rId4">
            <a:alphaModFix/>
          </a:blip>
          <a:srcRect b="0" l="0" r="57783" t="0"/>
          <a:stretch/>
        </p:blipFill>
        <p:spPr>
          <a:xfrm>
            <a:off x="530875" y="2348200"/>
            <a:ext cx="2787276" cy="2499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8" name="Google Shape;338;p40"/>
          <p:cNvCxnSpPr>
            <a:endCxn id="337" idx="0"/>
          </p:cNvCxnSpPr>
          <p:nvPr/>
        </p:nvCxnSpPr>
        <p:spPr>
          <a:xfrm rot="10800000">
            <a:off x="1924513" y="2348200"/>
            <a:ext cx="2896200" cy="9492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" name="Google Shape;339;p40"/>
          <p:cNvCxnSpPr/>
          <p:nvPr/>
        </p:nvCxnSpPr>
        <p:spPr>
          <a:xfrm flipH="1">
            <a:off x="1576413" y="3782800"/>
            <a:ext cx="3303900" cy="10560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1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Contexto</a:t>
            </a:r>
            <a:endParaRPr/>
          </a:p>
        </p:txBody>
      </p:sp>
      <p:sp>
        <p:nvSpPr>
          <p:cNvPr id="345" name="Google Shape;345;p41"/>
          <p:cNvSpPr txBox="1"/>
          <p:nvPr>
            <p:ph idx="1" type="body"/>
          </p:nvPr>
        </p:nvSpPr>
        <p:spPr>
          <a:xfrm>
            <a:off x="614025" y="1369625"/>
            <a:ext cx="7929000" cy="3478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Podemos trabalhar analisando os números e realizando operações sobre esses números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Filtros vêm sendo utilizado há bastante tempo na área de processamento de imagens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Remover ruído e evidenciar dados relevantes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Facilitar análise automática de imagens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2"/>
          <p:cNvSpPr txBox="1"/>
          <p:nvPr>
            <p:ph idx="4294967295" type="title"/>
          </p:nvPr>
        </p:nvSpPr>
        <p:spPr>
          <a:xfrm>
            <a:off x="864450" y="1172325"/>
            <a:ext cx="1428600" cy="45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Original</a:t>
            </a:r>
            <a:endParaRPr sz="2200"/>
          </a:p>
        </p:txBody>
      </p:sp>
      <p:pic>
        <p:nvPicPr>
          <p:cNvPr id="351" name="Google Shape;35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575" y="1630127"/>
            <a:ext cx="2908349" cy="2341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5650" y="2762250"/>
            <a:ext cx="2908349" cy="2381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35651" y="7"/>
            <a:ext cx="2908350" cy="2379092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42"/>
          <p:cNvSpPr txBox="1"/>
          <p:nvPr>
            <p:ph idx="4294967295" type="title"/>
          </p:nvPr>
        </p:nvSpPr>
        <p:spPr>
          <a:xfrm>
            <a:off x="4671188" y="230400"/>
            <a:ext cx="1578600" cy="45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Passa-alta</a:t>
            </a:r>
            <a:endParaRPr sz="2200"/>
          </a:p>
        </p:txBody>
      </p:sp>
      <p:sp>
        <p:nvSpPr>
          <p:cNvPr id="355" name="Google Shape;355;p42"/>
          <p:cNvSpPr txBox="1"/>
          <p:nvPr>
            <p:ph idx="4294967295" type="title"/>
          </p:nvPr>
        </p:nvSpPr>
        <p:spPr>
          <a:xfrm>
            <a:off x="4254500" y="2882600"/>
            <a:ext cx="1896300" cy="45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Passa-baixa</a:t>
            </a:r>
            <a:endParaRPr sz="2200"/>
          </a:p>
        </p:txBody>
      </p:sp>
      <p:pic>
        <p:nvPicPr>
          <p:cNvPr id="356" name="Google Shape;356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25899" y="765310"/>
            <a:ext cx="1069175" cy="103899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2"/>
          <p:cNvSpPr txBox="1"/>
          <p:nvPr/>
        </p:nvSpPr>
        <p:spPr>
          <a:xfrm>
            <a:off x="572650" y="44039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7"/>
              </a:rPr>
              <a:t>Planilha Imagem Numeros.xlsm</a:t>
            </a:r>
            <a:endParaRPr/>
          </a:p>
        </p:txBody>
      </p:sp>
      <p:pic>
        <p:nvPicPr>
          <p:cNvPr id="358" name="Google Shape;358;p42"/>
          <p:cNvPicPr preferRelativeResize="0"/>
          <p:nvPr/>
        </p:nvPicPr>
        <p:blipFill rotWithShape="1">
          <a:blip r:embed="rId8">
            <a:alphaModFix/>
          </a:blip>
          <a:srcRect b="0" l="0" r="71949" t="0"/>
          <a:stretch/>
        </p:blipFill>
        <p:spPr>
          <a:xfrm>
            <a:off x="3927188" y="3411966"/>
            <a:ext cx="2141286" cy="1554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3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 que não deixar a rede neural aprender os pesos (kernel)</a:t>
            </a:r>
            <a:endParaRPr/>
          </a:p>
        </p:txBody>
      </p:sp>
      <p:pic>
        <p:nvPicPr>
          <p:cNvPr id="364" name="Google Shape;36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275" y="1149901"/>
            <a:ext cx="6524625" cy="34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43"/>
          <p:cNvSpPr txBox="1"/>
          <p:nvPr/>
        </p:nvSpPr>
        <p:spPr>
          <a:xfrm>
            <a:off x="506675" y="4682900"/>
            <a:ext cx="867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6" name="Google Shape;366;p43"/>
          <p:cNvSpPr txBox="1"/>
          <p:nvPr/>
        </p:nvSpPr>
        <p:spPr>
          <a:xfrm>
            <a:off x="150150" y="4682900"/>
            <a:ext cx="884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Os filtros são chamados de CONVOLUÇÃO!</a:t>
            </a:r>
            <a:endParaRPr b="1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4"/>
          <p:cNvSpPr txBox="1"/>
          <p:nvPr/>
        </p:nvSpPr>
        <p:spPr>
          <a:xfrm>
            <a:off x="79375" y="4558500"/>
            <a:ext cx="8286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Impact"/>
                <a:ea typeface="Impact"/>
                <a:cs typeface="Impact"/>
                <a:sym typeface="Impact"/>
                <a:hlinkClick r:id="rId3"/>
              </a:rPr>
              <a:t>https://colab.research.google.com/drive/18XgeuSCii2h7dPBvKF1Y0MI0dh0QO6mo?usp=sharing</a:t>
            </a:r>
            <a:endParaRPr sz="13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372" name="Google Shape;372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400" y="237275"/>
            <a:ext cx="1806815" cy="183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2562" y="2316488"/>
            <a:ext cx="6088568" cy="1997126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4"/>
          <p:cNvSpPr txBox="1"/>
          <p:nvPr/>
        </p:nvSpPr>
        <p:spPr>
          <a:xfrm>
            <a:off x="3055500" y="214650"/>
            <a:ext cx="6088500" cy="19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Essa é uma rede neural treinada para identificar a espécie de macaco na imagem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Char char="●"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Podemos ver que transformações são feitas na imagem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Char char="○"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Muitas saídas realçam a face do macaco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5"/>
          <p:cNvSpPr txBox="1"/>
          <p:nvPr/>
        </p:nvSpPr>
        <p:spPr>
          <a:xfrm>
            <a:off x="79375" y="4558500"/>
            <a:ext cx="8286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Impact"/>
                <a:ea typeface="Impact"/>
                <a:cs typeface="Impact"/>
                <a:sym typeface="Impact"/>
                <a:hlinkClick r:id="rId3"/>
              </a:rPr>
              <a:t>https://colab.research.google.com/drive/18XgeuSCii2h7dPBvKF1Y0MI0dh0QO6mo?usp=sharing</a:t>
            </a:r>
            <a:endParaRPr sz="13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380" name="Google Shape;380;p45"/>
          <p:cNvPicPr preferRelativeResize="0"/>
          <p:nvPr/>
        </p:nvPicPr>
        <p:blipFill rotWithShape="1">
          <a:blip r:embed="rId4">
            <a:alphaModFix/>
          </a:blip>
          <a:srcRect b="44321" l="0" r="68144" t="0"/>
          <a:stretch/>
        </p:blipFill>
        <p:spPr>
          <a:xfrm>
            <a:off x="239075" y="248177"/>
            <a:ext cx="1905574" cy="4310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45"/>
          <p:cNvPicPr preferRelativeResize="0"/>
          <p:nvPr/>
        </p:nvPicPr>
        <p:blipFill rotWithShape="1">
          <a:blip r:embed="rId4">
            <a:alphaModFix/>
          </a:blip>
          <a:srcRect b="43558" l="67863" r="280" t="763"/>
          <a:stretch/>
        </p:blipFill>
        <p:spPr>
          <a:xfrm>
            <a:off x="2255350" y="248177"/>
            <a:ext cx="1905574" cy="4310321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5"/>
          <p:cNvSpPr txBox="1"/>
          <p:nvPr/>
        </p:nvSpPr>
        <p:spPr>
          <a:xfrm>
            <a:off x="4122475" y="248175"/>
            <a:ext cx="4828500" cy="19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Char char="●"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Podemos analisar quais partes da imagem mais ativam a rede neural (mais contribuem para a classificação final)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Char char="●"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Vemos que a parte mais utilizada é o rosto do macaco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6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Arquiteturas CNN : AlexNet</a:t>
            </a:r>
            <a:endParaRPr/>
          </a:p>
        </p:txBody>
      </p:sp>
      <p:pic>
        <p:nvPicPr>
          <p:cNvPr id="388" name="Google Shape;38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250" y="1461737"/>
            <a:ext cx="7929001" cy="3333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7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Arquiteturas CNN : VGG</a:t>
            </a:r>
            <a:endParaRPr/>
          </a:p>
        </p:txBody>
      </p:sp>
      <p:pic>
        <p:nvPicPr>
          <p:cNvPr id="394" name="Google Shape;39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500" y="1125151"/>
            <a:ext cx="6181978" cy="3927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8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Arquiteturas CNN : VGG</a:t>
            </a:r>
            <a:endParaRPr/>
          </a:p>
        </p:txBody>
      </p:sp>
      <p:pic>
        <p:nvPicPr>
          <p:cNvPr id="400" name="Google Shape;40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875" y="2117951"/>
            <a:ext cx="809625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9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Algumas redes CNN populares</a:t>
            </a:r>
            <a:endParaRPr/>
          </a:p>
        </p:txBody>
      </p:sp>
      <p:sp>
        <p:nvSpPr>
          <p:cNvPr id="406" name="Google Shape;406;p49"/>
          <p:cNvSpPr txBox="1"/>
          <p:nvPr>
            <p:ph idx="1" type="body"/>
          </p:nvPr>
        </p:nvSpPr>
        <p:spPr>
          <a:xfrm>
            <a:off x="614025" y="1369625"/>
            <a:ext cx="7929000" cy="3620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ResNet: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https://github.com/pytorch/vision/blob/main/torchvision/models/resnet.py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MobileNetV3: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https://github.com/tensorflow/models/tree/master/official/vision/beta/modeling/layers/mobilenet_v3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YOLO: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https://github.com/ultralytics/ultralytics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itável">
  <a:themeElements>
    <a:clrScheme name="Personalizada 1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359E45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