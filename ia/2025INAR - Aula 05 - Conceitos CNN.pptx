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5143500" cx="9144000"/>
  <p:notesSz cx="6858000" cy="9144000"/>
  <p:embeddedFontLst>
    <p:embeddedFont>
      <p:font typeface="Roboto"/>
      <p:regular r:id="rId45"/>
      <p:bold r:id="rId46"/>
      <p:italic r:id="rId47"/>
      <p:boldItalic r:id="rId48"/>
    </p:embeddedFont>
    <p:embeddedFont>
      <p:font typeface="EB Garamond"/>
      <p:regular r:id="rId49"/>
      <p:bold r:id="rId50"/>
      <p:italic r:id="rId51"/>
      <p:boldItalic r:id="rId52"/>
    </p:embeddedFont>
    <p:embeddedFont>
      <p:font typeface="Century Gothic"/>
      <p:regular r:id="rId53"/>
      <p:bold r:id="rId54"/>
      <p:italic r:id="rId55"/>
      <p:boldItalic r:id="rId56"/>
    </p:embeddedFont>
    <p:embeddedFont>
      <p:font typeface="Open Sans"/>
      <p:regular r:id="rId57"/>
      <p:bold r:id="rId58"/>
      <p:italic r:id="rId59"/>
      <p:boldItalic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Roboto-bold.fntdata"/><Relationship Id="rId45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-boldItalic.fntdata"/><Relationship Id="rId47" Type="http://schemas.openxmlformats.org/officeDocument/2006/relationships/font" Target="fonts/Roboto-italic.fntdata"/><Relationship Id="rId49" Type="http://schemas.openxmlformats.org/officeDocument/2006/relationships/font" Target="fonts/EBGaramon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OpenSans-bold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EBGaramond-italic.fntdata"/><Relationship Id="rId50" Type="http://schemas.openxmlformats.org/officeDocument/2006/relationships/font" Target="fonts/EBGaramond-bold.fntdata"/><Relationship Id="rId53" Type="http://schemas.openxmlformats.org/officeDocument/2006/relationships/font" Target="fonts/CenturyGothic-regular.fntdata"/><Relationship Id="rId52" Type="http://schemas.openxmlformats.org/officeDocument/2006/relationships/font" Target="fonts/EBGaramond-boldItalic.fntdata"/><Relationship Id="rId11" Type="http://schemas.openxmlformats.org/officeDocument/2006/relationships/slide" Target="slides/slide6.xml"/><Relationship Id="rId55" Type="http://schemas.openxmlformats.org/officeDocument/2006/relationships/font" Target="fonts/CenturyGothic-italic.fntdata"/><Relationship Id="rId10" Type="http://schemas.openxmlformats.org/officeDocument/2006/relationships/slide" Target="slides/slide5.xml"/><Relationship Id="rId54" Type="http://schemas.openxmlformats.org/officeDocument/2006/relationships/font" Target="fonts/CenturyGothic-bold.fntdata"/><Relationship Id="rId13" Type="http://schemas.openxmlformats.org/officeDocument/2006/relationships/slide" Target="slides/slide8.xml"/><Relationship Id="rId57" Type="http://schemas.openxmlformats.org/officeDocument/2006/relationships/font" Target="fonts/OpenSans-regular.fntdata"/><Relationship Id="rId12" Type="http://schemas.openxmlformats.org/officeDocument/2006/relationships/slide" Target="slides/slide7.xml"/><Relationship Id="rId56" Type="http://schemas.openxmlformats.org/officeDocument/2006/relationships/font" Target="fonts/CenturyGothic-boldItalic.fntdata"/><Relationship Id="rId15" Type="http://schemas.openxmlformats.org/officeDocument/2006/relationships/slide" Target="slides/slide10.xml"/><Relationship Id="rId59" Type="http://schemas.openxmlformats.org/officeDocument/2006/relationships/font" Target="fonts/OpenSans-italic.fntdata"/><Relationship Id="rId14" Type="http://schemas.openxmlformats.org/officeDocument/2006/relationships/slide" Target="slides/slide9.xml"/><Relationship Id="rId58" Type="http://schemas.openxmlformats.org/officeDocument/2006/relationships/font" Target="fonts/OpenSans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0deab8ac5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0deab8ac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d600c5893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d600c5893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d600c5893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d600c5893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d600c5893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d600c5893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d600c5893d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d600c5893d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d600c5893d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d600c5893d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56dc6ae97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56dc6ae9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52999a05f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52999a05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d600c5893d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d600c5893d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d600c5893d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d600c5893d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d600c5893d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d600c5893d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d600c5893d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d600c5893d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d600c5893d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d600c5893d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d600c5893d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d600c5893d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d600c5893d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d600c5893d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d600c5893d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d600c5893d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d600c5893d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d600c5893d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d600c5893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d600c5893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d600c5893d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d600c5893d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d600c5893d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d600c5893d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d600c5893d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d600c5893d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d600c5893d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d600c5893d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d600c5893d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d600c5893d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d600c5893d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d600c5893d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d600c5893d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2d600c5893d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7c2aa3f8e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7c2aa3f8e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d600c5893d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2d600c5893d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d600c5893d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2d600c5893d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d600c5893d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2d600c5893d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d600c5893d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2d600c5893d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d600c5893d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2d600c5893d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d600c5893d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2d600c5893d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2d600c5893d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2d600c5893d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d600c5893d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2d600c5893d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d600c5893d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2d600c5893d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d600c5893d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2d600c5893d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7c2aa3f8e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7c2aa3f8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2d60cfc842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2d60cfc842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0" y="-2381"/>
            <a:ext cx="9144000" cy="3902869"/>
          </a:xfrm>
          <a:custGeom>
            <a:rect b="b" l="l" r="r" t="t"/>
            <a:pathLst>
              <a:path extrusionOk="0" h="3278" w="5760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2"/>
          <p:cNvSpPr txBox="1"/>
          <p:nvPr>
            <p:ph type="ctrTitle"/>
          </p:nvPr>
        </p:nvSpPr>
        <p:spPr>
          <a:xfrm>
            <a:off x="607501" y="1086860"/>
            <a:ext cx="7929000" cy="22284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100"/>
              <a:buFont typeface="Roboto"/>
              <a:buNone/>
              <a:defRPr b="0" sz="41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607501" y="3960635"/>
            <a:ext cx="7929000" cy="326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9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7000970" y="4531022"/>
            <a:ext cx="1007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338635" y="4531022"/>
            <a:ext cx="6483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008748" y="4436916"/>
            <a:ext cx="7965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b" bIns="8100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95225" y="3843125"/>
            <a:ext cx="3110024" cy="111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1282294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900"/>
              <a:buFont typeface="Impact"/>
              <a:buNone/>
              <a:defRPr b="0" sz="2900">
                <a:latin typeface="Impact"/>
                <a:ea typeface="Impact"/>
                <a:cs typeface="Impact"/>
                <a:sym typeface="Impac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614025" y="1369625"/>
            <a:ext cx="7929000" cy="37803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Font typeface="EB Garamond"/>
              <a:buChar char="●"/>
              <a:defRPr sz="2100">
                <a:latin typeface="EB Garamond"/>
                <a:ea typeface="EB Garamond"/>
                <a:cs typeface="EB Garamond"/>
                <a:sym typeface="EB Garamond"/>
              </a:defRPr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EB Garamond"/>
              <a:buChar char="○"/>
              <a:defRPr sz="1800">
                <a:latin typeface="EB Garamond"/>
                <a:ea typeface="EB Garamond"/>
                <a:cs typeface="EB Garamond"/>
                <a:sym typeface="EB Garamond"/>
              </a:defRPr>
            </a:lvl2pPr>
            <a:lvl3pPr indent="-32385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EB Garamond"/>
              <a:buChar char="■"/>
              <a:defRPr sz="1500">
                <a:latin typeface="EB Garamond"/>
                <a:ea typeface="EB Garamond"/>
                <a:cs typeface="EB Garamond"/>
                <a:sym typeface="EB Garamond"/>
              </a:defRPr>
            </a:lvl3pPr>
            <a:lvl4pPr indent="-3175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EB Garamond"/>
              <a:buChar char="●"/>
              <a:defRPr sz="1400">
                <a:latin typeface="EB Garamond"/>
                <a:ea typeface="EB Garamond"/>
                <a:cs typeface="EB Garamond"/>
                <a:sym typeface="EB Garamond"/>
              </a:defRPr>
            </a:lvl4pPr>
            <a:lvl5pPr indent="-3175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EB Garamond"/>
              <a:buChar char="○"/>
              <a:defRPr sz="1400">
                <a:latin typeface="EB Garamond"/>
                <a:ea typeface="EB Garamond"/>
                <a:cs typeface="EB Garamond"/>
                <a:sym typeface="EB Garamond"/>
              </a:defRPr>
            </a:lvl5pPr>
            <a:lvl6pPr indent="-3175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EB Garamond"/>
              <a:buChar char="■"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indent="-3175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EB Garamond"/>
              <a:buChar char="●"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indent="-3175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EB Garamond"/>
              <a:buChar char="○"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indent="-3175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EB Garamond"/>
              <a:buChar char="■"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a numerada">
  <p:cSld name="OBJECT_1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1282294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 txBox="1"/>
          <p:nvPr>
            <p:ph type="title"/>
          </p:nvPr>
        </p:nvSpPr>
        <p:spPr>
          <a:xfrm>
            <a:off x="607500" y="167975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900"/>
              <a:buFont typeface="Impact"/>
              <a:buNone/>
              <a:defRPr b="0" sz="2900">
                <a:latin typeface="Impact"/>
                <a:ea typeface="Impact"/>
                <a:cs typeface="Impact"/>
                <a:sym typeface="Impac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9pPr>
          </a:lstStyle>
          <a:p/>
        </p:txBody>
      </p:sp>
      <p:sp>
        <p:nvSpPr>
          <p:cNvPr id="26" name="Google Shape;26;p4"/>
          <p:cNvSpPr/>
          <p:nvPr/>
        </p:nvSpPr>
        <p:spPr>
          <a:xfrm>
            <a:off x="607500" y="1555104"/>
            <a:ext cx="421500" cy="412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</a:t>
            </a:r>
            <a:endParaRPr sz="19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607500" y="2258791"/>
            <a:ext cx="421500" cy="412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2</a:t>
            </a:r>
            <a:endParaRPr sz="19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607500" y="2962479"/>
            <a:ext cx="421500" cy="412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3</a:t>
            </a:r>
            <a:endParaRPr sz="19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607500" y="3666166"/>
            <a:ext cx="421500" cy="412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4</a:t>
            </a:r>
            <a:endParaRPr sz="19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607500" y="4369854"/>
            <a:ext cx="421500" cy="412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5</a:t>
            </a:r>
            <a:endParaRPr sz="19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1" name="Google Shape;31;p4"/>
          <p:cNvSpPr txBox="1"/>
          <p:nvPr/>
        </p:nvSpPr>
        <p:spPr>
          <a:xfrm>
            <a:off x="1275175" y="1555099"/>
            <a:ext cx="19128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Digite algo</a:t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" name="Google Shape;32;p4"/>
          <p:cNvSpPr txBox="1"/>
          <p:nvPr/>
        </p:nvSpPr>
        <p:spPr>
          <a:xfrm>
            <a:off x="1275175" y="2258799"/>
            <a:ext cx="19128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Digite algo</a:t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" name="Google Shape;33;p4"/>
          <p:cNvSpPr txBox="1"/>
          <p:nvPr/>
        </p:nvSpPr>
        <p:spPr>
          <a:xfrm>
            <a:off x="1275175" y="2962499"/>
            <a:ext cx="19128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Digite algo</a:t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" name="Google Shape;34;p4"/>
          <p:cNvSpPr txBox="1"/>
          <p:nvPr/>
        </p:nvSpPr>
        <p:spPr>
          <a:xfrm>
            <a:off x="1275175" y="3666199"/>
            <a:ext cx="19128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Digite algo</a:t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" name="Google Shape;35;p4"/>
          <p:cNvSpPr txBox="1"/>
          <p:nvPr/>
        </p:nvSpPr>
        <p:spPr>
          <a:xfrm>
            <a:off x="1275175" y="4369899"/>
            <a:ext cx="19128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Digite algo</a:t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/>
          <p:nvPr/>
        </p:nvSpPr>
        <p:spPr>
          <a:xfrm>
            <a:off x="0" y="1"/>
            <a:ext cx="9144000" cy="3902869"/>
          </a:xfrm>
          <a:custGeom>
            <a:rect b="b" l="l" r="r" t="t"/>
            <a:pathLst>
              <a:path extrusionOk="0" h="3278" w="5760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5"/>
          <p:cNvSpPr txBox="1"/>
          <p:nvPr>
            <p:ph type="title"/>
          </p:nvPr>
        </p:nvSpPr>
        <p:spPr>
          <a:xfrm>
            <a:off x="607500" y="2213547"/>
            <a:ext cx="7921200" cy="1101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600"/>
              <a:buFont typeface="Roboto"/>
              <a:buNone/>
              <a:defRPr b="0" sz="3600" cap="none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607500" y="3960901"/>
            <a:ext cx="7921200" cy="325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Roboto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Roboto"/>
              <a:buNone/>
              <a:def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Roboto"/>
              <a:buNone/>
              <a:def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Roboto"/>
              <a:buNone/>
              <a:def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Roboto"/>
              <a:buNone/>
              <a:def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Roboto"/>
              <a:buNone/>
              <a:def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100"/>
              <a:buFont typeface="Roboto"/>
              <a:buNone/>
              <a:def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0" type="dt"/>
          </p:nvPr>
        </p:nvSpPr>
        <p:spPr>
          <a:xfrm>
            <a:off x="7000970" y="4531022"/>
            <a:ext cx="1007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1" type="ftr"/>
          </p:nvPr>
        </p:nvSpPr>
        <p:spPr>
          <a:xfrm>
            <a:off x="338635" y="4531022"/>
            <a:ext cx="6483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008748" y="4436916"/>
            <a:ext cx="7965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b" bIns="8100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25" y="5281"/>
            <a:ext cx="9144000" cy="1388037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>
            <p:ph type="title"/>
          </p:nvPr>
        </p:nvSpPr>
        <p:spPr>
          <a:xfrm>
            <a:off x="607500" y="335391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" type="body"/>
          </p:nvPr>
        </p:nvSpPr>
        <p:spPr>
          <a:xfrm>
            <a:off x="409450" y="2729548"/>
            <a:ext cx="3889500" cy="2306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AutoNum type="arabicPeriod"/>
              <a:defRPr sz="1800"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AutoNum type="alphaLcPeriod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indent="-2984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AutoNum type="romanLcPeriod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AutoNum type="arabicPeriod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AutoNum type="alphaLcPeriod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body"/>
          </p:nvPr>
        </p:nvSpPr>
        <p:spPr>
          <a:xfrm>
            <a:off x="4794225" y="2729548"/>
            <a:ext cx="3889500" cy="2306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AutoNum type="arabicPeriod"/>
              <a:defRPr sz="1800"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AutoNum type="alphaLcPeriod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indent="-2984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AutoNum type="romanLcPeriod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AutoNum type="arabicPeriod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AutoNum type="alphaLcPeriod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artes de Conteúdo" type="twoObj">
  <p:cSld name="TWO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25" y="5281"/>
            <a:ext cx="9144000" cy="1388037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8"/>
          <p:cNvSpPr txBox="1"/>
          <p:nvPr>
            <p:ph type="title"/>
          </p:nvPr>
        </p:nvSpPr>
        <p:spPr>
          <a:xfrm>
            <a:off x="607500" y="335391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" type="body"/>
          </p:nvPr>
        </p:nvSpPr>
        <p:spPr>
          <a:xfrm>
            <a:off x="220850" y="2729550"/>
            <a:ext cx="2617800" cy="2306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  <a:defRPr sz="1500"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AutoNum type="alphaLcPeriod"/>
              <a:defRPr sz="900"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AutoNum type="romanLcPeriod"/>
              <a:defRPr sz="800">
                <a:latin typeface="Open Sans"/>
                <a:ea typeface="Open Sans"/>
                <a:cs typeface="Open Sans"/>
                <a:sym typeface="Open Sans"/>
              </a:defRPr>
            </a:lvl3pPr>
            <a:lvl4pPr indent="-2667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AutoNum type="arabicPeriod"/>
              <a:defRPr sz="600">
                <a:latin typeface="Open Sans"/>
                <a:ea typeface="Open Sans"/>
                <a:cs typeface="Open Sans"/>
                <a:sym typeface="Open Sans"/>
              </a:defRPr>
            </a:lvl4pPr>
            <a:lvl5pPr indent="-2667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AutoNum type="alphaLcPeriod"/>
              <a:defRPr sz="600">
                <a:latin typeface="Open Sans"/>
                <a:ea typeface="Open Sans"/>
                <a:cs typeface="Open Sans"/>
                <a:sym typeface="Open Sans"/>
              </a:defRPr>
            </a:lvl5pPr>
            <a:lvl6pPr indent="-29845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romanLcPeriod"/>
              <a:defRPr sz="600"/>
            </a:lvl6pPr>
            <a:lvl7pPr indent="-29845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  <a:defRPr sz="600"/>
            </a:lvl7pPr>
            <a:lvl8pPr indent="-29845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lphaLcPeriod"/>
              <a:defRPr sz="600"/>
            </a:lvl8pPr>
            <a:lvl9pPr indent="-298450" lvl="8" marL="4114800" algn="l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ts val="1100"/>
              <a:buAutoNum type="romanLcPeriod"/>
              <a:defRPr sz="600"/>
            </a:lvl9pPr>
          </a:lstStyle>
          <a:p/>
        </p:txBody>
      </p:sp>
      <p:sp>
        <p:nvSpPr>
          <p:cNvPr id="53" name="Google Shape;53;p8"/>
          <p:cNvSpPr txBox="1"/>
          <p:nvPr>
            <p:ph idx="2" type="body"/>
          </p:nvPr>
        </p:nvSpPr>
        <p:spPr>
          <a:xfrm>
            <a:off x="3263100" y="2729550"/>
            <a:ext cx="2617800" cy="2306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  <a:defRPr sz="1500"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AutoNum type="alphaLcPeriod"/>
              <a:defRPr sz="900"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AutoNum type="romanLcPeriod"/>
              <a:defRPr sz="800">
                <a:latin typeface="Open Sans"/>
                <a:ea typeface="Open Sans"/>
                <a:cs typeface="Open Sans"/>
                <a:sym typeface="Open Sans"/>
              </a:defRPr>
            </a:lvl3pPr>
            <a:lvl4pPr indent="-2667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AutoNum type="arabicPeriod"/>
              <a:defRPr sz="600">
                <a:latin typeface="Open Sans"/>
                <a:ea typeface="Open Sans"/>
                <a:cs typeface="Open Sans"/>
                <a:sym typeface="Open Sans"/>
              </a:defRPr>
            </a:lvl4pPr>
            <a:lvl5pPr indent="-2667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AutoNum type="alphaLcPeriod"/>
              <a:defRPr sz="600">
                <a:latin typeface="Open Sans"/>
                <a:ea typeface="Open Sans"/>
                <a:cs typeface="Open Sans"/>
                <a:sym typeface="Open Sans"/>
              </a:defRPr>
            </a:lvl5pPr>
            <a:lvl6pPr indent="-29845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romanLcPeriod"/>
              <a:defRPr sz="600"/>
            </a:lvl6pPr>
            <a:lvl7pPr indent="-29845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  <a:defRPr sz="600"/>
            </a:lvl7pPr>
            <a:lvl8pPr indent="-29845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lphaLcPeriod"/>
              <a:defRPr sz="600"/>
            </a:lvl8pPr>
            <a:lvl9pPr indent="-298450" lvl="8" marL="4114800" algn="l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ts val="1100"/>
              <a:buAutoNum type="romanLcPeriod"/>
              <a:defRPr sz="600"/>
            </a:lvl9pPr>
          </a:lstStyle>
          <a:p/>
        </p:txBody>
      </p:sp>
      <p:sp>
        <p:nvSpPr>
          <p:cNvPr id="54" name="Google Shape;54;p8"/>
          <p:cNvSpPr txBox="1"/>
          <p:nvPr>
            <p:ph idx="3" type="body"/>
          </p:nvPr>
        </p:nvSpPr>
        <p:spPr>
          <a:xfrm>
            <a:off x="6265925" y="2729550"/>
            <a:ext cx="2617800" cy="2306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  <a:defRPr sz="1500"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AutoNum type="alphaLcPeriod"/>
              <a:defRPr sz="900"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AutoNum type="romanLcPeriod"/>
              <a:defRPr sz="800">
                <a:latin typeface="Open Sans"/>
                <a:ea typeface="Open Sans"/>
                <a:cs typeface="Open Sans"/>
                <a:sym typeface="Open Sans"/>
              </a:defRPr>
            </a:lvl3pPr>
            <a:lvl4pPr indent="-2667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AutoNum type="arabicPeriod"/>
              <a:defRPr sz="600">
                <a:latin typeface="Open Sans"/>
                <a:ea typeface="Open Sans"/>
                <a:cs typeface="Open Sans"/>
                <a:sym typeface="Open Sans"/>
              </a:defRPr>
            </a:lvl4pPr>
            <a:lvl5pPr indent="-2667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AutoNum type="alphaLcPeriod"/>
              <a:defRPr sz="600">
                <a:latin typeface="Open Sans"/>
                <a:ea typeface="Open Sans"/>
                <a:cs typeface="Open Sans"/>
                <a:sym typeface="Open Sans"/>
              </a:defRPr>
            </a:lvl5pPr>
            <a:lvl6pPr indent="-29845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romanLcPeriod"/>
              <a:defRPr sz="600"/>
            </a:lvl6pPr>
            <a:lvl7pPr indent="-29845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  <a:defRPr sz="600"/>
            </a:lvl7pPr>
            <a:lvl8pPr indent="-29845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lphaLcPeriod"/>
              <a:defRPr sz="600"/>
            </a:lvl8pPr>
            <a:lvl9pPr indent="-298450" lvl="8" marL="4114800" algn="l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ts val="1100"/>
              <a:buAutoNum type="romanLcPeriod"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25" y="5281"/>
            <a:ext cx="9144000" cy="1388037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9"/>
          <p:cNvSpPr txBox="1"/>
          <p:nvPr>
            <p:ph type="title"/>
          </p:nvPr>
        </p:nvSpPr>
        <p:spPr>
          <a:xfrm>
            <a:off x="607500" y="335391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/>
          <p:nvPr/>
        </p:nvSpPr>
        <p:spPr>
          <a:xfrm>
            <a:off x="804875" y="334571"/>
            <a:ext cx="2660653" cy="862852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10"/>
          <p:cNvSpPr txBox="1"/>
          <p:nvPr>
            <p:ph type="title"/>
          </p:nvPr>
        </p:nvSpPr>
        <p:spPr>
          <a:xfrm>
            <a:off x="804875" y="334575"/>
            <a:ext cx="2660700" cy="684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500"/>
              <a:buFont typeface="Open Sans"/>
              <a:buNone/>
              <a:defRPr b="1" sz="15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1" type="body"/>
          </p:nvPr>
        </p:nvSpPr>
        <p:spPr>
          <a:xfrm>
            <a:off x="3641725" y="334566"/>
            <a:ext cx="4689600" cy="4061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indent="-2984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Char char="?"/>
              <a:defRPr/>
            </a:lvl9pPr>
          </a:lstStyle>
          <a:p/>
        </p:txBody>
      </p:sp>
      <p:sp>
        <p:nvSpPr>
          <p:cNvPr id="62" name="Google Shape;62;p10"/>
          <p:cNvSpPr txBox="1"/>
          <p:nvPr>
            <p:ph idx="2" type="body"/>
          </p:nvPr>
        </p:nvSpPr>
        <p:spPr>
          <a:xfrm>
            <a:off x="804863" y="1695553"/>
            <a:ext cx="2660700" cy="27003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 sz="1100"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/>
          <p:nvPr>
            <p:ph type="title"/>
          </p:nvPr>
        </p:nvSpPr>
        <p:spPr>
          <a:xfrm>
            <a:off x="611046" y="545642"/>
            <a:ext cx="3639600" cy="12129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Font typeface="Open Sans"/>
              <a:buNone/>
              <a:defRPr b="0" sz="18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1"/>
          <p:cNvSpPr/>
          <p:nvPr>
            <p:ph idx="2" type="pic"/>
          </p:nvPr>
        </p:nvSpPr>
        <p:spPr>
          <a:xfrm>
            <a:off x="4573588" y="0"/>
            <a:ext cx="4570500" cy="51435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66" name="Google Shape;66;p11"/>
          <p:cNvSpPr txBox="1"/>
          <p:nvPr>
            <p:ph idx="1" type="body"/>
          </p:nvPr>
        </p:nvSpPr>
        <p:spPr>
          <a:xfrm>
            <a:off x="611046" y="1758513"/>
            <a:ext cx="3639600" cy="26373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900"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Panorâmica com Legenda">
  <p:cSld name="Foto Panorâmica com Legenda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/>
          <p:nvPr>
            <p:ph type="title"/>
          </p:nvPr>
        </p:nvSpPr>
        <p:spPr>
          <a:xfrm>
            <a:off x="607500" y="3600450"/>
            <a:ext cx="7921200" cy="425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Font typeface="Open Sans"/>
              <a:buNone/>
              <a:defRPr b="0" sz="18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2"/>
          <p:cNvSpPr/>
          <p:nvPr>
            <p:ph idx="2" type="pic"/>
          </p:nvPr>
        </p:nvSpPr>
        <p:spPr>
          <a:xfrm>
            <a:off x="0" y="0"/>
            <a:ext cx="9144000" cy="3600600"/>
          </a:xfrm>
          <a:prstGeom prst="rect">
            <a:avLst/>
          </a:prstGeom>
          <a:noFill/>
          <a:ln cap="rnd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607500" y="4025504"/>
            <a:ext cx="7921200" cy="370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900"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ção com Legenda">
  <p:cSld name="Citação com Legenda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/>
          <p:nvPr/>
        </p:nvSpPr>
        <p:spPr>
          <a:xfrm>
            <a:off x="473773" y="811092"/>
            <a:ext cx="4749309" cy="2429389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13"/>
          <p:cNvSpPr txBox="1"/>
          <p:nvPr>
            <p:ph type="title"/>
          </p:nvPr>
        </p:nvSpPr>
        <p:spPr>
          <a:xfrm>
            <a:off x="638239" y="928876"/>
            <a:ext cx="4420500" cy="1984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Open Sans"/>
              <a:buNone/>
              <a:defRPr b="1" sz="3200" cap="none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" type="body"/>
          </p:nvPr>
        </p:nvSpPr>
        <p:spPr>
          <a:xfrm>
            <a:off x="639900" y="3332730"/>
            <a:ext cx="4418700" cy="16089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100"/>
              <a:buNone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" name="Google Shape;75;p13"/>
          <p:cNvSpPr txBox="1"/>
          <p:nvPr>
            <p:ph idx="2" type="body"/>
          </p:nvPr>
        </p:nvSpPr>
        <p:spPr>
          <a:xfrm>
            <a:off x="5680982" y="811092"/>
            <a:ext cx="2857500" cy="3056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Char char="?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tão de Nome">
  <p:cSld name="Cartão de Nome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/>
          <p:nvPr/>
        </p:nvSpPr>
        <p:spPr>
          <a:xfrm>
            <a:off x="855663" y="1714939"/>
            <a:ext cx="3671335" cy="1877979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14"/>
          <p:cNvSpPr txBox="1"/>
          <p:nvPr>
            <p:ph type="title"/>
          </p:nvPr>
        </p:nvSpPr>
        <p:spPr>
          <a:xfrm>
            <a:off x="1017817" y="1826968"/>
            <a:ext cx="3286800" cy="1505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Open Sans"/>
              <a:buNone/>
              <a:defRPr sz="24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" type="body"/>
          </p:nvPr>
        </p:nvSpPr>
        <p:spPr>
          <a:xfrm>
            <a:off x="4617000" y="1714500"/>
            <a:ext cx="3660300" cy="1721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Char char="?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>
            <a:off x="0" y="0"/>
            <a:ext cx="9144000" cy="1639491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15"/>
          <p:cNvSpPr txBox="1"/>
          <p:nvPr>
            <p:ph type="title"/>
          </p:nvPr>
        </p:nvSpPr>
        <p:spPr>
          <a:xfrm>
            <a:off x="607500" y="335391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 rot="5400000">
            <a:off x="3190864" y="-944999"/>
            <a:ext cx="2755800" cy="79224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indent="-2984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Char char="?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/>
          <p:nvPr/>
        </p:nvSpPr>
        <p:spPr>
          <a:xfrm>
            <a:off x="5752238" y="334567"/>
            <a:ext cx="3391764" cy="4061221"/>
          </a:xfrm>
          <a:custGeom>
            <a:rect b="b" l="l" r="r" t="t"/>
            <a:pathLst>
              <a:path extrusionOk="0" h="4320" w="2879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6"/>
          <p:cNvSpPr txBox="1"/>
          <p:nvPr>
            <p:ph type="title"/>
          </p:nvPr>
        </p:nvSpPr>
        <p:spPr>
          <a:xfrm rot="5400000">
            <a:off x="5147648" y="1429628"/>
            <a:ext cx="3851100" cy="1871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 rot="5400000">
            <a:off x="1056256" y="-114233"/>
            <a:ext cx="4061100" cy="4958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indent="-2984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Char char="?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235500" y="140225"/>
            <a:ext cx="8520600" cy="572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159300" y="923875"/>
            <a:ext cx="8821500" cy="3852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Font typeface="EB Garamond"/>
              <a:buChar char="●"/>
              <a:defRPr sz="2100">
                <a:latin typeface="EB Garamond"/>
                <a:ea typeface="EB Garamond"/>
                <a:cs typeface="EB Garamond"/>
                <a:sym typeface="EB Garamond"/>
              </a:defRPr>
            </a:lvl1pPr>
            <a:lvl2pPr indent="-34925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00"/>
              <a:buFont typeface="EB Garamond"/>
              <a:buChar char="○"/>
              <a:defRPr sz="1900">
                <a:latin typeface="EB Garamond"/>
                <a:ea typeface="EB Garamond"/>
                <a:cs typeface="EB Garamond"/>
                <a:sym typeface="EB Garamond"/>
              </a:defRPr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EB Garamond"/>
              <a:buChar char="■"/>
              <a:defRPr sz="1800">
                <a:latin typeface="EB Garamond"/>
                <a:ea typeface="EB Garamond"/>
                <a:cs typeface="EB Garamond"/>
                <a:sym typeface="EB Garamond"/>
              </a:defRPr>
            </a:lvl3pPr>
            <a:lvl4pPr indent="-3302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EB Garamond"/>
              <a:buChar char="●"/>
              <a:defRPr sz="1600">
                <a:latin typeface="EB Garamond"/>
                <a:ea typeface="EB Garamond"/>
                <a:cs typeface="EB Garamond"/>
                <a:sym typeface="EB Garamond"/>
              </a:defRPr>
            </a:lvl4pPr>
            <a:lvl5pPr indent="-3302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EB Garamond"/>
              <a:buChar char="○"/>
              <a:defRPr sz="1600">
                <a:latin typeface="EB Garamond"/>
                <a:ea typeface="EB Garamond"/>
                <a:cs typeface="EB Garamond"/>
                <a:sym typeface="EB Garamond"/>
              </a:defRPr>
            </a:lvl5pPr>
            <a:lvl6pPr indent="-3302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EB Garamond"/>
              <a:buChar char="■"/>
              <a:defRPr sz="1600">
                <a:latin typeface="EB Garamond"/>
                <a:ea typeface="EB Garamond"/>
                <a:cs typeface="EB Garamond"/>
                <a:sym typeface="EB Garamond"/>
              </a:defRPr>
            </a:lvl6pPr>
            <a:lvl7pPr indent="-3302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EB Garamond"/>
              <a:buChar char="●"/>
              <a:defRPr sz="1600">
                <a:latin typeface="EB Garamond"/>
                <a:ea typeface="EB Garamond"/>
                <a:cs typeface="EB Garamond"/>
                <a:sym typeface="EB Garamond"/>
              </a:defRPr>
            </a:lvl7pPr>
            <a:lvl8pPr indent="-3302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EB Garamond"/>
              <a:buChar char="○"/>
              <a:defRPr sz="1600">
                <a:latin typeface="EB Garamond"/>
                <a:ea typeface="EB Garamond"/>
                <a:cs typeface="EB Garamond"/>
                <a:sym typeface="EB Garamond"/>
              </a:defRPr>
            </a:lvl8pPr>
            <a:lvl9pPr indent="-3302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600"/>
              <a:buFont typeface="EB Garamond"/>
              <a:buChar char="■"/>
              <a:defRPr sz="1600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/>
        </p:txBody>
      </p:sp>
      <p:sp>
        <p:nvSpPr>
          <p:cNvPr id="93" name="Google Shape;93;p18"/>
          <p:cNvSpPr/>
          <p:nvPr/>
        </p:nvSpPr>
        <p:spPr>
          <a:xfrm>
            <a:off x="0" y="5013150"/>
            <a:ext cx="9144000" cy="130200"/>
          </a:xfrm>
          <a:prstGeom prst="rect">
            <a:avLst/>
          </a:prstGeom>
          <a:solidFill>
            <a:srgbClr val="359E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?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200"/>
              <a:buChar char="?"/>
              <a:defRPr sz="1200"/>
            </a:lvl9pPr>
          </a:lstStyle>
          <a:p/>
        </p:txBody>
      </p:sp>
      <p:sp>
        <p:nvSpPr>
          <p:cNvPr id="97" name="Google Shape;9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8100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">
  <p:cSld name="Custom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/>
          <p:nvPr/>
        </p:nvSpPr>
        <p:spPr>
          <a:xfrm>
            <a:off x="0" y="5013150"/>
            <a:ext cx="9144000" cy="130200"/>
          </a:xfrm>
          <a:prstGeom prst="rect">
            <a:avLst/>
          </a:prstGeom>
          <a:solidFill>
            <a:srgbClr val="359E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07500" y="335391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Century Gothic"/>
              <a:buNone/>
              <a:defRPr b="1" i="0" sz="3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07500" y="1638301"/>
            <a:ext cx="7922400" cy="27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🞆"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8575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🞆"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8575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🞆"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8575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🞆"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8575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🞆"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8575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🞆"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8575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SzPts val="900"/>
              <a:buFont typeface="Noto Sans Symbols"/>
              <a:buChar char="🞆"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1" type="ftr"/>
          </p:nvPr>
        </p:nvSpPr>
        <p:spPr>
          <a:xfrm>
            <a:off x="338635" y="4531022"/>
            <a:ext cx="6483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7000970" y="4531022"/>
            <a:ext cx="1007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008748" y="4436916"/>
            <a:ext cx="7965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b" bIns="8100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hyperlink" Target="https://www.tensorflow.org/api_docs/python/tf/image/resize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olab.research.google.com/drive/1-M1Ymswsy621HsoE3obo-EeksWAEMX1D#scrollTo=2CsLSnBbrV-c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gif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gif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gif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gif"/><Relationship Id="rId4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gif"/><Relationship Id="rId4" Type="http://schemas.openxmlformats.org/officeDocument/2006/relationships/image" Target="../media/image12.png"/><Relationship Id="rId5" Type="http://schemas.openxmlformats.org/officeDocument/2006/relationships/image" Target="../media/image2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gif"/><Relationship Id="rId4" Type="http://schemas.openxmlformats.org/officeDocument/2006/relationships/image" Target="../media/image12.png"/><Relationship Id="rId5" Type="http://schemas.openxmlformats.org/officeDocument/2006/relationships/image" Target="../media/image21.png"/><Relationship Id="rId6" Type="http://schemas.openxmlformats.org/officeDocument/2006/relationships/image" Target="../media/image2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gif"/><Relationship Id="rId4" Type="http://schemas.openxmlformats.org/officeDocument/2006/relationships/image" Target="../media/image12.png"/><Relationship Id="rId5" Type="http://schemas.openxmlformats.org/officeDocument/2006/relationships/image" Target="../media/image21.png"/><Relationship Id="rId6" Type="http://schemas.openxmlformats.org/officeDocument/2006/relationships/image" Target="../media/image20.png"/><Relationship Id="rId7" Type="http://schemas.openxmlformats.org/officeDocument/2006/relationships/image" Target="../media/image2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Relationship Id="rId4" Type="http://schemas.openxmlformats.org/officeDocument/2006/relationships/image" Target="../media/image13.gif"/><Relationship Id="rId5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Relationship Id="rId4" Type="http://schemas.openxmlformats.org/officeDocument/2006/relationships/image" Target="../media/image13.gif"/><Relationship Id="rId5" Type="http://schemas.openxmlformats.org/officeDocument/2006/relationships/image" Target="../media/image19.png"/><Relationship Id="rId6" Type="http://schemas.openxmlformats.org/officeDocument/2006/relationships/image" Target="../media/image1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Relationship Id="rId4" Type="http://schemas.openxmlformats.org/officeDocument/2006/relationships/image" Target="../media/image13.gif"/><Relationship Id="rId5" Type="http://schemas.openxmlformats.org/officeDocument/2006/relationships/image" Target="../media/image19.png"/><Relationship Id="rId6" Type="http://schemas.openxmlformats.org/officeDocument/2006/relationships/image" Target="../media/image18.png"/><Relationship Id="rId7" Type="http://schemas.openxmlformats.org/officeDocument/2006/relationships/image" Target="../media/image2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colab.research.google.com/drive/1Vy2pnqTb0FVtUelAlNJTJ1I47JSgdDFg#scrollTo=PMXJ_s4C1ahN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8.png"/><Relationship Id="rId4" Type="http://schemas.openxmlformats.org/officeDocument/2006/relationships/image" Target="../media/image23.png"/><Relationship Id="rId5" Type="http://schemas.openxmlformats.org/officeDocument/2006/relationships/image" Target="../media/image2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0.png"/><Relationship Id="rId4" Type="http://schemas.openxmlformats.org/officeDocument/2006/relationships/image" Target="../media/image26.png"/><Relationship Id="rId5" Type="http://schemas.openxmlformats.org/officeDocument/2006/relationships/image" Target="../media/image2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png"/><Relationship Id="rId4" Type="http://schemas.openxmlformats.org/officeDocument/2006/relationships/image" Target="../media/image26.png"/><Relationship Id="rId5" Type="http://schemas.openxmlformats.org/officeDocument/2006/relationships/image" Target="../media/image2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colab.research.google.com/drive/1jLdvZWLAswZgbBAsvCXAVz2_Sb4rg848#scrollTo=9E23IvkI2_aW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huggingface.co/learn/computer-vision-course/unit2/cnns/vgg" TargetMode="External"/><Relationship Id="rId4" Type="http://schemas.openxmlformats.org/officeDocument/2006/relationships/hyperlink" Target="https://colab.research.google.com/github/arnaldojr/DisruptiveArchitectures/blob/master/material/aulas/IA/lab09/transferlearning.ipynb#scrollTo=d8ef2ae1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docs.ultralytics.com/yolov5/tutorials/transfer_learning_with_frozen_layers/#freeze-backbon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ctrTitle"/>
          </p:nvPr>
        </p:nvSpPr>
        <p:spPr>
          <a:xfrm>
            <a:off x="591985" y="1086860"/>
            <a:ext cx="7929000" cy="22284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Conceitos e prática com CNN</a:t>
            </a:r>
            <a:endParaRPr sz="3900"/>
          </a:p>
        </p:txBody>
      </p:sp>
      <p:sp>
        <p:nvSpPr>
          <p:cNvPr id="105" name="Google Shape;105;p21"/>
          <p:cNvSpPr txBox="1"/>
          <p:nvPr>
            <p:ph idx="1" type="subTitle"/>
          </p:nvPr>
        </p:nvSpPr>
        <p:spPr>
          <a:xfrm>
            <a:off x="607501" y="3960635"/>
            <a:ext cx="79290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/>
              <a:t>Prof. Caio Hamamura</a:t>
            </a:r>
            <a:endParaRPr/>
          </a:p>
        </p:txBody>
      </p:sp>
      <p:sp>
        <p:nvSpPr>
          <p:cNvPr id="106" name="Google Shape;106;p21"/>
          <p:cNvSpPr txBox="1"/>
          <p:nvPr/>
        </p:nvSpPr>
        <p:spPr>
          <a:xfrm>
            <a:off x="7486374" y="170683"/>
            <a:ext cx="137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Aula 05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7" name="Google Shape;1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150" y="717675"/>
            <a:ext cx="4355851" cy="98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Contexto</a:t>
            </a:r>
            <a:endParaRPr/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614025" y="1369625"/>
            <a:ext cx="7929000" cy="3509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Vimos o que são filtros de imagens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Eles são o princípio de funcionamento das redes neurais convolucionais (CNN) 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Vamos aprofundar um pouco para ver detalhes das CNN: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Tratamento da entrada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Calculando tamanho das camadas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607500" y="2213547"/>
            <a:ext cx="7921200" cy="1101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dados de entrada na CNN</a:t>
            </a:r>
            <a:endParaRPr/>
          </a:p>
        </p:txBody>
      </p:sp>
      <p:sp>
        <p:nvSpPr>
          <p:cNvPr id="119" name="Google Shape;119;p23"/>
          <p:cNvSpPr txBox="1"/>
          <p:nvPr>
            <p:ph idx="1" type="body"/>
          </p:nvPr>
        </p:nvSpPr>
        <p:spPr>
          <a:xfrm>
            <a:off x="607500" y="3960901"/>
            <a:ext cx="7921200" cy="325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Como as CNN lidam com imagens de tamanho diferentes?</a:t>
            </a:r>
            <a:endParaRPr/>
          </a:p>
        </p:txBody>
      </p:sp>
      <p:sp>
        <p:nvSpPr>
          <p:cNvPr id="125" name="Google Shape;125;p24"/>
          <p:cNvSpPr txBox="1"/>
          <p:nvPr>
            <p:ph idx="1" type="body"/>
          </p:nvPr>
        </p:nvSpPr>
        <p:spPr>
          <a:xfrm>
            <a:off x="614025" y="1369625"/>
            <a:ext cx="7929000" cy="3657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Sempre precisam padronizar as entradas para um tamanho fixo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Exemplo: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AlexNet: 227 x 227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VGG: 227 x 227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ResNet-50: 227 x 227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Yolov8: 640 x 640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Ajustando as imagens:</a:t>
            </a:r>
            <a:endParaRPr/>
          </a:p>
        </p:txBody>
      </p:sp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599875" y="1338600"/>
            <a:ext cx="7929000" cy="363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O próprio tensorflow e pytorch possuem funções para redimensionar as imagens</a:t>
            </a:r>
            <a:endParaRPr/>
          </a:p>
        </p:txBody>
      </p:sp>
      <p:sp>
        <p:nvSpPr>
          <p:cNvPr id="132" name="Google Shape;132;p25"/>
          <p:cNvSpPr txBox="1"/>
          <p:nvPr/>
        </p:nvSpPr>
        <p:spPr>
          <a:xfrm>
            <a:off x="4913475" y="2746325"/>
            <a:ext cx="3832500" cy="14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en" sz="12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torchvision </a:t>
            </a:r>
            <a:r>
              <a:rPr lang="en" sz="125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n" sz="12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transforms</a:t>
            </a:r>
            <a:endParaRPr sz="125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6A9955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# Resize transformation</a:t>
            </a:r>
            <a:endParaRPr sz="1250">
              <a:solidFill>
                <a:srgbClr val="6A9955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transform</a:t>
            </a:r>
            <a:r>
              <a:rPr lang="en" sz="12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5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2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transforms.Resize((</a:t>
            </a:r>
            <a:r>
              <a:rPr lang="en" sz="125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244</a:t>
            </a:r>
            <a:r>
              <a:rPr lang="en" sz="12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25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244</a:t>
            </a:r>
            <a:r>
              <a:rPr lang="en" sz="12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))</a:t>
            </a:r>
            <a:endParaRPr sz="1250">
              <a:solidFill>
                <a:srgbClr val="9CDCFE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resized_image</a:t>
            </a:r>
            <a:r>
              <a:rPr lang="en" sz="12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5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2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5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transform</a:t>
            </a:r>
            <a:r>
              <a:rPr lang="en" sz="12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(image)</a:t>
            </a:r>
            <a:endParaRPr sz="125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" name="Google Shape;133;p25"/>
          <p:cNvSpPr txBox="1"/>
          <p:nvPr/>
        </p:nvSpPr>
        <p:spPr>
          <a:xfrm>
            <a:off x="139625" y="2816150"/>
            <a:ext cx="4670400" cy="11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n" sz="12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tensorflow </a:t>
            </a:r>
            <a:r>
              <a:rPr lang="en" sz="125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en" sz="12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5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tf</a:t>
            </a:r>
            <a:endParaRPr sz="1250">
              <a:solidFill>
                <a:srgbClr val="4EC9B0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6A9955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# Resize image to target size</a:t>
            </a:r>
            <a:endParaRPr sz="1250">
              <a:solidFill>
                <a:srgbClr val="6A9955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resized_image</a:t>
            </a:r>
            <a:r>
              <a:rPr lang="en" sz="12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5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2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5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tf</a:t>
            </a:r>
            <a:r>
              <a:rPr lang="en" sz="12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.image.resize(image, [</a:t>
            </a:r>
            <a:r>
              <a:rPr lang="en" sz="125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244</a:t>
            </a:r>
            <a:r>
              <a:rPr lang="en" sz="12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25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244</a:t>
            </a:r>
            <a:r>
              <a:rPr lang="en" sz="125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25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Métodos de ajuste de imagem</a:t>
            </a:r>
            <a:endParaRPr/>
          </a:p>
        </p:txBody>
      </p:sp>
      <p:pic>
        <p:nvPicPr>
          <p:cNvPr id="139" name="Google Shape;13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1975" y="1071476"/>
            <a:ext cx="6623546" cy="3927373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6"/>
          <p:cNvSpPr txBox="1"/>
          <p:nvPr/>
        </p:nvSpPr>
        <p:spPr>
          <a:xfrm>
            <a:off x="2479850" y="4662096"/>
            <a:ext cx="747600" cy="35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rescale</a:t>
            </a:r>
            <a:endParaRPr b="1"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Métodos de ajuste de imagem</a:t>
            </a:r>
            <a:endParaRPr/>
          </a:p>
        </p:txBody>
      </p:sp>
      <p:pic>
        <p:nvPicPr>
          <p:cNvPr id="146" name="Google Shape;14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1975" y="1071476"/>
            <a:ext cx="6623546" cy="39273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7" name="Google Shape;147;p27"/>
          <p:cNvCxnSpPr/>
          <p:nvPr/>
        </p:nvCxnSpPr>
        <p:spPr>
          <a:xfrm>
            <a:off x="1667975" y="2474775"/>
            <a:ext cx="892200" cy="12024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8" name="Google Shape;148;p27"/>
          <p:cNvSpPr txBox="1"/>
          <p:nvPr/>
        </p:nvSpPr>
        <p:spPr>
          <a:xfrm>
            <a:off x="2479850" y="4662096"/>
            <a:ext cx="747600" cy="35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rescale</a:t>
            </a:r>
            <a:endParaRPr b="1"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3197" y="1288554"/>
            <a:ext cx="6354150" cy="3664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2743200" cy="16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8"/>
          <p:cNvSpPr txBox="1"/>
          <p:nvPr/>
        </p:nvSpPr>
        <p:spPr>
          <a:xfrm>
            <a:off x="3449725" y="202000"/>
            <a:ext cx="545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https://www.tensorflow.org/api_docs/python/tf/image/resize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/>
          <p:nvPr/>
        </p:nvSpPr>
        <p:spPr>
          <a:xfrm>
            <a:off x="795500" y="980750"/>
            <a:ext cx="80118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chemeClr val="hlink"/>
                </a:solidFill>
                <a:hlinkClick r:id="rId3"/>
              </a:rPr>
              <a:t>https://colab.research.google.com/drive/1-M1Ymswsy621HsoE3obo-EeksWAEMX1D#scrollTo=2CsLSnBbrV-c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Tipos de camadas</a:t>
            </a:r>
            <a:endParaRPr/>
          </a:p>
        </p:txBody>
      </p:sp>
      <p:sp>
        <p:nvSpPr>
          <p:cNvPr id="166" name="Google Shape;166;p30"/>
          <p:cNvSpPr txBox="1"/>
          <p:nvPr>
            <p:ph idx="1" type="body"/>
          </p:nvPr>
        </p:nvSpPr>
        <p:spPr>
          <a:xfrm>
            <a:off x="614025" y="1369625"/>
            <a:ext cx="7929000" cy="378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AutoNum type="arabicPeriod"/>
            </a:pPr>
            <a:r>
              <a:rPr lang="en"/>
              <a:t>Convolução: filtros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AutoNum type="arabicPeriod"/>
            </a:pPr>
            <a:r>
              <a:rPr lang="en"/>
              <a:t>Pooling/Agrupamento: agrupa pixels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AutoNum type="arabicPeriod"/>
            </a:pPr>
            <a:r>
              <a:rPr lang="en"/>
              <a:t>Densa: todos conectados com todos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Convolução</a:t>
            </a:r>
            <a:endParaRPr/>
          </a:p>
        </p:txBody>
      </p:sp>
      <p:sp>
        <p:nvSpPr>
          <p:cNvPr id="172" name="Google Shape;172;p31"/>
          <p:cNvSpPr txBox="1"/>
          <p:nvPr/>
        </p:nvSpPr>
        <p:spPr>
          <a:xfrm>
            <a:off x="263775" y="4476325"/>
            <a:ext cx="840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Os pesos dos filtros são aprendidos por backpropagation!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73" name="Google Shape;17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4650" y="1172351"/>
            <a:ext cx="4465794" cy="3260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2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Detalhe Convolução</a:t>
            </a:r>
            <a:endParaRPr/>
          </a:p>
        </p:txBody>
      </p:sp>
      <p:sp>
        <p:nvSpPr>
          <p:cNvPr id="179" name="Google Shape;179;p32"/>
          <p:cNvSpPr txBox="1"/>
          <p:nvPr/>
        </p:nvSpPr>
        <p:spPr>
          <a:xfrm>
            <a:off x="263775" y="4476325"/>
            <a:ext cx="8401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Normalmente falamos em kernel apenas duas dimensões, mas a entrada tem 3 (RGB normalmente)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80" name="Google Shape;180;p32"/>
          <p:cNvPicPr preferRelativeResize="0"/>
          <p:nvPr/>
        </p:nvPicPr>
        <p:blipFill rotWithShape="1">
          <a:blip r:embed="rId3">
            <a:alphaModFix/>
          </a:blip>
          <a:srcRect b="35513" l="0" r="0" t="0"/>
          <a:stretch/>
        </p:blipFill>
        <p:spPr>
          <a:xfrm>
            <a:off x="1717375" y="1515150"/>
            <a:ext cx="5333176" cy="251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3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Pooling/Agrupamento</a:t>
            </a:r>
            <a:endParaRPr/>
          </a:p>
        </p:txBody>
      </p:sp>
      <p:pic>
        <p:nvPicPr>
          <p:cNvPr id="186" name="Google Shape;18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10251"/>
            <a:ext cx="8839201" cy="3154132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3"/>
          <p:cNvSpPr txBox="1"/>
          <p:nvPr/>
        </p:nvSpPr>
        <p:spPr>
          <a:xfrm>
            <a:off x="263775" y="4476325"/>
            <a:ext cx="840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Não aprende é fixo: m</a:t>
            </a: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ecanismo para reduzir dimensão e ignorar ruído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4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Densa</a:t>
            </a:r>
            <a:endParaRPr/>
          </a:p>
        </p:txBody>
      </p:sp>
      <p:pic>
        <p:nvPicPr>
          <p:cNvPr id="193" name="Google Shape;19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8500" y="1118026"/>
            <a:ext cx="6131627" cy="3927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5"/>
          <p:cNvSpPr txBox="1"/>
          <p:nvPr>
            <p:ph type="title"/>
          </p:nvPr>
        </p:nvSpPr>
        <p:spPr>
          <a:xfrm>
            <a:off x="607500" y="2213547"/>
            <a:ext cx="7921200" cy="1101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Camadas convolucionais: alguns detalhes</a:t>
            </a:r>
            <a:endParaRPr/>
          </a:p>
        </p:txBody>
      </p:sp>
      <p:sp>
        <p:nvSpPr>
          <p:cNvPr id="199" name="Google Shape;199;p35"/>
          <p:cNvSpPr txBox="1"/>
          <p:nvPr>
            <p:ph idx="1" type="body"/>
          </p:nvPr>
        </p:nvSpPr>
        <p:spPr>
          <a:xfrm>
            <a:off x="607500" y="3960901"/>
            <a:ext cx="7921200" cy="325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0" name="Google Shape;20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529150" cy="184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6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canto pode ser calculado usando padding (deslocamento)</a:t>
            </a:r>
            <a:endParaRPr/>
          </a:p>
        </p:txBody>
      </p:sp>
      <p:pic>
        <p:nvPicPr>
          <p:cNvPr id="206" name="Google Shape;20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5638" y="1528150"/>
            <a:ext cx="6152726" cy="307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7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deslizamento pode ser maior que pixel a pixel</a:t>
            </a:r>
            <a:endParaRPr/>
          </a:p>
        </p:txBody>
      </p:sp>
      <p:pic>
        <p:nvPicPr>
          <p:cNvPr id="212" name="Google Shape;21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2550" y="1503700"/>
            <a:ext cx="5350125" cy="343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8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tamanho do kernel pode ser maior que 3 x 3</a:t>
            </a:r>
            <a:endParaRPr/>
          </a:p>
        </p:txBody>
      </p:sp>
      <p:pic>
        <p:nvPicPr>
          <p:cNvPr id="218" name="Google Shape;218;p38"/>
          <p:cNvPicPr preferRelativeResize="0"/>
          <p:nvPr/>
        </p:nvPicPr>
        <p:blipFill rotWithShape="1">
          <a:blip r:embed="rId3">
            <a:alphaModFix/>
          </a:blip>
          <a:srcRect b="14281" l="28269" r="20768" t="0"/>
          <a:stretch/>
        </p:blipFill>
        <p:spPr>
          <a:xfrm>
            <a:off x="359025" y="1829825"/>
            <a:ext cx="1480525" cy="253922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8"/>
          <p:cNvSpPr txBox="1"/>
          <p:nvPr/>
        </p:nvSpPr>
        <p:spPr>
          <a:xfrm>
            <a:off x="2246650" y="1811825"/>
            <a:ext cx="41400" cy="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0" name="Google Shape;220;p38"/>
          <p:cNvSpPr txBox="1"/>
          <p:nvPr>
            <p:ph idx="1" type="body"/>
          </p:nvPr>
        </p:nvSpPr>
        <p:spPr>
          <a:xfrm>
            <a:off x="2246650" y="1369625"/>
            <a:ext cx="6296400" cy="378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Kernel maior consegue analisar padrões mais amplos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Kernel menor consegue analisar padrões repetitivos menores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9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Calculando o tamanho da saída</a:t>
            </a:r>
            <a:endParaRPr/>
          </a:p>
        </p:txBody>
      </p:sp>
      <p:sp>
        <p:nvSpPr>
          <p:cNvPr id="226" name="Google Shape;226;p39"/>
          <p:cNvSpPr txBox="1"/>
          <p:nvPr>
            <p:ph idx="1" type="body"/>
          </p:nvPr>
        </p:nvSpPr>
        <p:spPr>
          <a:xfrm>
            <a:off x="614025" y="1369625"/>
            <a:ext cx="7929000" cy="378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             : tamanho da entrada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           : padding (borda adicionada?)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          : tamanho do kernel (filtro)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          : stride (deslizamento a cada filtro)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7" name="Google Shape;227;p39"/>
          <p:cNvPicPr preferRelativeResize="0"/>
          <p:nvPr/>
        </p:nvPicPr>
        <p:blipFill rotWithShape="1">
          <a:blip r:embed="rId3">
            <a:alphaModFix/>
          </a:blip>
          <a:srcRect b="28404" l="22614" r="22619" t="28409"/>
          <a:stretch/>
        </p:blipFill>
        <p:spPr>
          <a:xfrm>
            <a:off x="2459250" y="3325375"/>
            <a:ext cx="4225501" cy="115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9"/>
          <p:cNvPicPr preferRelativeResize="0"/>
          <p:nvPr/>
        </p:nvPicPr>
        <p:blipFill rotWithShape="1">
          <a:blip r:embed="rId3">
            <a:alphaModFix/>
          </a:blip>
          <a:srcRect b="46614" l="45477" r="46982" t="40922"/>
          <a:stretch/>
        </p:blipFill>
        <p:spPr>
          <a:xfrm>
            <a:off x="737000" y="1442950"/>
            <a:ext cx="581849" cy="3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9"/>
          <p:cNvPicPr preferRelativeResize="0"/>
          <p:nvPr/>
        </p:nvPicPr>
        <p:blipFill rotWithShape="1">
          <a:blip r:embed="rId3">
            <a:alphaModFix/>
          </a:blip>
          <a:srcRect b="47326" l="55774" r="38494" t="38844"/>
          <a:stretch/>
        </p:blipFill>
        <p:spPr>
          <a:xfrm>
            <a:off x="806825" y="1871884"/>
            <a:ext cx="442199" cy="37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39"/>
          <p:cNvPicPr preferRelativeResize="0"/>
          <p:nvPr/>
        </p:nvPicPr>
        <p:blipFill rotWithShape="1">
          <a:blip r:embed="rId3">
            <a:alphaModFix/>
          </a:blip>
          <a:srcRect b="49644" l="64397" r="32989" t="39135"/>
          <a:stretch/>
        </p:blipFill>
        <p:spPr>
          <a:xfrm>
            <a:off x="930950" y="2337350"/>
            <a:ext cx="201700" cy="30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9"/>
          <p:cNvPicPr preferRelativeResize="0"/>
          <p:nvPr/>
        </p:nvPicPr>
        <p:blipFill rotWithShape="1">
          <a:blip r:embed="rId3">
            <a:alphaModFix/>
          </a:blip>
          <a:srcRect b="30005" l="55407" r="41979" t="58774"/>
          <a:stretch/>
        </p:blipFill>
        <p:spPr>
          <a:xfrm>
            <a:off x="930950" y="2764057"/>
            <a:ext cx="201700" cy="30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375" y="54250"/>
            <a:ext cx="4252474" cy="273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40"/>
          <p:cNvPicPr preferRelativeResize="0"/>
          <p:nvPr/>
        </p:nvPicPr>
        <p:blipFill rotWithShape="1">
          <a:blip r:embed="rId4">
            <a:alphaModFix/>
          </a:blip>
          <a:srcRect b="28404" l="22614" r="22619" t="28409"/>
          <a:stretch/>
        </p:blipFill>
        <p:spPr>
          <a:xfrm>
            <a:off x="254000" y="3459975"/>
            <a:ext cx="4225501" cy="115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375" y="54250"/>
            <a:ext cx="4252474" cy="273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41"/>
          <p:cNvPicPr preferRelativeResize="0"/>
          <p:nvPr/>
        </p:nvPicPr>
        <p:blipFill rotWithShape="1">
          <a:blip r:embed="rId4">
            <a:alphaModFix/>
          </a:blip>
          <a:srcRect b="28404" l="22614" r="22619" t="28409"/>
          <a:stretch/>
        </p:blipFill>
        <p:spPr>
          <a:xfrm>
            <a:off x="254000" y="3459975"/>
            <a:ext cx="4225501" cy="115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1" y="411225"/>
            <a:ext cx="4359699" cy="9688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375" y="54250"/>
            <a:ext cx="4252474" cy="273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42"/>
          <p:cNvPicPr preferRelativeResize="0"/>
          <p:nvPr/>
        </p:nvPicPr>
        <p:blipFill rotWithShape="1">
          <a:blip r:embed="rId4">
            <a:alphaModFix/>
          </a:blip>
          <a:srcRect b="28404" l="22614" r="22619" t="28409"/>
          <a:stretch/>
        </p:blipFill>
        <p:spPr>
          <a:xfrm>
            <a:off x="254000" y="3459975"/>
            <a:ext cx="4225501" cy="115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1" y="411225"/>
            <a:ext cx="4359699" cy="968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11907" y="1629600"/>
            <a:ext cx="1885950" cy="102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375" y="54250"/>
            <a:ext cx="4252474" cy="273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43"/>
          <p:cNvPicPr preferRelativeResize="0"/>
          <p:nvPr/>
        </p:nvPicPr>
        <p:blipFill rotWithShape="1">
          <a:blip r:embed="rId4">
            <a:alphaModFix/>
          </a:blip>
          <a:srcRect b="28404" l="22614" r="22619" t="28409"/>
          <a:stretch/>
        </p:blipFill>
        <p:spPr>
          <a:xfrm>
            <a:off x="254000" y="3459975"/>
            <a:ext cx="4225501" cy="115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1" y="411225"/>
            <a:ext cx="4359699" cy="968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11907" y="1629600"/>
            <a:ext cx="188595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4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63694" y="3090250"/>
            <a:ext cx="790575" cy="50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44"/>
          <p:cNvPicPr preferRelativeResize="0"/>
          <p:nvPr/>
        </p:nvPicPr>
        <p:blipFill rotWithShape="1">
          <a:blip r:embed="rId3">
            <a:alphaModFix/>
          </a:blip>
          <a:srcRect b="28404" l="22614" r="22619" t="28409"/>
          <a:stretch/>
        </p:blipFill>
        <p:spPr>
          <a:xfrm>
            <a:off x="254000" y="3459975"/>
            <a:ext cx="4225501" cy="115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97" y="355100"/>
            <a:ext cx="4433300" cy="2216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31901" y="297350"/>
            <a:ext cx="4359699" cy="854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45"/>
          <p:cNvPicPr preferRelativeResize="0"/>
          <p:nvPr/>
        </p:nvPicPr>
        <p:blipFill rotWithShape="1">
          <a:blip r:embed="rId3">
            <a:alphaModFix/>
          </a:blip>
          <a:srcRect b="28404" l="22614" r="22619" t="28409"/>
          <a:stretch/>
        </p:blipFill>
        <p:spPr>
          <a:xfrm>
            <a:off x="254000" y="3459975"/>
            <a:ext cx="4225501" cy="115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97" y="355100"/>
            <a:ext cx="4433300" cy="2216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31901" y="297350"/>
            <a:ext cx="4359699" cy="854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70526" y="1428818"/>
            <a:ext cx="1571625" cy="85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46"/>
          <p:cNvPicPr preferRelativeResize="0"/>
          <p:nvPr/>
        </p:nvPicPr>
        <p:blipFill rotWithShape="1">
          <a:blip r:embed="rId3">
            <a:alphaModFix/>
          </a:blip>
          <a:srcRect b="28404" l="22614" r="22619" t="28409"/>
          <a:stretch/>
        </p:blipFill>
        <p:spPr>
          <a:xfrm>
            <a:off x="254000" y="3459975"/>
            <a:ext cx="4225501" cy="115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97" y="355100"/>
            <a:ext cx="4433300" cy="2216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31901" y="297350"/>
            <a:ext cx="4359699" cy="854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70526" y="1428818"/>
            <a:ext cx="15716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4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70526" y="2987193"/>
            <a:ext cx="657225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7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neurais CNN com PyTorch</a:t>
            </a:r>
            <a:endParaRPr/>
          </a:p>
        </p:txBody>
      </p:sp>
      <p:sp>
        <p:nvSpPr>
          <p:cNvPr id="291" name="Google Shape;291;p47"/>
          <p:cNvSpPr txBox="1"/>
          <p:nvPr>
            <p:ph idx="1" type="body"/>
          </p:nvPr>
        </p:nvSpPr>
        <p:spPr>
          <a:xfrm>
            <a:off x="614025" y="1369625"/>
            <a:ext cx="7929000" cy="378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https://colab.research.google.com/drive/1Vy2pnqTb0FVtUelAlNJTJ1I47JSgdDFg#scrollTo=PMXJ_s4C1ahN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8"/>
          <p:cNvSpPr txBox="1"/>
          <p:nvPr>
            <p:ph type="title"/>
          </p:nvPr>
        </p:nvSpPr>
        <p:spPr>
          <a:xfrm>
            <a:off x="607500" y="2213547"/>
            <a:ext cx="7921200" cy="1101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Propriedades interessantes das CNN</a:t>
            </a:r>
            <a:endParaRPr/>
          </a:p>
        </p:txBody>
      </p:sp>
      <p:sp>
        <p:nvSpPr>
          <p:cNvPr id="297" name="Google Shape;297;p48"/>
          <p:cNvSpPr txBox="1"/>
          <p:nvPr>
            <p:ph idx="1" type="body"/>
          </p:nvPr>
        </p:nvSpPr>
        <p:spPr>
          <a:xfrm>
            <a:off x="607500" y="3960901"/>
            <a:ext cx="7921200" cy="325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8" name="Google Shape;29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25" y="224850"/>
            <a:ext cx="4189051" cy="211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9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camadas intermediárias costumam significar algo</a:t>
            </a:r>
            <a:endParaRPr/>
          </a:p>
        </p:txBody>
      </p:sp>
      <p:pic>
        <p:nvPicPr>
          <p:cNvPr id="304" name="Google Shape;30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525" y="1408050"/>
            <a:ext cx="2649525" cy="1904999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49"/>
          <p:cNvSpPr txBox="1"/>
          <p:nvPr/>
        </p:nvSpPr>
        <p:spPr>
          <a:xfrm>
            <a:off x="990598" y="3416575"/>
            <a:ext cx="94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Entrada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6" name="Google Shape;306;p49"/>
          <p:cNvSpPr txBox="1"/>
          <p:nvPr/>
        </p:nvSpPr>
        <p:spPr>
          <a:xfrm>
            <a:off x="3765273" y="1832525"/>
            <a:ext cx="94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ResNet-50</a:t>
            </a:r>
            <a:endParaRPr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07" name="Google Shape;307;p49"/>
          <p:cNvSpPr/>
          <p:nvPr/>
        </p:nvSpPr>
        <p:spPr>
          <a:xfrm>
            <a:off x="3023150" y="2174175"/>
            <a:ext cx="2433000" cy="838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08" name="Google Shape;308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8450" y="2231576"/>
            <a:ext cx="2259250" cy="72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3375" y="2133601"/>
            <a:ext cx="3086100" cy="87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0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Como visualizamos as camadas do meio?</a:t>
            </a:r>
            <a:endParaRPr/>
          </a:p>
        </p:txBody>
      </p:sp>
      <p:sp>
        <p:nvSpPr>
          <p:cNvPr id="315" name="Google Shape;315;p50"/>
          <p:cNvSpPr txBox="1"/>
          <p:nvPr>
            <p:ph idx="1" type="body"/>
          </p:nvPr>
        </p:nvSpPr>
        <p:spPr>
          <a:xfrm>
            <a:off x="614025" y="1369625"/>
            <a:ext cx="7929000" cy="378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Ativar parcialmente a rede e ver como está a imagem no meio</a:t>
            </a:r>
            <a:endParaRPr/>
          </a:p>
        </p:txBody>
      </p:sp>
      <p:pic>
        <p:nvPicPr>
          <p:cNvPr id="316" name="Google Shape;316;p50"/>
          <p:cNvPicPr preferRelativeResize="0"/>
          <p:nvPr/>
        </p:nvPicPr>
        <p:blipFill rotWithShape="1">
          <a:blip r:embed="rId3">
            <a:alphaModFix/>
          </a:blip>
          <a:srcRect b="74436" l="0" r="61736" t="0"/>
          <a:stretch/>
        </p:blipFill>
        <p:spPr>
          <a:xfrm>
            <a:off x="341025" y="1977475"/>
            <a:ext cx="3099474" cy="206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50"/>
          <p:cNvPicPr preferRelativeResize="0"/>
          <p:nvPr/>
        </p:nvPicPr>
        <p:blipFill rotWithShape="1">
          <a:blip r:embed="rId4">
            <a:alphaModFix/>
          </a:blip>
          <a:srcRect b="80131" l="0" r="61866" t="0"/>
          <a:stretch/>
        </p:blipFill>
        <p:spPr>
          <a:xfrm>
            <a:off x="3948125" y="1916876"/>
            <a:ext cx="4496400" cy="23279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8" name="Google Shape;318;p50"/>
          <p:cNvGrpSpPr/>
          <p:nvPr/>
        </p:nvGrpSpPr>
        <p:grpSpPr>
          <a:xfrm>
            <a:off x="614025" y="4244850"/>
            <a:ext cx="2433000" cy="838500"/>
            <a:chOff x="3023150" y="2174175"/>
            <a:chExt cx="2433000" cy="838500"/>
          </a:xfrm>
        </p:grpSpPr>
        <p:sp>
          <p:nvSpPr>
            <p:cNvPr id="319" name="Google Shape;319;p50"/>
            <p:cNvSpPr/>
            <p:nvPr/>
          </p:nvSpPr>
          <p:spPr>
            <a:xfrm>
              <a:off x="3023150" y="2174175"/>
              <a:ext cx="2433000" cy="8385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320" name="Google Shape;320;p5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108450" y="2231576"/>
              <a:ext cx="2259250" cy="727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50"/>
          <p:cNvSpPr/>
          <p:nvPr/>
        </p:nvSpPr>
        <p:spPr>
          <a:xfrm>
            <a:off x="1149200" y="4327675"/>
            <a:ext cx="1822200" cy="672900"/>
          </a:xfrm>
          <a:prstGeom prst="rect">
            <a:avLst/>
          </a:prstGeom>
          <a:solidFill>
            <a:srgbClr val="000000">
              <a:alpha val="8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322" name="Google Shape;322;p50"/>
          <p:cNvGrpSpPr/>
          <p:nvPr/>
        </p:nvGrpSpPr>
        <p:grpSpPr>
          <a:xfrm>
            <a:off x="5051428" y="4282535"/>
            <a:ext cx="2433000" cy="838500"/>
            <a:chOff x="3023150" y="2174175"/>
            <a:chExt cx="2433000" cy="838500"/>
          </a:xfrm>
        </p:grpSpPr>
        <p:sp>
          <p:nvSpPr>
            <p:cNvPr id="323" name="Google Shape;323;p50"/>
            <p:cNvSpPr/>
            <p:nvPr/>
          </p:nvSpPr>
          <p:spPr>
            <a:xfrm>
              <a:off x="3023150" y="2174175"/>
              <a:ext cx="2433000" cy="8385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324" name="Google Shape;324;p5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108450" y="2231576"/>
              <a:ext cx="2259250" cy="727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5" name="Google Shape;325;p50"/>
          <p:cNvSpPr/>
          <p:nvPr/>
        </p:nvSpPr>
        <p:spPr>
          <a:xfrm>
            <a:off x="6087726" y="4365350"/>
            <a:ext cx="1321200" cy="672900"/>
          </a:xfrm>
          <a:prstGeom prst="rect">
            <a:avLst/>
          </a:prstGeom>
          <a:solidFill>
            <a:srgbClr val="000000">
              <a:alpha val="8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51"/>
          <p:cNvPicPr preferRelativeResize="0"/>
          <p:nvPr/>
        </p:nvPicPr>
        <p:blipFill rotWithShape="1">
          <a:blip r:embed="rId3">
            <a:alphaModFix/>
          </a:blip>
          <a:srcRect b="74436" l="0" r="61736" t="0"/>
          <a:stretch/>
        </p:blipFill>
        <p:spPr>
          <a:xfrm>
            <a:off x="341025" y="1977475"/>
            <a:ext cx="3099474" cy="206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51"/>
          <p:cNvPicPr preferRelativeResize="0"/>
          <p:nvPr/>
        </p:nvPicPr>
        <p:blipFill rotWithShape="1">
          <a:blip r:embed="rId4">
            <a:alphaModFix/>
          </a:blip>
          <a:srcRect b="80131" l="0" r="61866" t="0"/>
          <a:stretch/>
        </p:blipFill>
        <p:spPr>
          <a:xfrm>
            <a:off x="3948125" y="1916876"/>
            <a:ext cx="4496400" cy="23279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2" name="Google Shape;332;p51"/>
          <p:cNvGrpSpPr/>
          <p:nvPr/>
        </p:nvGrpSpPr>
        <p:grpSpPr>
          <a:xfrm>
            <a:off x="614025" y="4244850"/>
            <a:ext cx="2433000" cy="838500"/>
            <a:chOff x="3023150" y="2174175"/>
            <a:chExt cx="2433000" cy="838500"/>
          </a:xfrm>
        </p:grpSpPr>
        <p:sp>
          <p:nvSpPr>
            <p:cNvPr id="333" name="Google Shape;333;p51"/>
            <p:cNvSpPr/>
            <p:nvPr/>
          </p:nvSpPr>
          <p:spPr>
            <a:xfrm>
              <a:off x="3023150" y="2174175"/>
              <a:ext cx="2433000" cy="8385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334" name="Google Shape;334;p5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108450" y="2231576"/>
              <a:ext cx="2259250" cy="727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5" name="Google Shape;335;p51"/>
          <p:cNvSpPr/>
          <p:nvPr/>
        </p:nvSpPr>
        <p:spPr>
          <a:xfrm>
            <a:off x="1149200" y="4327675"/>
            <a:ext cx="1822200" cy="672900"/>
          </a:xfrm>
          <a:prstGeom prst="rect">
            <a:avLst/>
          </a:prstGeom>
          <a:solidFill>
            <a:srgbClr val="000000">
              <a:alpha val="8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336" name="Google Shape;336;p51"/>
          <p:cNvGrpSpPr/>
          <p:nvPr/>
        </p:nvGrpSpPr>
        <p:grpSpPr>
          <a:xfrm>
            <a:off x="5051428" y="4282535"/>
            <a:ext cx="2433000" cy="838500"/>
            <a:chOff x="3023150" y="2174175"/>
            <a:chExt cx="2433000" cy="838500"/>
          </a:xfrm>
        </p:grpSpPr>
        <p:sp>
          <p:nvSpPr>
            <p:cNvPr id="337" name="Google Shape;337;p51"/>
            <p:cNvSpPr/>
            <p:nvPr/>
          </p:nvSpPr>
          <p:spPr>
            <a:xfrm>
              <a:off x="3023150" y="2174175"/>
              <a:ext cx="2433000" cy="8385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338" name="Google Shape;338;p5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108450" y="2231576"/>
              <a:ext cx="2259250" cy="727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9" name="Google Shape;339;p51"/>
          <p:cNvSpPr/>
          <p:nvPr/>
        </p:nvSpPr>
        <p:spPr>
          <a:xfrm>
            <a:off x="6087726" y="4365350"/>
            <a:ext cx="1321200" cy="672900"/>
          </a:xfrm>
          <a:prstGeom prst="rect">
            <a:avLst/>
          </a:prstGeom>
          <a:solidFill>
            <a:srgbClr val="000000">
              <a:alpha val="8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0" name="Google Shape;340;p51"/>
          <p:cNvSpPr txBox="1"/>
          <p:nvPr>
            <p:ph idx="4294967295"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Não ajuda muito!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2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 alternativa?</a:t>
            </a:r>
            <a:endParaRPr/>
          </a:p>
        </p:txBody>
      </p:sp>
      <p:sp>
        <p:nvSpPr>
          <p:cNvPr id="346" name="Google Shape;346;p52"/>
          <p:cNvSpPr txBox="1"/>
          <p:nvPr>
            <p:ph idx="1" type="body"/>
          </p:nvPr>
        </p:nvSpPr>
        <p:spPr>
          <a:xfrm>
            <a:off x="614025" y="1369625"/>
            <a:ext cx="7929000" cy="3630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Queremos analisar o </a:t>
            </a:r>
            <a:r>
              <a:rPr lang="en"/>
              <a:t>6º </a:t>
            </a:r>
            <a:r>
              <a:rPr lang="en"/>
              <a:t>filtro da camada </a:t>
            </a:r>
            <a:r>
              <a:rPr lang="en" sz="145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conv3_block4_out</a:t>
            </a:r>
            <a:endParaRPr sz="1450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Se eu jogar uma imagem aleatória, ela vai ativar (ficar com valor alto) em alguns pixels e outros não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Posso fazer o backpropagation para </a:t>
            </a:r>
            <a:r>
              <a:rPr lang="en"/>
              <a:t>descobrir</a:t>
            </a:r>
            <a:r>
              <a:rPr lang="en"/>
              <a:t> qual imagem fará esse filtro ativar o máximo possível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Teoria: quanto mais ativa uma parte da rede neural (assim como no cérebro), mais ele está envolvido no processo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3"/>
          <p:cNvSpPr txBox="1"/>
          <p:nvPr>
            <p:ph idx="1" type="body"/>
          </p:nvPr>
        </p:nvSpPr>
        <p:spPr>
          <a:xfrm>
            <a:off x="614025" y="1369625"/>
            <a:ext cx="8331300" cy="3630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Queremos analisar o 6º filtro da camada </a:t>
            </a:r>
            <a:r>
              <a:rPr lang="en" sz="145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conv3_block4_out</a:t>
            </a:r>
            <a:endParaRPr sz="1450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6AA94F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solidFill>
                  <a:srgbClr val="6AA94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# Escolher a camada a ser analisada sua saída</a:t>
            </a:r>
            <a:endParaRPr sz="1550">
              <a:solidFill>
                <a:srgbClr val="6AA94F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layer_name = </a:t>
            </a:r>
            <a:r>
              <a:rPr lang="en" sz="155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"conv3_block4_out"</a:t>
            </a:r>
            <a:endParaRPr sz="1550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solidFill>
                  <a:srgbClr val="6AA94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# Criar o modelo até essa camada apenas</a:t>
            </a:r>
            <a:endParaRPr sz="1550">
              <a:solidFill>
                <a:srgbClr val="6AA94F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dream_model = tf.keras.Model</a:t>
            </a:r>
            <a:r>
              <a:rPr lang="en" sz="1550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550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inputs=model.input</a:t>
            </a:r>
            <a:r>
              <a:rPr lang="en" sz="1550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5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5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outputs=model.get_layer</a:t>
            </a:r>
            <a:r>
              <a:rPr lang="en" sz="1550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5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layer_name</a:t>
            </a:r>
            <a:r>
              <a:rPr lang="en" sz="1550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5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.output</a:t>
            </a:r>
            <a:endParaRPr sz="15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</p:txBody>
      </p:sp>
      <p:sp>
        <p:nvSpPr>
          <p:cNvPr id="352" name="Google Shape;352;p53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 alternativa?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4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 alternativa?</a:t>
            </a:r>
            <a:endParaRPr/>
          </a:p>
        </p:txBody>
      </p:sp>
      <p:sp>
        <p:nvSpPr>
          <p:cNvPr id="358" name="Google Shape;358;p54"/>
          <p:cNvSpPr txBox="1"/>
          <p:nvPr>
            <p:ph idx="1" type="body"/>
          </p:nvPr>
        </p:nvSpPr>
        <p:spPr>
          <a:xfrm>
            <a:off x="614025" y="1369625"/>
            <a:ext cx="7929000" cy="3630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Se eu jogar uma imagem aleatória, ela vai ativar (ficar com valor alto) em alguns pixels e outros não</a:t>
            </a:r>
            <a:endParaRPr/>
          </a:p>
        </p:txBody>
      </p:sp>
      <p:sp>
        <p:nvSpPr>
          <p:cNvPr id="359" name="Google Shape;359;p54"/>
          <p:cNvSpPr txBox="1"/>
          <p:nvPr/>
        </p:nvSpPr>
        <p:spPr>
          <a:xfrm>
            <a:off x="740200" y="3346725"/>
            <a:ext cx="59841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outputs = dream_model.predict</a:t>
            </a:r>
            <a:r>
              <a:rPr lang="en" sz="1450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3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random_image</a:t>
            </a:r>
            <a:r>
              <a:rPr lang="en" sz="1450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50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60" name="Google Shape;360;p54"/>
          <p:cNvSpPr txBox="1"/>
          <p:nvPr/>
        </p:nvSpPr>
        <p:spPr>
          <a:xfrm>
            <a:off x="760725" y="2245425"/>
            <a:ext cx="7635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random_image = np.random.uniform</a:t>
            </a:r>
            <a:r>
              <a:rPr lang="en" sz="1350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35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350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3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5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255</a:t>
            </a:r>
            <a:r>
              <a:rPr lang="en" sz="1350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3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50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35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224</a:t>
            </a:r>
            <a:r>
              <a:rPr lang="en" sz="1350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3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5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224</a:t>
            </a:r>
            <a:r>
              <a:rPr lang="en" sz="1350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3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5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" sz="1350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))</a:t>
            </a:r>
            <a:r>
              <a:rPr lang="en" sz="13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.astype</a:t>
            </a:r>
            <a:r>
              <a:rPr lang="en" sz="1350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3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np.uint8</a:t>
            </a:r>
            <a:r>
              <a:rPr lang="en" sz="1350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50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5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 alternativa?</a:t>
            </a:r>
            <a:endParaRPr/>
          </a:p>
        </p:txBody>
      </p:sp>
      <p:sp>
        <p:nvSpPr>
          <p:cNvPr id="366" name="Google Shape;366;p55"/>
          <p:cNvSpPr txBox="1"/>
          <p:nvPr>
            <p:ph idx="1" type="body"/>
          </p:nvPr>
        </p:nvSpPr>
        <p:spPr>
          <a:xfrm>
            <a:off x="614025" y="1369625"/>
            <a:ext cx="7929000" cy="3630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Posso fazer o backpropagation para descobrir qual imagem fará esse filtro ativar o máximo possível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55"/>
          <p:cNvSpPr txBox="1"/>
          <p:nvPr/>
        </p:nvSpPr>
        <p:spPr>
          <a:xfrm>
            <a:off x="662625" y="2288050"/>
            <a:ext cx="6740100" cy="7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450">
                <a:solidFill>
                  <a:srgbClr val="6AA94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# A Loss é calculada baseada na média de ativação</a:t>
            </a:r>
            <a:endParaRPr sz="1450">
              <a:solidFill>
                <a:srgbClr val="6AA94F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loss = tf.reduce_mean</a:t>
            </a:r>
            <a:r>
              <a:rPr lang="en" sz="1450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4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filter_activations</a:t>
            </a:r>
            <a:r>
              <a:rPr lang="en" sz="1450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68" name="Google Shape;368;p55"/>
          <p:cNvSpPr txBox="1"/>
          <p:nvPr/>
        </p:nvSpPr>
        <p:spPr>
          <a:xfrm>
            <a:off x="1093735" y="2987550"/>
            <a:ext cx="3000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gradient</a:t>
            </a:r>
            <a:r>
              <a:rPr lang="en" sz="1350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3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loss</a:t>
            </a:r>
            <a:r>
              <a:rPr lang="en" sz="1350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3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img</a:t>
            </a:r>
            <a:r>
              <a:rPr lang="en" sz="1350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50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69" name="Google Shape;369;p55"/>
          <p:cNvSpPr txBox="1"/>
          <p:nvPr/>
        </p:nvSpPr>
        <p:spPr>
          <a:xfrm>
            <a:off x="1093735" y="3444950"/>
            <a:ext cx="46278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img = img + gradients * step_size</a:t>
            </a:r>
            <a:endParaRPr sz="14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370" name="Google Shape;370;p55"/>
          <p:cNvCxnSpPr/>
          <p:nvPr/>
        </p:nvCxnSpPr>
        <p:spPr>
          <a:xfrm rot="10800000">
            <a:off x="2350175" y="3852800"/>
            <a:ext cx="0" cy="5991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1" name="Google Shape;371;p55"/>
          <p:cNvSpPr txBox="1"/>
          <p:nvPr/>
        </p:nvSpPr>
        <p:spPr>
          <a:xfrm>
            <a:off x="2018875" y="4555425"/>
            <a:ext cx="44313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+</a:t>
            </a:r>
            <a:r>
              <a:rPr lang="en" sz="17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, pois quero aumentar a Loss (ativação)</a:t>
            </a:r>
            <a:endParaRPr sz="17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6"/>
          <p:cNvSpPr txBox="1"/>
          <p:nvPr>
            <p:ph idx="4294967295"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 como eu sei qual filtro é importante?</a:t>
            </a:r>
            <a:endParaRPr/>
          </a:p>
        </p:txBody>
      </p:sp>
      <p:sp>
        <p:nvSpPr>
          <p:cNvPr id="377" name="Google Shape;377;p56"/>
          <p:cNvSpPr txBox="1"/>
          <p:nvPr>
            <p:ph idx="4294967295" type="body"/>
          </p:nvPr>
        </p:nvSpPr>
        <p:spPr>
          <a:xfrm>
            <a:off x="406950" y="999650"/>
            <a:ext cx="7929000" cy="3579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300"/>
              </a:spcBef>
              <a:spcAft>
                <a:spcPts val="0"/>
              </a:spcAft>
              <a:buSzPts val="1400"/>
              <a:buChar char="🞆"/>
            </a:pPr>
            <a:r>
              <a:rPr lang="en"/>
              <a:t>Analiso qual filtro foi mais ativado para a imagem do Lulu da Pomerânia</a:t>
            </a:r>
            <a:endParaRPr/>
          </a:p>
        </p:txBody>
      </p:sp>
      <p:sp>
        <p:nvSpPr>
          <p:cNvPr id="378" name="Google Shape;378;p56"/>
          <p:cNvSpPr txBox="1"/>
          <p:nvPr/>
        </p:nvSpPr>
        <p:spPr>
          <a:xfrm>
            <a:off x="1014628" y="3917748"/>
            <a:ext cx="300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conv3_block4_out</a:t>
            </a:r>
            <a:endParaRPr sz="1450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79" name="Google Shape;379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7575" y="1280700"/>
            <a:ext cx="5130672" cy="185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7575" y="3193452"/>
            <a:ext cx="5130675" cy="18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56"/>
          <p:cNvSpPr txBox="1"/>
          <p:nvPr/>
        </p:nvSpPr>
        <p:spPr>
          <a:xfrm>
            <a:off x="1014625" y="2091375"/>
            <a:ext cx="300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conv2_block2_out</a:t>
            </a:r>
            <a:endParaRPr sz="1450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7"/>
          <p:cNvSpPr txBox="1"/>
          <p:nvPr/>
        </p:nvSpPr>
        <p:spPr>
          <a:xfrm>
            <a:off x="2474425" y="1853225"/>
            <a:ext cx="3000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Aplicando filtros - Colab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8"/>
          <p:cNvSpPr txBox="1"/>
          <p:nvPr/>
        </p:nvSpPr>
        <p:spPr>
          <a:xfrm>
            <a:off x="1272950" y="1341750"/>
            <a:ext cx="6081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https://huggingface.co/learn/computer-vision-course/unit2/cnns/vgg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58"/>
          <p:cNvSpPr txBox="1"/>
          <p:nvPr/>
        </p:nvSpPr>
        <p:spPr>
          <a:xfrm>
            <a:off x="1212750" y="1840650"/>
            <a:ext cx="6545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https://colab.research.google.com/github/arnaldojr/DisruptiveArchitectures/blob/master/material/aulas/IA/lab09/transferlearning.ipynb#scrollTo=d8ef2ae1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9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Transfer Learning - transferência de aprendizado</a:t>
            </a:r>
            <a:endParaRPr/>
          </a:p>
        </p:txBody>
      </p:sp>
      <p:sp>
        <p:nvSpPr>
          <p:cNvPr id="398" name="Google Shape;398;p59"/>
          <p:cNvSpPr txBox="1"/>
          <p:nvPr>
            <p:ph idx="1" type="body"/>
          </p:nvPr>
        </p:nvSpPr>
        <p:spPr>
          <a:xfrm>
            <a:off x="614025" y="1369625"/>
            <a:ext cx="7929000" cy="378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Como a rede sabe como analisar imagens de uma maneira ampla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Não precisamos retreinar toda a parte convolucional se quisermos adaptá-la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Basta treinar apenas o final dela</a:t>
            </a:r>
            <a:endParaRPr/>
          </a:p>
        </p:txBody>
      </p:sp>
      <p:sp>
        <p:nvSpPr>
          <p:cNvPr id="399" name="Google Shape;399;p59"/>
          <p:cNvSpPr txBox="1"/>
          <p:nvPr/>
        </p:nvSpPr>
        <p:spPr>
          <a:xfrm>
            <a:off x="683725" y="3480800"/>
            <a:ext cx="7186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https://docs.ultralytics.com/yolov5/tutorials/transfer_learning_with_frozen_layers/#freeze-backbone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itável">
  <a:themeElements>
    <a:clrScheme name="Personalizada 1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359E45"/>
      </a:accent1>
      <a:accent2>
        <a:srgbClr val="D75BCD"/>
      </a:accent2>
      <a:accent3>
        <a:srgbClr val="E54D86"/>
      </a:accent3>
      <a:accent4>
        <a:srgbClr val="DE4547"/>
      </a:accent4>
      <a:accent5>
        <a:srgbClr val="F16E40"/>
      </a:accent5>
      <a:accent6>
        <a:srgbClr val="EB9C5A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