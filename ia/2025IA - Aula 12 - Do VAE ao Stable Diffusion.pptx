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embeddedFontLst>
    <p:embeddedFont>
      <p:font typeface="Roboto"/>
      <p:regular r:id="rId50"/>
      <p:bold r:id="rId51"/>
      <p:italic r:id="rId52"/>
      <p:boldItalic r:id="rId53"/>
    </p:embeddedFont>
    <p:embeddedFont>
      <p:font typeface="EB Garamond"/>
      <p:regular r:id="rId54"/>
      <p:bold r:id="rId55"/>
      <p:italic r:id="rId56"/>
      <p:boldItalic r:id="rId57"/>
    </p:embeddedFont>
    <p:embeddedFont>
      <p:font typeface="Century Gothic"/>
      <p:regular r:id="rId58"/>
      <p:bold r:id="rId59"/>
      <p:italic r:id="rId60"/>
      <p:boldItalic r:id="rId61"/>
    </p:embeddedFont>
    <p:embeddedFont>
      <p:font typeface="Open Sans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OpenSans-regular.fntdata"/><Relationship Id="rId61" Type="http://schemas.openxmlformats.org/officeDocument/2006/relationships/font" Target="fonts/CenturyGothic-boldItalic.fntdata"/><Relationship Id="rId20" Type="http://schemas.openxmlformats.org/officeDocument/2006/relationships/slide" Target="slides/slide15.xml"/><Relationship Id="rId64" Type="http://schemas.openxmlformats.org/officeDocument/2006/relationships/font" Target="fonts/OpenSans-italic.fntdata"/><Relationship Id="rId63" Type="http://schemas.openxmlformats.org/officeDocument/2006/relationships/font" Target="fonts/OpenSans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65" Type="http://schemas.openxmlformats.org/officeDocument/2006/relationships/font" Target="fonts/OpenSans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CenturyGothic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bold.fntdata"/><Relationship Id="rId50" Type="http://schemas.openxmlformats.org/officeDocument/2006/relationships/font" Target="fonts/Roboto-regular.fntdata"/><Relationship Id="rId53" Type="http://schemas.openxmlformats.org/officeDocument/2006/relationships/font" Target="fonts/Roboto-boldItalic.fntdata"/><Relationship Id="rId52" Type="http://schemas.openxmlformats.org/officeDocument/2006/relationships/font" Target="fonts/Roboto-italic.fntdata"/><Relationship Id="rId11" Type="http://schemas.openxmlformats.org/officeDocument/2006/relationships/slide" Target="slides/slide6.xml"/><Relationship Id="rId55" Type="http://schemas.openxmlformats.org/officeDocument/2006/relationships/font" Target="fonts/EBGaramond-bold.fntdata"/><Relationship Id="rId10" Type="http://schemas.openxmlformats.org/officeDocument/2006/relationships/slide" Target="slides/slide5.xml"/><Relationship Id="rId54" Type="http://schemas.openxmlformats.org/officeDocument/2006/relationships/font" Target="fonts/EBGaramond-regular.fntdata"/><Relationship Id="rId13" Type="http://schemas.openxmlformats.org/officeDocument/2006/relationships/slide" Target="slides/slide8.xml"/><Relationship Id="rId57" Type="http://schemas.openxmlformats.org/officeDocument/2006/relationships/font" Target="fonts/EBGaramond-boldItalic.fntdata"/><Relationship Id="rId12" Type="http://schemas.openxmlformats.org/officeDocument/2006/relationships/slide" Target="slides/slide7.xml"/><Relationship Id="rId56" Type="http://schemas.openxmlformats.org/officeDocument/2006/relationships/font" Target="fonts/EBGaramond-italic.fntdata"/><Relationship Id="rId15" Type="http://schemas.openxmlformats.org/officeDocument/2006/relationships/slide" Target="slides/slide10.xml"/><Relationship Id="rId59" Type="http://schemas.openxmlformats.org/officeDocument/2006/relationships/font" Target="fonts/CenturyGothic-bold.fntdata"/><Relationship Id="rId14" Type="http://schemas.openxmlformats.org/officeDocument/2006/relationships/slide" Target="slides/slide9.xml"/><Relationship Id="rId58" Type="http://schemas.openxmlformats.org/officeDocument/2006/relationships/font" Target="fonts/CenturyGothic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df7570a7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df7570a7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df7570a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df7570a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e2153609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e215360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e2153609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e2153609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ccccbb7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ccccbb7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ccccbb75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ccccbb75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e215360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e215360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c8f27c2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c8f27c2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c8f27c236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c8f27c236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c8f27c236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c8f27c236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ccccbb75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ccccbb75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ccccbb75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9ccccbb75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ccccbb75e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ccccbb75e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ccccbb75e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9ccccbb75e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ccccbb75e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9ccccbb75e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ccccbb75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9ccccbb75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ccccbb75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9ccccbb75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ccccbb75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9ccccbb75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ccccbb75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9ccccbb75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f0d803bd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9f0d803bd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f0d803bd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9f0d803bd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f0d803bd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9f0d803bd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9f3cb29ad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9f3cb29ad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1573b70f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1573b70f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a1573b70f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a1573b70f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1573b70f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a1573b70f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1573b70f1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a1573b70f1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9ccccbb75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9ccccbb75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9ccccbb75e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9ccccbb75e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9ccccbb75e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9ccccbb75e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9ccccbb75e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9ccccbb75e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9ccccbb75e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9ccccbb75e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9ccccbb75e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9ccccbb75e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9ccccbb75e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9ccccbb75e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9ccccbb75e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9ccccbb75e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9ccccbb75e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9ccccbb75e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ccccbb75e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9ccccbb75e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9ccccbb75e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9ccccbb75e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9ccccbb75e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9ccccbb75e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a17224274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a17224274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a17224274e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a17224274e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9ccccbb75e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9ccccbb75e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614d815e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614d815e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-2381"/>
            <a:ext cx="9144000" cy="3902869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607501" y="1086860"/>
            <a:ext cx="7929000" cy="2228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Roboto"/>
              <a:buNone/>
              <a:defRPr b="0" sz="41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07501" y="3960635"/>
            <a:ext cx="7929000" cy="32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5225" y="3843125"/>
            <a:ext cx="3110024" cy="111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128229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900"/>
              <a:buFont typeface="Impact"/>
              <a:buNone/>
              <a:defRPr b="0" sz="2900">
                <a:latin typeface="Impact"/>
                <a:ea typeface="Impact"/>
                <a:cs typeface="Impact"/>
                <a:sym typeface="Impac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EB Garamond"/>
              <a:buChar char="●"/>
              <a:defRPr sz="2100">
                <a:latin typeface="EB Garamond"/>
                <a:ea typeface="EB Garamond"/>
                <a:cs typeface="EB Garamond"/>
                <a:sym typeface="EB Garamond"/>
              </a:defRPr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EB Garamond"/>
              <a:buChar char="○"/>
              <a:defRPr sz="1800">
                <a:latin typeface="EB Garamond"/>
                <a:ea typeface="EB Garamond"/>
                <a:cs typeface="EB Garamond"/>
                <a:sym typeface="EB Garamond"/>
              </a:defRPr>
            </a:lvl2pPr>
            <a:lvl3pPr indent="-32385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EB Garamond"/>
              <a:buChar char="■"/>
              <a:defRPr sz="1500">
                <a:latin typeface="EB Garamond"/>
                <a:ea typeface="EB Garamond"/>
                <a:cs typeface="EB Garamond"/>
                <a:sym typeface="EB Garamond"/>
              </a:defRPr>
            </a:lvl3pPr>
            <a:lvl4pPr indent="-3175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●"/>
              <a:defRPr sz="1400">
                <a:latin typeface="EB Garamond"/>
                <a:ea typeface="EB Garamond"/>
                <a:cs typeface="EB Garamond"/>
                <a:sym typeface="EB Garamond"/>
              </a:defRPr>
            </a:lvl4pPr>
            <a:lvl5pPr indent="-3175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○"/>
              <a:defRPr sz="1400">
                <a:latin typeface="EB Garamond"/>
                <a:ea typeface="EB Garamond"/>
                <a:cs typeface="EB Garamond"/>
                <a:sym typeface="EB Garamond"/>
              </a:defRPr>
            </a:lvl5pPr>
            <a:lvl6pPr indent="-3175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indent="-3175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●"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indent="-3175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○"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indent="-3175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a numerada">
  <p:cSld name="OBJECT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128229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607500" y="167975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900"/>
              <a:buFont typeface="Impact"/>
              <a:buNone/>
              <a:defRPr b="0" sz="2900">
                <a:latin typeface="Impact"/>
                <a:ea typeface="Impact"/>
                <a:cs typeface="Impact"/>
                <a:sym typeface="Impac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26" name="Google Shape;26;p4"/>
          <p:cNvSpPr/>
          <p:nvPr/>
        </p:nvSpPr>
        <p:spPr>
          <a:xfrm>
            <a:off x="607500" y="1555104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07500" y="2258791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07500" y="2962479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07500" y="3666166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07500" y="4369854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5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1275175" y="15550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1275175" y="22587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1275175" y="29624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1275175" y="36661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1275175" y="43698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0" y="1"/>
            <a:ext cx="9144000" cy="3902869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Roboto"/>
              <a:buNone/>
              <a:defRPr b="0" sz="3600" cap="none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409450" y="2729548"/>
            <a:ext cx="38895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AutoNum type="arabicPeriod"/>
              <a:defRPr sz="1800"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AutoNum type="romanLcPeriod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rabicPeriod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4794225" y="2729548"/>
            <a:ext cx="38895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AutoNum type="arabicPeriod"/>
              <a:defRPr sz="1800"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AutoNum type="romanLcPeriod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rabicPeriod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artes de Conteúdo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220850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  <p:sp>
        <p:nvSpPr>
          <p:cNvPr id="53" name="Google Shape;53;p8"/>
          <p:cNvSpPr txBox="1"/>
          <p:nvPr>
            <p:ph idx="2" type="body"/>
          </p:nvPr>
        </p:nvSpPr>
        <p:spPr>
          <a:xfrm>
            <a:off x="3263100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  <p:sp>
        <p:nvSpPr>
          <p:cNvPr id="54" name="Google Shape;54;p8"/>
          <p:cNvSpPr txBox="1"/>
          <p:nvPr>
            <p:ph idx="3" type="body"/>
          </p:nvPr>
        </p:nvSpPr>
        <p:spPr>
          <a:xfrm>
            <a:off x="6265925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9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804875" y="334571"/>
            <a:ext cx="2660653" cy="86285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0"/>
          <p:cNvSpPr txBox="1"/>
          <p:nvPr>
            <p:ph type="title"/>
          </p:nvPr>
        </p:nvSpPr>
        <p:spPr>
          <a:xfrm>
            <a:off x="804875" y="334575"/>
            <a:ext cx="2660700" cy="684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500"/>
              <a:buFont typeface="Open Sans"/>
              <a:buNone/>
              <a:defRPr b="1" sz="15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3641725" y="334566"/>
            <a:ext cx="4689600" cy="4061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804863" y="1695553"/>
            <a:ext cx="2660700" cy="270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611046" y="545642"/>
            <a:ext cx="3639600" cy="12129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Open Sans"/>
              <a:buNone/>
              <a:defRPr b="0" sz="18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1"/>
          <p:cNvSpPr/>
          <p:nvPr>
            <p:ph idx="2" type="pic"/>
          </p:nvPr>
        </p:nvSpPr>
        <p:spPr>
          <a:xfrm>
            <a:off x="4573588" y="0"/>
            <a:ext cx="4570500" cy="5143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611046" y="1758513"/>
            <a:ext cx="3639600" cy="2637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Panorâmica com Legenda">
  <p:cSld name="Foto Panorâmica com Legenda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607500" y="3600450"/>
            <a:ext cx="7921200" cy="425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Open Sans"/>
              <a:buNone/>
              <a:defRPr b="0" sz="18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2"/>
          <p:cNvSpPr/>
          <p:nvPr>
            <p:ph idx="2" type="pic"/>
          </p:nvPr>
        </p:nvSpPr>
        <p:spPr>
          <a:xfrm>
            <a:off x="0" y="0"/>
            <a:ext cx="9144000" cy="36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607500" y="4025504"/>
            <a:ext cx="7921200" cy="370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ção com Legenda">
  <p:cSld name="Citação com Legenda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/>
          <p:nvPr/>
        </p:nvSpPr>
        <p:spPr>
          <a:xfrm>
            <a:off x="473773" y="811092"/>
            <a:ext cx="4749309" cy="2429389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13"/>
          <p:cNvSpPr txBox="1"/>
          <p:nvPr>
            <p:ph type="title"/>
          </p:nvPr>
        </p:nvSpPr>
        <p:spPr>
          <a:xfrm>
            <a:off x="638239" y="928876"/>
            <a:ext cx="4420500" cy="1984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Open Sans"/>
              <a:buNone/>
              <a:defRPr b="1" sz="3200" cap="none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639900" y="3332730"/>
            <a:ext cx="4418700" cy="16089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idx="2" type="body"/>
          </p:nvPr>
        </p:nvSpPr>
        <p:spPr>
          <a:xfrm>
            <a:off x="5680982" y="811092"/>
            <a:ext cx="2857500" cy="3056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ão de Nome">
  <p:cSld name="Cartão de Nom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>
            <a:off x="855663" y="1714939"/>
            <a:ext cx="3671335" cy="1877979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4"/>
          <p:cNvSpPr txBox="1"/>
          <p:nvPr>
            <p:ph type="title"/>
          </p:nvPr>
        </p:nvSpPr>
        <p:spPr>
          <a:xfrm>
            <a:off x="1017817" y="1826968"/>
            <a:ext cx="3286800" cy="1505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Open Sans"/>
              <a:buNone/>
              <a:defRPr sz="24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4617000" y="1714500"/>
            <a:ext cx="3660300" cy="1721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0"/>
            <a:ext cx="9144000" cy="1639491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5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 rot="5400000">
            <a:off x="3190864" y="-944999"/>
            <a:ext cx="2755800" cy="7922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5752238" y="334567"/>
            <a:ext cx="3391764" cy="4061221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6"/>
          <p:cNvSpPr txBox="1"/>
          <p:nvPr>
            <p:ph type="title"/>
          </p:nvPr>
        </p:nvSpPr>
        <p:spPr>
          <a:xfrm rot="5400000">
            <a:off x="5147648" y="1429628"/>
            <a:ext cx="3851100" cy="1871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 rot="5400000">
            <a:off x="1056256" y="-114233"/>
            <a:ext cx="4061100" cy="4958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235500" y="140225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159300" y="923875"/>
            <a:ext cx="8821500" cy="3852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Font typeface="EB Garamond"/>
              <a:buChar char="●"/>
              <a:defRPr sz="2100">
                <a:latin typeface="EB Garamond"/>
                <a:ea typeface="EB Garamond"/>
                <a:cs typeface="EB Garamond"/>
                <a:sym typeface="EB Garamond"/>
              </a:defRPr>
            </a:lvl1pPr>
            <a:lvl2pPr indent="-3492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Font typeface="EB Garamond"/>
              <a:buChar char="○"/>
              <a:defRPr sz="1900">
                <a:latin typeface="EB Garamond"/>
                <a:ea typeface="EB Garamond"/>
                <a:cs typeface="EB Garamond"/>
                <a:sym typeface="EB Garamond"/>
              </a:defRPr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EB Garamond"/>
              <a:buChar char="■"/>
              <a:defRPr sz="1800">
                <a:latin typeface="EB Garamond"/>
                <a:ea typeface="EB Garamond"/>
                <a:cs typeface="EB Garamond"/>
                <a:sym typeface="EB Garamond"/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●"/>
              <a:defRPr sz="1600">
                <a:latin typeface="EB Garamond"/>
                <a:ea typeface="EB Garamond"/>
                <a:cs typeface="EB Garamond"/>
                <a:sym typeface="EB Garamond"/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○"/>
              <a:defRPr sz="1600">
                <a:latin typeface="EB Garamond"/>
                <a:ea typeface="EB Garamond"/>
                <a:cs typeface="EB Garamond"/>
                <a:sym typeface="EB Garamond"/>
              </a:defRPr>
            </a:lvl5pPr>
            <a:lvl6pPr indent="-3302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■"/>
              <a:defRPr sz="1600">
                <a:latin typeface="EB Garamond"/>
                <a:ea typeface="EB Garamond"/>
                <a:cs typeface="EB Garamond"/>
                <a:sym typeface="EB Garamond"/>
              </a:defRPr>
            </a:lvl6pPr>
            <a:lvl7pPr indent="-3302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●"/>
              <a:defRPr sz="1600">
                <a:latin typeface="EB Garamond"/>
                <a:ea typeface="EB Garamond"/>
                <a:cs typeface="EB Garamond"/>
                <a:sym typeface="EB Garamond"/>
              </a:defRPr>
            </a:lvl7pPr>
            <a:lvl8pPr indent="-3302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○"/>
              <a:defRPr sz="1600">
                <a:latin typeface="EB Garamond"/>
                <a:ea typeface="EB Garamond"/>
                <a:cs typeface="EB Garamond"/>
                <a:sym typeface="EB Garamond"/>
              </a:defRPr>
            </a:lvl8pPr>
            <a:lvl9pPr indent="-3302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600"/>
              <a:buFont typeface="EB Garamond"/>
              <a:buChar char="■"/>
              <a:defRPr sz="16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93" name="Google Shape;93;p18"/>
          <p:cNvSpPr/>
          <p:nvPr/>
        </p:nvSpPr>
        <p:spPr>
          <a:xfrm>
            <a:off x="0" y="5013150"/>
            <a:ext cx="9144000" cy="130200"/>
          </a:xfrm>
          <a:prstGeom prst="rect">
            <a:avLst/>
          </a:prstGeom>
          <a:solidFill>
            <a:srgbClr val="359E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?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200"/>
              <a:buChar char="?"/>
              <a:defRPr sz="1200"/>
            </a:lvl9pPr>
          </a:lstStyle>
          <a:p/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/>
        </p:nvSpPr>
        <p:spPr>
          <a:xfrm>
            <a:off x="0" y="5013150"/>
            <a:ext cx="9144000" cy="130200"/>
          </a:xfrm>
          <a:prstGeom prst="rect">
            <a:avLst/>
          </a:prstGeom>
          <a:solidFill>
            <a:srgbClr val="359E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Century Gothic"/>
              <a:buNone/>
              <a:defRPr b="1" i="0" sz="3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7500" y="1638301"/>
            <a:ext cx="7922400" cy="27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🞆"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olab.research.google.com/github/smartgeometry-ucl/dl4g/blob/master/variational_autoencoder.ipynb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colab.research.google.com/drive/1KxZFnTFmRbeBQ6S07wAeHmM2TLVIDUpz#scrollTo=itlI2Wd8bFqr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colab.research.google.com/drive/1oAtqqC8Qc0unxyGX9KtmU17nzoElVwIh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colab.research.google.com/drive/1j6Q1yhCR4B2Pm62sRWLx0GYghZqLScC5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arxiv.org/abs/1406.2661" TargetMode="External"/><Relationship Id="rId4" Type="http://schemas.openxmlformats.org/officeDocument/2006/relationships/hyperlink" Target="https://www.tensorflow.org/tutorials/generative/dcgan" TargetMode="External"/><Relationship Id="rId5" Type="http://schemas.openxmlformats.org/officeDocument/2006/relationships/hyperlink" Target="https://huggingface.co/learn/computer-vision-course/en/unit5/generative-models/ga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ctrTitle"/>
          </p:nvPr>
        </p:nvSpPr>
        <p:spPr>
          <a:xfrm>
            <a:off x="591985" y="1086860"/>
            <a:ext cx="7929000" cy="2228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IAs Generativas: do VAE ao Stable Diffusion</a:t>
            </a:r>
            <a:endParaRPr sz="3900"/>
          </a:p>
        </p:txBody>
      </p:sp>
      <p:sp>
        <p:nvSpPr>
          <p:cNvPr id="105" name="Google Shape;105;p21"/>
          <p:cNvSpPr txBox="1"/>
          <p:nvPr>
            <p:ph idx="1" type="subTitle"/>
          </p:nvPr>
        </p:nvSpPr>
        <p:spPr>
          <a:xfrm>
            <a:off x="607501" y="3960635"/>
            <a:ext cx="79290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Prof. Caio Hamamura</a:t>
            </a:r>
            <a:endParaRPr/>
          </a:p>
        </p:txBody>
      </p:sp>
      <p:sp>
        <p:nvSpPr>
          <p:cNvPr id="106" name="Google Shape;106;p21"/>
          <p:cNvSpPr txBox="1"/>
          <p:nvPr/>
        </p:nvSpPr>
        <p:spPr>
          <a:xfrm>
            <a:off x="7486374" y="170683"/>
            <a:ext cx="13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Aula 12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025" y="265275"/>
            <a:ext cx="2857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9125" y="262400"/>
            <a:ext cx="2857498" cy="1605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 aula passada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StyleGAN (2020)</a:t>
            </a:r>
            <a:endParaRPr/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8925" y="0"/>
            <a:ext cx="5745075" cy="111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3725" y="1188125"/>
            <a:ext cx="3329353" cy="3835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Difus</a:t>
            </a:r>
            <a:r>
              <a:rPr lang="en"/>
              <a:t>ão estável (stable diffusion): uma outra abordagem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850" y="610383"/>
            <a:ext cx="4544348" cy="66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2544" y="491094"/>
            <a:ext cx="3198901" cy="99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450" y="465493"/>
            <a:ext cx="8141373" cy="118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376975" y="2009000"/>
            <a:ext cx="77610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AutoNum type="arabicPeriod"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Vamos começar com ruído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AutoNum type="arabicPeriod"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imagem vai passar diversas vezes pela rede neural, cada etapa vai retirar um pouco do ruído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histórico até o Stable Diffusion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Stable Diffusion tem origens diferentes do GAN</a:t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GAN: usa o mecanismo de dois modelos competindo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Stable Diffusion: usa um conceito estatístico de probabilidade e distribuição dos dados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Quão verossímil é um conjunto de dados em relação ao conjunto original?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Autoencoders (2006)</a:t>
            </a:r>
            <a:endParaRPr/>
          </a:p>
        </p:txBody>
      </p:sp>
      <p:pic>
        <p:nvPicPr>
          <p:cNvPr id="153" name="Google Shape;15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625" y="1290725"/>
            <a:ext cx="4566575" cy="185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800" y="1155576"/>
            <a:ext cx="3071195" cy="392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38" y="1224975"/>
            <a:ext cx="8760525" cy="355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9"/>
          <p:cNvSpPr/>
          <p:nvPr/>
        </p:nvSpPr>
        <p:spPr>
          <a:xfrm>
            <a:off x="272500" y="3199400"/>
            <a:ext cx="8609100" cy="282600"/>
          </a:xfrm>
          <a:prstGeom prst="rect">
            <a:avLst/>
          </a:prstGeom>
          <a:solidFill>
            <a:srgbClr val="FFFF00">
              <a:alpha val="2666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1" name="Google Shape;161;p29"/>
          <p:cNvSpPr/>
          <p:nvPr/>
        </p:nvSpPr>
        <p:spPr>
          <a:xfrm>
            <a:off x="272500" y="3441625"/>
            <a:ext cx="7014600" cy="282600"/>
          </a:xfrm>
          <a:prstGeom prst="rect">
            <a:avLst/>
          </a:prstGeom>
          <a:solidFill>
            <a:srgbClr val="FFFF00">
              <a:alpha val="2666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p29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Autoencoders (2006)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38" y="1224975"/>
            <a:ext cx="8760525" cy="355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0"/>
          <p:cNvSpPr/>
          <p:nvPr/>
        </p:nvSpPr>
        <p:spPr>
          <a:xfrm>
            <a:off x="272500" y="3199400"/>
            <a:ext cx="8609100" cy="282600"/>
          </a:xfrm>
          <a:prstGeom prst="rect">
            <a:avLst/>
          </a:prstGeom>
          <a:solidFill>
            <a:srgbClr val="FFFF00">
              <a:alpha val="2666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p30"/>
          <p:cNvSpPr/>
          <p:nvPr/>
        </p:nvSpPr>
        <p:spPr>
          <a:xfrm>
            <a:off x="272500" y="3441625"/>
            <a:ext cx="7014600" cy="282600"/>
          </a:xfrm>
          <a:prstGeom prst="rect">
            <a:avLst/>
          </a:prstGeom>
          <a:solidFill>
            <a:srgbClr val="FFFF00">
              <a:alpha val="2666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p30"/>
          <p:cNvSpPr/>
          <p:nvPr/>
        </p:nvSpPr>
        <p:spPr>
          <a:xfrm>
            <a:off x="272500" y="4501350"/>
            <a:ext cx="7811700" cy="282600"/>
          </a:xfrm>
          <a:prstGeom prst="rect">
            <a:avLst/>
          </a:prstGeom>
          <a:solidFill>
            <a:srgbClr val="FFFF00">
              <a:alpha val="2666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1" name="Google Shape;171;p30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Autoencoders (2006)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800" y="1155576"/>
            <a:ext cx="3071195" cy="392737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1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Autoencoders (2006)</a:t>
            </a:r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3883500" y="1229113"/>
            <a:ext cx="4653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Limitação: é determinista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Uma imagem sempre gera a mesma codificação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Um código sempre gera a mesma imagem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Imagens parecidas não necessariamente geram codificação parecida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Codificação parecida nem sempre gera imagem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VAE</a:t>
            </a:r>
            <a:r>
              <a:rPr lang="en"/>
              <a:t> (2013): solução para o determinismo do AE</a:t>
            </a:r>
            <a:endParaRPr/>
          </a:p>
        </p:txBody>
      </p:sp>
      <p:pic>
        <p:nvPicPr>
          <p:cNvPr id="184" name="Google Shape;18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00" y="1216126"/>
            <a:ext cx="5029256" cy="39273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5501600" y="1369625"/>
            <a:ext cx="34263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A </a:t>
            </a:r>
            <a:r>
              <a:rPr lang="en"/>
              <a:t>camada de saída do codificador saem sempre em neurônios pares: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Média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Desvio Padrão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Ideia central: em vez de um valor determinístico forçar que siga distribuição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VAE (2013)</a:t>
            </a:r>
            <a:endParaRPr/>
          </a:p>
        </p:txBody>
      </p:sp>
      <p:pic>
        <p:nvPicPr>
          <p:cNvPr id="191" name="Google Shape;191;p33"/>
          <p:cNvPicPr preferRelativeResize="0"/>
          <p:nvPr/>
        </p:nvPicPr>
        <p:blipFill rotWithShape="1">
          <a:blip r:embed="rId3">
            <a:alphaModFix/>
          </a:blip>
          <a:srcRect b="57479" l="0" r="0" t="0"/>
          <a:stretch/>
        </p:blipFill>
        <p:spPr>
          <a:xfrm>
            <a:off x="5876925" y="47438"/>
            <a:ext cx="3011525" cy="99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450" y="1247438"/>
            <a:ext cx="5532074" cy="379128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3"/>
          <p:cNvSpPr txBox="1"/>
          <p:nvPr/>
        </p:nvSpPr>
        <p:spPr>
          <a:xfrm>
            <a:off x="6010275" y="1628775"/>
            <a:ext cx="3152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Saídas meio borradas</a:t>
            </a:r>
            <a:endParaRPr sz="1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VAE (2013)</a:t>
            </a:r>
            <a:endParaRPr/>
          </a:p>
        </p:txBody>
      </p:sp>
      <p:pic>
        <p:nvPicPr>
          <p:cNvPr id="199" name="Google Shape;199;p34"/>
          <p:cNvPicPr preferRelativeResize="0"/>
          <p:nvPr/>
        </p:nvPicPr>
        <p:blipFill rotWithShape="1">
          <a:blip r:embed="rId3">
            <a:alphaModFix/>
          </a:blip>
          <a:srcRect b="57479" l="0" r="0" t="0"/>
          <a:stretch/>
        </p:blipFill>
        <p:spPr>
          <a:xfrm>
            <a:off x="5876925" y="47438"/>
            <a:ext cx="3011525" cy="99997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4"/>
          <p:cNvSpPr txBox="1"/>
          <p:nvPr/>
        </p:nvSpPr>
        <p:spPr>
          <a:xfrm>
            <a:off x="600075" y="1466850"/>
            <a:ext cx="7696200" cy="13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Força que a o código seja mais ou menos distribuição normal</a:t>
            </a:r>
            <a:endParaRPr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Função Loss:</a:t>
            </a:r>
            <a:endParaRPr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01" name="Google Shape;20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886225"/>
            <a:ext cx="8839199" cy="894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VAE (2013)</a:t>
            </a:r>
            <a:endParaRPr/>
          </a:p>
        </p:txBody>
      </p:sp>
      <p:pic>
        <p:nvPicPr>
          <p:cNvPr id="207" name="Google Shape;207;p35"/>
          <p:cNvPicPr preferRelativeResize="0"/>
          <p:nvPr/>
        </p:nvPicPr>
        <p:blipFill rotWithShape="1">
          <a:blip r:embed="rId3">
            <a:alphaModFix/>
          </a:blip>
          <a:srcRect b="57479" l="0" r="0" t="0"/>
          <a:stretch/>
        </p:blipFill>
        <p:spPr>
          <a:xfrm>
            <a:off x="5876925" y="47438"/>
            <a:ext cx="3011525" cy="99997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5"/>
          <p:cNvSpPr txBox="1"/>
          <p:nvPr/>
        </p:nvSpPr>
        <p:spPr>
          <a:xfrm>
            <a:off x="600075" y="1466850"/>
            <a:ext cx="7696200" cy="13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Força que a o código seja mais ou menos distribuição normal</a:t>
            </a:r>
            <a:endParaRPr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Função Loss:</a:t>
            </a:r>
            <a:endParaRPr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09" name="Google Shape;20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886225"/>
            <a:ext cx="8839199" cy="894267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5"/>
          <p:cNvSpPr/>
          <p:nvPr/>
        </p:nvSpPr>
        <p:spPr>
          <a:xfrm>
            <a:off x="1800225" y="2943225"/>
            <a:ext cx="4505400" cy="790500"/>
          </a:xfrm>
          <a:prstGeom prst="rect">
            <a:avLst/>
          </a:prstGeom>
          <a:solidFill>
            <a:srgbClr val="FFFF00">
              <a:alpha val="2666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1" name="Google Shape;211;p35"/>
          <p:cNvSpPr txBox="1"/>
          <p:nvPr/>
        </p:nvSpPr>
        <p:spPr>
          <a:xfrm>
            <a:off x="1714500" y="3952875"/>
            <a:ext cx="468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Penaliza, se predição está muito fora de média (</a:t>
            </a:r>
            <a:r>
              <a:rPr lang="en" sz="1200">
                <a:solidFill>
                  <a:srgbClr val="E6E8F0"/>
                </a:solidFill>
                <a:highlight>
                  <a:srgbClr val="1F1F1F"/>
                </a:highlight>
              </a:rPr>
              <a:t>μ)</a:t>
            </a: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0 e desvio padrão (σ) 1 (distribuição normal)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VAE (2013)</a:t>
            </a:r>
            <a:endParaRPr/>
          </a:p>
        </p:txBody>
      </p:sp>
      <p:pic>
        <p:nvPicPr>
          <p:cNvPr id="217" name="Google Shape;217;p36"/>
          <p:cNvPicPr preferRelativeResize="0"/>
          <p:nvPr/>
        </p:nvPicPr>
        <p:blipFill rotWithShape="1">
          <a:blip r:embed="rId3">
            <a:alphaModFix/>
          </a:blip>
          <a:srcRect b="57479" l="0" r="0" t="0"/>
          <a:stretch/>
        </p:blipFill>
        <p:spPr>
          <a:xfrm>
            <a:off x="5876925" y="47438"/>
            <a:ext cx="3011525" cy="99997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6"/>
          <p:cNvSpPr txBox="1"/>
          <p:nvPr/>
        </p:nvSpPr>
        <p:spPr>
          <a:xfrm>
            <a:off x="600075" y="1466850"/>
            <a:ext cx="7696200" cy="13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Força que a o código seja mais ou menos distribuição normal</a:t>
            </a:r>
            <a:endParaRPr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Função Loss:</a:t>
            </a:r>
            <a:endParaRPr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9" name="Google Shape;21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886225"/>
            <a:ext cx="8839199" cy="894267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6"/>
          <p:cNvSpPr/>
          <p:nvPr/>
        </p:nvSpPr>
        <p:spPr>
          <a:xfrm>
            <a:off x="1800225" y="2943225"/>
            <a:ext cx="4505400" cy="790500"/>
          </a:xfrm>
          <a:prstGeom prst="rect">
            <a:avLst/>
          </a:prstGeom>
          <a:solidFill>
            <a:srgbClr val="FFFF00">
              <a:alpha val="2666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1" name="Google Shape;221;p36"/>
          <p:cNvSpPr txBox="1"/>
          <p:nvPr/>
        </p:nvSpPr>
        <p:spPr>
          <a:xfrm>
            <a:off x="1714500" y="3952875"/>
            <a:ext cx="468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Penaliza, se predição está muito fora de média (</a:t>
            </a:r>
            <a:r>
              <a:rPr lang="en" sz="1200">
                <a:solidFill>
                  <a:srgbClr val="E6E8F0"/>
                </a:solidFill>
                <a:highlight>
                  <a:srgbClr val="1F1F1F"/>
                </a:highlight>
              </a:rPr>
              <a:t>μ)</a:t>
            </a: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0 e desvio padrão (σ) 1 (distribuição normal)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534150" y="2943225"/>
            <a:ext cx="2400300" cy="790500"/>
          </a:xfrm>
          <a:prstGeom prst="rect">
            <a:avLst/>
          </a:prstGeom>
          <a:solidFill>
            <a:srgbClr val="D75BCD">
              <a:alpha val="303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3" name="Google Shape;223;p36"/>
          <p:cNvSpPr txBox="1"/>
          <p:nvPr/>
        </p:nvSpPr>
        <p:spPr>
          <a:xfrm>
            <a:off x="6534150" y="3952875"/>
            <a:ext cx="24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Quão ruim ficou a imagem reconstruída?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/>
          <p:nvPr/>
        </p:nvSpPr>
        <p:spPr>
          <a:xfrm>
            <a:off x="1521900" y="1993925"/>
            <a:ext cx="5477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https://colab.research.google.com/github/smartgeometry-ucl/dl4g/blob/master/variational_autoencoder.ipynb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Stable Diffusion: usa VAE?</a:t>
            </a:r>
            <a:endParaRPr/>
          </a:p>
        </p:txBody>
      </p:sp>
      <p:sp>
        <p:nvSpPr>
          <p:cNvPr id="234" name="Google Shape;234;p38"/>
          <p:cNvSpPr txBox="1"/>
          <p:nvPr>
            <p:ph idx="1" type="body"/>
          </p:nvPr>
        </p:nvSpPr>
        <p:spPr>
          <a:xfrm>
            <a:off x="614025" y="1369625"/>
            <a:ext cx="7929000" cy="3603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Sim, na verdade essa figura não é do Stable Diffusion, mas de um outro paper</a:t>
            </a:r>
            <a:endParaRPr/>
          </a:p>
        </p:txBody>
      </p:sp>
      <p:pic>
        <p:nvPicPr>
          <p:cNvPr id="235" name="Google Shape;23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1099" y="1805550"/>
            <a:ext cx="4984863" cy="72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1375" y="2743725"/>
            <a:ext cx="6840825" cy="204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Stable Diffusion: usa VAE?</a:t>
            </a:r>
            <a:endParaRPr/>
          </a:p>
        </p:txBody>
      </p:sp>
      <p:sp>
        <p:nvSpPr>
          <p:cNvPr id="242" name="Google Shape;242;p39"/>
          <p:cNvSpPr txBox="1"/>
          <p:nvPr>
            <p:ph idx="1" type="body"/>
          </p:nvPr>
        </p:nvSpPr>
        <p:spPr>
          <a:xfrm>
            <a:off x="614025" y="1369625"/>
            <a:ext cx="7929000" cy="3603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Sim, na verdade essa figura não é do Stable Diffusion, mas de um outro paper</a:t>
            </a:r>
            <a:endParaRPr/>
          </a:p>
        </p:txBody>
      </p:sp>
      <p:pic>
        <p:nvPicPr>
          <p:cNvPr id="243" name="Google Shape;24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7375" y="2700295"/>
            <a:ext cx="4603624" cy="227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0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Stable Diffusion: usa VAE?</a:t>
            </a:r>
            <a:endParaRPr/>
          </a:p>
        </p:txBody>
      </p:sp>
      <p:pic>
        <p:nvPicPr>
          <p:cNvPr id="249" name="Google Shape;24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6275" y="1490620"/>
            <a:ext cx="4603624" cy="227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0"/>
          <p:cNvSpPr/>
          <p:nvPr/>
        </p:nvSpPr>
        <p:spPr>
          <a:xfrm>
            <a:off x="2295525" y="1533525"/>
            <a:ext cx="581100" cy="1533600"/>
          </a:xfrm>
          <a:prstGeom prst="rect">
            <a:avLst/>
          </a:prstGeom>
          <a:solidFill>
            <a:srgbClr val="FFFF00">
              <a:alpha val="2666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1" name="Google Shape;251;p40"/>
          <p:cNvSpPr txBox="1"/>
          <p:nvPr/>
        </p:nvSpPr>
        <p:spPr>
          <a:xfrm>
            <a:off x="1724025" y="4457700"/>
            <a:ext cx="225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Isso é o VAE</a:t>
            </a:r>
            <a:endParaRPr b="1" sz="2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52" name="Google Shape;252;p40"/>
          <p:cNvCxnSpPr>
            <a:stCxn id="251" idx="0"/>
            <a:endCxn id="250" idx="2"/>
          </p:cNvCxnSpPr>
          <p:nvPr/>
        </p:nvCxnSpPr>
        <p:spPr>
          <a:xfrm rot="10800000">
            <a:off x="2586075" y="3067200"/>
            <a:ext cx="266700" cy="13905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1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Stable Diffusion: usa VAE?</a:t>
            </a:r>
            <a:endParaRPr/>
          </a:p>
        </p:txBody>
      </p:sp>
      <p:pic>
        <p:nvPicPr>
          <p:cNvPr id="258" name="Google Shape;25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6275" y="1490620"/>
            <a:ext cx="4603624" cy="2272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9" name="Google Shape;259;p41"/>
          <p:cNvCxnSpPr/>
          <p:nvPr/>
        </p:nvCxnSpPr>
        <p:spPr>
          <a:xfrm rot="10800000">
            <a:off x="4443525" y="1717100"/>
            <a:ext cx="1550700" cy="23988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0" name="Google Shape;260;p41"/>
          <p:cNvSpPr txBox="1"/>
          <p:nvPr/>
        </p:nvSpPr>
        <p:spPr>
          <a:xfrm>
            <a:off x="4333875" y="4050225"/>
            <a:ext cx="4603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ruído é nos dados do VAE (espaço latente)</a:t>
            </a:r>
            <a:endParaRPr b="1" sz="2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Stable Diffusion: usa VAE?</a:t>
            </a:r>
            <a:endParaRPr/>
          </a:p>
        </p:txBody>
      </p:sp>
      <p:pic>
        <p:nvPicPr>
          <p:cNvPr id="266" name="Google Shape;26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925" y="2817175"/>
            <a:ext cx="2998509" cy="14800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7" name="Google Shape;267;p42"/>
          <p:cNvCxnSpPr/>
          <p:nvPr/>
        </p:nvCxnSpPr>
        <p:spPr>
          <a:xfrm rot="10800000">
            <a:off x="1826782" y="2964718"/>
            <a:ext cx="1009800" cy="1562400"/>
          </a:xfrm>
          <a:prstGeom prst="straightConnector1">
            <a:avLst/>
          </a:prstGeom>
          <a:noFill/>
          <a:ln cap="flat" cmpd="sng" w="248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8" name="Google Shape;268;p42"/>
          <p:cNvSpPr txBox="1"/>
          <p:nvPr/>
        </p:nvSpPr>
        <p:spPr>
          <a:xfrm>
            <a:off x="1755136" y="4484341"/>
            <a:ext cx="2998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59550" lIns="59550" spcFirstLastPara="1" rIns="59550" wrap="square" tIns="595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33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ruído é nos dados do VAE (espaço latente)</a:t>
            </a:r>
            <a:endParaRPr b="1" sz="1433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9" name="Google Shape;269;p42"/>
          <p:cNvSpPr txBox="1"/>
          <p:nvPr>
            <p:ph idx="1" type="body"/>
          </p:nvPr>
        </p:nvSpPr>
        <p:spPr>
          <a:xfrm>
            <a:off x="614025" y="1369625"/>
            <a:ext cx="7929000" cy="3603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Mas se o VAE sai borrado, por que não sai borrado o resultado?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Perceptual Loss: usando diferenças entre embeddings para Loss em vez de pixel</a:t>
            </a:r>
            <a:endParaRPr/>
          </a:p>
        </p:txBody>
      </p:sp>
      <p:sp>
        <p:nvSpPr>
          <p:cNvPr id="275" name="Google Shape;275;p43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499" y="1369624"/>
            <a:ext cx="7797525" cy="245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4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 vez de calcular a diferença dos pixels, calcula a diferença semântica entre embeddings</a:t>
            </a:r>
            <a:endParaRPr/>
          </a:p>
        </p:txBody>
      </p:sp>
      <p:pic>
        <p:nvPicPr>
          <p:cNvPr id="282" name="Google Shape;282;p44"/>
          <p:cNvPicPr preferRelativeResize="0"/>
          <p:nvPr/>
        </p:nvPicPr>
        <p:blipFill rotWithShape="1">
          <a:blip r:embed="rId3">
            <a:alphaModFix/>
          </a:blip>
          <a:srcRect b="0" l="0" r="46464" t="0"/>
          <a:stretch/>
        </p:blipFill>
        <p:spPr>
          <a:xfrm>
            <a:off x="422950" y="1147450"/>
            <a:ext cx="1644225" cy="39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4"/>
          <p:cNvSpPr/>
          <p:nvPr/>
        </p:nvSpPr>
        <p:spPr>
          <a:xfrm>
            <a:off x="1611425" y="1603283"/>
            <a:ext cx="1054575" cy="2881000"/>
          </a:xfrm>
          <a:custGeom>
            <a:rect b="b" l="l" r="r" t="t"/>
            <a:pathLst>
              <a:path extrusionOk="0" h="115240" w="42183">
                <a:moveTo>
                  <a:pt x="14323" y="115240"/>
                </a:moveTo>
                <a:cubicBezTo>
                  <a:pt x="18935" y="104877"/>
                  <a:pt x="44381" y="72269"/>
                  <a:pt x="41994" y="53062"/>
                </a:cubicBezTo>
                <a:cubicBezTo>
                  <a:pt x="39607" y="33855"/>
                  <a:pt x="6999" y="8844"/>
                  <a:pt x="0" y="0"/>
                </a:cubicBezTo>
              </a:path>
            </a:pathLst>
          </a:cu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stealth"/>
            <a:tailEnd len="med" w="med" type="stealth"/>
          </a:ln>
        </p:spPr>
      </p:sp>
      <p:sp>
        <p:nvSpPr>
          <p:cNvPr id="284" name="Google Shape;284;p44"/>
          <p:cNvSpPr txBox="1"/>
          <p:nvPr/>
        </p:nvSpPr>
        <p:spPr>
          <a:xfrm>
            <a:off x="2950200" y="2571750"/>
            <a:ext cx="495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VAE normal usa diferença entre valores de pixel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5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 vez de calcular a diferença dos pixels, calcula a diferença semântica entre embeddings</a:t>
            </a:r>
            <a:endParaRPr/>
          </a:p>
        </p:txBody>
      </p:sp>
      <p:pic>
        <p:nvPicPr>
          <p:cNvPr id="290" name="Google Shape;29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6075" y="1820601"/>
            <a:ext cx="4632251" cy="2563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5"/>
          <p:cNvPicPr preferRelativeResize="0"/>
          <p:nvPr/>
        </p:nvPicPr>
        <p:blipFill rotWithShape="1">
          <a:blip r:embed="rId4">
            <a:alphaModFix/>
          </a:blip>
          <a:srcRect b="0" l="0" r="46464" t="0"/>
          <a:stretch/>
        </p:blipFill>
        <p:spPr>
          <a:xfrm>
            <a:off x="0" y="1138775"/>
            <a:ext cx="1644225" cy="3927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45"/>
          <p:cNvCxnSpPr/>
          <p:nvPr/>
        </p:nvCxnSpPr>
        <p:spPr>
          <a:xfrm>
            <a:off x="1204175" y="1591225"/>
            <a:ext cx="1255800" cy="1049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" name="Google Shape;293;p45"/>
          <p:cNvCxnSpPr/>
          <p:nvPr/>
        </p:nvCxnSpPr>
        <p:spPr>
          <a:xfrm flipH="1" rot="10800000">
            <a:off x="1186950" y="4059800"/>
            <a:ext cx="1118100" cy="412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4" name="Google Shape;294;p45"/>
          <p:cNvSpPr/>
          <p:nvPr/>
        </p:nvSpPr>
        <p:spPr>
          <a:xfrm>
            <a:off x="5435950" y="2994925"/>
            <a:ext cx="318300" cy="316500"/>
          </a:xfrm>
          <a:prstGeom prst="rect">
            <a:avLst/>
          </a:prstGeom>
          <a:solidFill>
            <a:srgbClr val="FFFF00">
              <a:alpha val="2666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6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 vez de calcular a diferença dos pixels, calcula a diferença semântica entre embeddings</a:t>
            </a:r>
            <a:endParaRPr/>
          </a:p>
        </p:txBody>
      </p:sp>
      <p:pic>
        <p:nvPicPr>
          <p:cNvPr id="300" name="Google Shape;30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6075" y="1820601"/>
            <a:ext cx="4632251" cy="2563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6"/>
          <p:cNvPicPr preferRelativeResize="0"/>
          <p:nvPr/>
        </p:nvPicPr>
        <p:blipFill rotWithShape="1">
          <a:blip r:embed="rId4">
            <a:alphaModFix/>
          </a:blip>
          <a:srcRect b="0" l="0" r="46464" t="0"/>
          <a:stretch/>
        </p:blipFill>
        <p:spPr>
          <a:xfrm>
            <a:off x="0" y="1138775"/>
            <a:ext cx="1644225" cy="3927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2" name="Google Shape;302;p46"/>
          <p:cNvCxnSpPr/>
          <p:nvPr/>
        </p:nvCxnSpPr>
        <p:spPr>
          <a:xfrm>
            <a:off x="1204175" y="1591225"/>
            <a:ext cx="1255800" cy="1049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3" name="Google Shape;303;p46"/>
          <p:cNvCxnSpPr/>
          <p:nvPr/>
        </p:nvCxnSpPr>
        <p:spPr>
          <a:xfrm flipH="1" rot="10800000">
            <a:off x="1186950" y="4059800"/>
            <a:ext cx="1118100" cy="412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4" name="Google Shape;304;p46"/>
          <p:cNvSpPr/>
          <p:nvPr/>
        </p:nvSpPr>
        <p:spPr>
          <a:xfrm>
            <a:off x="5435950" y="2994925"/>
            <a:ext cx="318300" cy="316500"/>
          </a:xfrm>
          <a:prstGeom prst="rect">
            <a:avLst/>
          </a:prstGeom>
          <a:solidFill>
            <a:srgbClr val="FFFF00">
              <a:alpha val="2666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05" name="Google Shape;305;p46"/>
          <p:cNvCxnSpPr>
            <a:stCxn id="304" idx="0"/>
            <a:endCxn id="306" idx="1"/>
          </p:cNvCxnSpPr>
          <p:nvPr/>
        </p:nvCxnSpPr>
        <p:spPr>
          <a:xfrm flipH="1" rot="10800000">
            <a:off x="5595100" y="1978225"/>
            <a:ext cx="1913700" cy="10167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06" name="Google Shape;306;p46"/>
          <p:cNvPicPr preferRelativeResize="0"/>
          <p:nvPr/>
        </p:nvPicPr>
        <p:blipFill rotWithShape="1">
          <a:blip r:embed="rId3">
            <a:alphaModFix/>
          </a:blip>
          <a:srcRect b="41885" l="73448" r="19681" t="46505"/>
          <a:stretch/>
        </p:blipFill>
        <p:spPr>
          <a:xfrm>
            <a:off x="7508750" y="1668500"/>
            <a:ext cx="662375" cy="619401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6"/>
          <p:cNvSpPr txBox="1"/>
          <p:nvPr/>
        </p:nvSpPr>
        <p:spPr>
          <a:xfrm>
            <a:off x="7440025" y="1268300"/>
            <a:ext cx="186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original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8" name="Google Shape;308;p46"/>
          <p:cNvPicPr preferRelativeResize="0"/>
          <p:nvPr/>
        </p:nvPicPr>
        <p:blipFill rotWithShape="1">
          <a:blip r:embed="rId3">
            <a:alphaModFix/>
          </a:blip>
          <a:srcRect b="41885" l="73448" r="19681" t="46505"/>
          <a:stretch/>
        </p:blipFill>
        <p:spPr>
          <a:xfrm>
            <a:off x="7508750" y="4266050"/>
            <a:ext cx="662375" cy="61940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6"/>
          <p:cNvSpPr txBox="1"/>
          <p:nvPr/>
        </p:nvSpPr>
        <p:spPr>
          <a:xfrm>
            <a:off x="7440025" y="3865850"/>
            <a:ext cx="186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gerada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10" name="Google Shape;310;p46"/>
          <p:cNvCxnSpPr>
            <a:stCxn id="304" idx="2"/>
            <a:endCxn id="308" idx="1"/>
          </p:cNvCxnSpPr>
          <p:nvPr/>
        </p:nvCxnSpPr>
        <p:spPr>
          <a:xfrm>
            <a:off x="5595100" y="3311425"/>
            <a:ext cx="1913700" cy="1264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 vez de calcular a diferença dos pixels, calcula a diferença semântica entre embeddings</a:t>
            </a:r>
            <a:endParaRPr/>
          </a:p>
        </p:txBody>
      </p:sp>
      <p:pic>
        <p:nvPicPr>
          <p:cNvPr id="316" name="Google Shape;31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6075" y="1820601"/>
            <a:ext cx="4632251" cy="2563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7"/>
          <p:cNvPicPr preferRelativeResize="0"/>
          <p:nvPr/>
        </p:nvPicPr>
        <p:blipFill rotWithShape="1">
          <a:blip r:embed="rId4">
            <a:alphaModFix/>
          </a:blip>
          <a:srcRect b="0" l="0" r="46464" t="0"/>
          <a:stretch/>
        </p:blipFill>
        <p:spPr>
          <a:xfrm>
            <a:off x="0" y="1138775"/>
            <a:ext cx="1644225" cy="3927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8" name="Google Shape;318;p47"/>
          <p:cNvCxnSpPr/>
          <p:nvPr/>
        </p:nvCxnSpPr>
        <p:spPr>
          <a:xfrm>
            <a:off x="1204175" y="1591225"/>
            <a:ext cx="1255800" cy="1049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47"/>
          <p:cNvCxnSpPr/>
          <p:nvPr/>
        </p:nvCxnSpPr>
        <p:spPr>
          <a:xfrm flipH="1" rot="10800000">
            <a:off x="1186950" y="4059800"/>
            <a:ext cx="1118100" cy="412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0" name="Google Shape;320;p47"/>
          <p:cNvSpPr/>
          <p:nvPr/>
        </p:nvSpPr>
        <p:spPr>
          <a:xfrm>
            <a:off x="5435950" y="2994925"/>
            <a:ext cx="318300" cy="316500"/>
          </a:xfrm>
          <a:prstGeom prst="rect">
            <a:avLst/>
          </a:prstGeom>
          <a:solidFill>
            <a:srgbClr val="FFFF00">
              <a:alpha val="2666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21" name="Google Shape;321;p47"/>
          <p:cNvCxnSpPr>
            <a:stCxn id="320" idx="0"/>
            <a:endCxn id="322" idx="1"/>
          </p:cNvCxnSpPr>
          <p:nvPr/>
        </p:nvCxnSpPr>
        <p:spPr>
          <a:xfrm flipH="1" rot="10800000">
            <a:off x="5595100" y="1978225"/>
            <a:ext cx="1913700" cy="10167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22" name="Google Shape;322;p47"/>
          <p:cNvPicPr preferRelativeResize="0"/>
          <p:nvPr/>
        </p:nvPicPr>
        <p:blipFill rotWithShape="1">
          <a:blip r:embed="rId3">
            <a:alphaModFix/>
          </a:blip>
          <a:srcRect b="41885" l="73448" r="19681" t="46505"/>
          <a:stretch/>
        </p:blipFill>
        <p:spPr>
          <a:xfrm>
            <a:off x="7508750" y="1668500"/>
            <a:ext cx="662375" cy="619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7"/>
          <p:cNvSpPr txBox="1"/>
          <p:nvPr/>
        </p:nvSpPr>
        <p:spPr>
          <a:xfrm>
            <a:off x="7440025" y="1268300"/>
            <a:ext cx="186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original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24" name="Google Shape;324;p47"/>
          <p:cNvPicPr preferRelativeResize="0"/>
          <p:nvPr/>
        </p:nvPicPr>
        <p:blipFill rotWithShape="1">
          <a:blip r:embed="rId3">
            <a:alphaModFix/>
          </a:blip>
          <a:srcRect b="41885" l="73448" r="19681" t="46505"/>
          <a:stretch/>
        </p:blipFill>
        <p:spPr>
          <a:xfrm>
            <a:off x="7508750" y="4266050"/>
            <a:ext cx="662375" cy="619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7"/>
          <p:cNvSpPr txBox="1"/>
          <p:nvPr/>
        </p:nvSpPr>
        <p:spPr>
          <a:xfrm>
            <a:off x="7440025" y="3865850"/>
            <a:ext cx="186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gerada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26" name="Google Shape;326;p47"/>
          <p:cNvCxnSpPr>
            <a:stCxn id="320" idx="2"/>
            <a:endCxn id="324" idx="1"/>
          </p:cNvCxnSpPr>
          <p:nvPr/>
        </p:nvCxnSpPr>
        <p:spPr>
          <a:xfrm>
            <a:off x="5595100" y="3311425"/>
            <a:ext cx="1913700" cy="1264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7" name="Google Shape;327;p47"/>
          <p:cNvSpPr/>
          <p:nvPr/>
        </p:nvSpPr>
        <p:spPr>
          <a:xfrm>
            <a:off x="8179725" y="1986875"/>
            <a:ext cx="404250" cy="2554550"/>
          </a:xfrm>
          <a:custGeom>
            <a:rect b="b" l="l" r="r" t="t"/>
            <a:pathLst>
              <a:path extrusionOk="0" h="102182" w="16170">
                <a:moveTo>
                  <a:pt x="0" y="0"/>
                </a:moveTo>
                <a:cubicBezTo>
                  <a:pt x="2695" y="7569"/>
                  <a:pt x="16170" y="28384"/>
                  <a:pt x="16170" y="45414"/>
                </a:cubicBezTo>
                <a:cubicBezTo>
                  <a:pt x="16170" y="62444"/>
                  <a:pt x="2695" y="92721"/>
                  <a:pt x="0" y="102182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stealth"/>
            <a:tailEnd len="med" w="med" type="stealth"/>
          </a:ln>
        </p:spPr>
      </p:sp>
      <p:sp>
        <p:nvSpPr>
          <p:cNvPr id="328" name="Google Shape;328;p47"/>
          <p:cNvSpPr txBox="1"/>
          <p:nvPr/>
        </p:nvSpPr>
        <p:spPr>
          <a:xfrm>
            <a:off x="6932475" y="2876775"/>
            <a:ext cx="165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Loss = diferença</a:t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8"/>
          <p:cNvSpPr txBox="1"/>
          <p:nvPr/>
        </p:nvSpPr>
        <p:spPr>
          <a:xfrm>
            <a:off x="963325" y="1685825"/>
            <a:ext cx="7603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https://colab.research.google.com/drive/1KxZFnTFmRbeBQ6S07wAeHmM2TLVIDUpz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9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Adicionando e removendo ruído (difusão): de onde vem a ideia?</a:t>
            </a:r>
            <a:endParaRPr/>
          </a:p>
        </p:txBody>
      </p:sp>
      <p:sp>
        <p:nvSpPr>
          <p:cNvPr id="339" name="Google Shape;339;p49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0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Modelos probabilísticos</a:t>
            </a:r>
            <a:endParaRPr/>
          </a:p>
        </p:txBody>
      </p:sp>
      <p:sp>
        <p:nvSpPr>
          <p:cNvPr id="345" name="Google Shape;345;p50"/>
          <p:cNvSpPr txBox="1"/>
          <p:nvPr>
            <p:ph idx="1" type="body"/>
          </p:nvPr>
        </p:nvSpPr>
        <p:spPr>
          <a:xfrm>
            <a:off x="614025" y="1369625"/>
            <a:ext cx="7929000" cy="1068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Existe uma probabilidade de que cada um dos pixels esteja pintado ou não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Ex: o pixel do centro quase nunca vai estar pintado quando for 0 ou 9</a:t>
            </a:r>
            <a:endParaRPr/>
          </a:p>
        </p:txBody>
      </p:sp>
      <p:pic>
        <p:nvPicPr>
          <p:cNvPr id="346" name="Google Shape;34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7250" y="2571747"/>
            <a:ext cx="4715776" cy="23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1"/>
          <p:cNvSpPr txBox="1"/>
          <p:nvPr/>
        </p:nvSpPr>
        <p:spPr>
          <a:xfrm>
            <a:off x="1143000" y="2124075"/>
            <a:ext cx="723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https://colab.research.google.com/drive/1oAtqqC8Qc0unxyGX9KtmU17nzoElVwIh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51"/>
          <p:cNvSpPr txBox="1"/>
          <p:nvPr/>
        </p:nvSpPr>
        <p:spPr>
          <a:xfrm>
            <a:off x="371475" y="152400"/>
            <a:ext cx="75438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EFEFE"/>
                </a:solidFill>
                <a:latin typeface="Impact"/>
                <a:ea typeface="Impact"/>
                <a:cs typeface="Impact"/>
                <a:sym typeface="Impact"/>
              </a:rPr>
              <a:t>Modelos probabilísticos:  MNIST médio</a:t>
            </a:r>
            <a:endParaRPr sz="2900">
              <a:solidFill>
                <a:srgbClr val="FEFEFE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2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Modelos probabilísticos</a:t>
            </a:r>
            <a:endParaRPr/>
          </a:p>
        </p:txBody>
      </p:sp>
      <p:sp>
        <p:nvSpPr>
          <p:cNvPr id="358" name="Google Shape;358;p52"/>
          <p:cNvSpPr txBox="1"/>
          <p:nvPr>
            <p:ph idx="1" type="body"/>
          </p:nvPr>
        </p:nvSpPr>
        <p:spPr>
          <a:xfrm>
            <a:off x="614025" y="1369625"/>
            <a:ext cx="7929000" cy="353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Imagem tem muitos pixels, difícil estabelecer uma distribuição dita conjunta (entre todos os pixels simultaneamente)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Modelando apenas o gradiente: para onde os dados estariam (2010)?</a:t>
            </a:r>
            <a:endParaRPr/>
          </a:p>
        </p:txBody>
      </p:sp>
      <p:pic>
        <p:nvPicPr>
          <p:cNvPr id="364" name="Google Shape;36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6350" y="1349476"/>
            <a:ext cx="6696075" cy="33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4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Adicionando ruído e movendo ruído (2015)</a:t>
            </a:r>
            <a:endParaRPr/>
          </a:p>
        </p:txBody>
      </p:sp>
      <p:pic>
        <p:nvPicPr>
          <p:cNvPr id="370" name="Google Shape;37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175" y="1246708"/>
            <a:ext cx="8279325" cy="3801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5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Adicionando ruído e movendo ruído (2015)</a:t>
            </a:r>
            <a:endParaRPr/>
          </a:p>
        </p:txBody>
      </p:sp>
      <p:pic>
        <p:nvPicPr>
          <p:cNvPr id="376" name="Google Shape;37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1092301"/>
            <a:ext cx="4308388" cy="392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6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Melhoras no processo (2020)</a:t>
            </a:r>
            <a:endParaRPr/>
          </a:p>
        </p:txBody>
      </p:sp>
      <p:pic>
        <p:nvPicPr>
          <p:cNvPr id="382" name="Google Shape;38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2326"/>
            <a:ext cx="8839201" cy="2735519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56"/>
          <p:cNvSpPr txBox="1"/>
          <p:nvPr/>
        </p:nvSpPr>
        <p:spPr>
          <a:xfrm>
            <a:off x="323850" y="4219575"/>
            <a:ext cx="468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7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Melhoras no processo (2020)</a:t>
            </a:r>
            <a:endParaRPr/>
          </a:p>
        </p:txBody>
      </p:sp>
      <p:sp>
        <p:nvSpPr>
          <p:cNvPr id="389" name="Google Shape;389;p57"/>
          <p:cNvSpPr txBox="1"/>
          <p:nvPr/>
        </p:nvSpPr>
        <p:spPr>
          <a:xfrm>
            <a:off x="323850" y="4219575"/>
            <a:ext cx="468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90" name="Google Shape;39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2550" y="1435200"/>
            <a:ext cx="5438775" cy="347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8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Melhoras no processo (2020)</a:t>
            </a:r>
            <a:endParaRPr/>
          </a:p>
        </p:txBody>
      </p:sp>
      <p:sp>
        <p:nvSpPr>
          <p:cNvPr id="396" name="Google Shape;396;p58"/>
          <p:cNvSpPr txBox="1"/>
          <p:nvPr/>
        </p:nvSpPr>
        <p:spPr>
          <a:xfrm>
            <a:off x="323850" y="4219575"/>
            <a:ext cx="468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7" name="Google Shape;397;p58"/>
          <p:cNvSpPr txBox="1"/>
          <p:nvPr>
            <p:ph idx="1" type="body"/>
          </p:nvPr>
        </p:nvSpPr>
        <p:spPr>
          <a:xfrm>
            <a:off x="614025" y="1369625"/>
            <a:ext cx="7929000" cy="345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Adicionar ruído de maneira fixa (usando distribuição normal/gaussiana)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Treinamento: treino para predizer o gradiente do ruído e não para predizer o gradiente da imagem (mais estável)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9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Stable Diffusion</a:t>
            </a:r>
            <a:endParaRPr/>
          </a:p>
        </p:txBody>
      </p:sp>
      <p:sp>
        <p:nvSpPr>
          <p:cNvPr id="403" name="Google Shape;403;p59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4" name="Google Shape;40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" y="400050"/>
            <a:ext cx="8839199" cy="1707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7297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450" y="465493"/>
            <a:ext cx="8141373" cy="118865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61"/>
          <p:cNvSpPr txBox="1"/>
          <p:nvPr/>
        </p:nvSpPr>
        <p:spPr>
          <a:xfrm>
            <a:off x="785350" y="2179075"/>
            <a:ext cx="7278300" cy="2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 modelo aprende o sentido (localidade no espaço em que os dados se encontram)</a:t>
            </a:r>
            <a:endParaRPr sz="17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2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Vantagem em relação ao VAE puro com Perceptual Loss</a:t>
            </a:r>
            <a:endParaRPr/>
          </a:p>
        </p:txBody>
      </p:sp>
      <p:sp>
        <p:nvSpPr>
          <p:cNvPr id="421" name="Google Shape;421;p62"/>
          <p:cNvSpPr txBox="1"/>
          <p:nvPr>
            <p:ph idx="1" type="body"/>
          </p:nvPr>
        </p:nvSpPr>
        <p:spPr>
          <a:xfrm>
            <a:off x="614025" y="1369625"/>
            <a:ext cx="7929000" cy="3486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O método de denoise aumenta a capacidade de gerar maior variabilidade nos dados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3"/>
          <p:cNvSpPr txBox="1"/>
          <p:nvPr/>
        </p:nvSpPr>
        <p:spPr>
          <a:xfrm>
            <a:off x="1248150" y="2000250"/>
            <a:ext cx="6257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https://colab.research.google.com/drive/1j6Q1yhCR4B2Pm62sRWLx0GYghZqLScC5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4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Referências</a:t>
            </a:r>
            <a:endParaRPr/>
          </a:p>
        </p:txBody>
      </p:sp>
      <p:sp>
        <p:nvSpPr>
          <p:cNvPr id="432" name="Google Shape;432;p64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Artigo Original das GANs  - Goodfellow et al., 2014: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https://arxiv.org/abs/1406.2661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TensorFlow Tutorials 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https://www.tensorflow.org/tutorials/generative/dcgan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HuggingFace GAN: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https://huggingface.co/learn/computer-vision-course/en/unit5/generative-models/gans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itável">
  <a:themeElements>
    <a:clrScheme name="Personalizada 1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359E45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