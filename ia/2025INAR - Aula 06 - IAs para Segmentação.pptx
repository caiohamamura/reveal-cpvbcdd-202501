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EB Garamond"/>
      <p:regular r:id="rId19"/>
      <p:bold r:id="rId20"/>
      <p:italic r:id="rId21"/>
      <p:boldItalic r:id="rId22"/>
    </p:embeddedFont>
    <p:embeddedFont>
      <p:font typeface="Century Gothic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BGaramond-bold.fntdata"/><Relationship Id="rId22" Type="http://schemas.openxmlformats.org/officeDocument/2006/relationships/font" Target="fonts/EBGaramond-boldItalic.fntdata"/><Relationship Id="rId21" Type="http://schemas.openxmlformats.org/officeDocument/2006/relationships/font" Target="fonts/EBGaramond-italic.fntdata"/><Relationship Id="rId24" Type="http://schemas.openxmlformats.org/officeDocument/2006/relationships/font" Target="fonts/CenturyGothic-bold.fntdata"/><Relationship Id="rId23" Type="http://schemas.openxmlformats.org/officeDocument/2006/relationships/font" Target="fonts/CenturyGothic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boldItalic.fntdata"/><Relationship Id="rId25" Type="http://schemas.openxmlformats.org/officeDocument/2006/relationships/font" Target="fonts/CenturyGothic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EBGaramond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68f8e980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d68f8e980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e8cf87e7d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e8cf87e7d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e8cf87e7d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e8cf87e7d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e8cf87e7d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e8cf87e7d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e8cf87e7d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7e8cf87e7d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e8cf87e7d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e8cf87e7d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e8cf87e7d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7e8cf87e7d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0ce6073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0ce6073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-2381"/>
            <a:ext cx="9144000" cy="3902869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607501" y="1086860"/>
            <a:ext cx="7929000" cy="2228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Roboto"/>
              <a:buNone/>
              <a:defRPr b="0" sz="41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5225" y="3843125"/>
            <a:ext cx="3110024" cy="11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b="0" sz="290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EB Garamond"/>
              <a:buChar char="○"/>
              <a:defRPr sz="18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238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EB Garamond"/>
              <a:buChar char="■"/>
              <a:defRPr sz="1500"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 sz="1400"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 sz="1400"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a numerada">
  <p:cSld name="OBJECT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607500" y="167975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b="0" sz="290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26" name="Google Shape;26;p4"/>
          <p:cNvSpPr/>
          <p:nvPr/>
        </p:nvSpPr>
        <p:spPr>
          <a:xfrm>
            <a:off x="607500" y="1555104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07500" y="2258791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07500" y="2962479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07500" y="3666166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07500" y="4369854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1275175" y="15550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1275175" y="22587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275175" y="29624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275175" y="36661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1275175" y="43698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1"/>
            <a:ext cx="9144000" cy="3902869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Roboto"/>
              <a:buNone/>
              <a:defRPr b="0" sz="3600" cap="none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409450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794225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artes de Conteúdo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22085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326310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  <p:sp>
        <p:nvSpPr>
          <p:cNvPr id="54" name="Google Shape;54;p8"/>
          <p:cNvSpPr txBox="1"/>
          <p:nvPr>
            <p:ph idx="3" type="body"/>
          </p:nvPr>
        </p:nvSpPr>
        <p:spPr>
          <a:xfrm>
            <a:off x="6265925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804875" y="334571"/>
            <a:ext cx="2660653" cy="86285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804875" y="334575"/>
            <a:ext cx="2660700" cy="684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500"/>
              <a:buFont typeface="Open Sans"/>
              <a:buNone/>
              <a:defRPr b="1" sz="15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3641725" y="334566"/>
            <a:ext cx="4689600" cy="406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804863" y="1695553"/>
            <a:ext cx="2660700" cy="270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611046" y="545642"/>
            <a:ext cx="3639600" cy="1212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b="0"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1"/>
          <p:cNvSpPr/>
          <p:nvPr>
            <p:ph idx="2" type="pic"/>
          </p:nvPr>
        </p:nvSpPr>
        <p:spPr>
          <a:xfrm>
            <a:off x="4573588" y="0"/>
            <a:ext cx="4570500" cy="5143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611046" y="1758513"/>
            <a:ext cx="3639600" cy="2637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Panorâmica com Legenda">
  <p:cSld name="Foto Panorâmica com Legenda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607500" y="3600450"/>
            <a:ext cx="7921200" cy="42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b="0"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2"/>
          <p:cNvSpPr/>
          <p:nvPr>
            <p:ph idx="2" type="pic"/>
          </p:nvPr>
        </p:nvSpPr>
        <p:spPr>
          <a:xfrm>
            <a:off x="0" y="0"/>
            <a:ext cx="9144000" cy="36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607500" y="4025504"/>
            <a:ext cx="7921200" cy="370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>
  <p:cSld name="Citação com Legenda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/>
          <p:nvPr/>
        </p:nvSpPr>
        <p:spPr>
          <a:xfrm>
            <a:off x="473773" y="811092"/>
            <a:ext cx="4749309" cy="2429389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3"/>
          <p:cNvSpPr txBox="1"/>
          <p:nvPr>
            <p:ph type="title"/>
          </p:nvPr>
        </p:nvSpPr>
        <p:spPr>
          <a:xfrm>
            <a:off x="638239" y="928876"/>
            <a:ext cx="4420500" cy="1984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Open Sans"/>
              <a:buNone/>
              <a:defRPr b="1" sz="3200" cap="none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639900" y="3332730"/>
            <a:ext cx="4418700" cy="1608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2" type="body"/>
          </p:nvPr>
        </p:nvSpPr>
        <p:spPr>
          <a:xfrm>
            <a:off x="5680982" y="811092"/>
            <a:ext cx="2857500" cy="3056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>
  <p:cSld name="Cartão de Nom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>
            <a:off x="855663" y="1714939"/>
            <a:ext cx="3671335" cy="1877979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4"/>
          <p:cNvSpPr txBox="1"/>
          <p:nvPr>
            <p:ph type="title"/>
          </p:nvPr>
        </p:nvSpPr>
        <p:spPr>
          <a:xfrm>
            <a:off x="1017817" y="1826968"/>
            <a:ext cx="3286800" cy="150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Open Sans"/>
              <a:buNone/>
              <a:defRPr sz="24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4617000" y="1714500"/>
            <a:ext cx="3660300" cy="1721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0"/>
            <a:ext cx="9144000" cy="1639491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 rot="5400000">
            <a:off x="3190864" y="-944999"/>
            <a:ext cx="2755800" cy="7922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5752238" y="334567"/>
            <a:ext cx="3391764" cy="4061221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6"/>
          <p:cNvSpPr txBox="1"/>
          <p:nvPr>
            <p:ph type="title"/>
          </p:nvPr>
        </p:nvSpPr>
        <p:spPr>
          <a:xfrm rot="5400000">
            <a:off x="5147648" y="1429628"/>
            <a:ext cx="3851100" cy="187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 rot="5400000">
            <a:off x="1056256" y="-114233"/>
            <a:ext cx="4061100" cy="4958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235500" y="1402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59300" y="923875"/>
            <a:ext cx="8821500" cy="3852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92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Font typeface="EB Garamond"/>
              <a:buChar char="○"/>
              <a:defRPr sz="19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EB Garamond"/>
              <a:buChar char="■"/>
              <a:defRPr sz="1800">
                <a:latin typeface="EB Garamond"/>
                <a:ea typeface="EB Garamond"/>
                <a:cs typeface="EB Garamond"/>
                <a:sym typeface="EB Garamond"/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5pPr>
            <a:lvl6pPr indent="-3302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6pPr>
            <a:lvl7pPr indent="-3302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7pPr>
            <a:lvl8pPr indent="-3302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8pPr>
            <a:lvl9pPr indent="-3302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93" name="Google Shape;93;p18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?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200"/>
              <a:buChar char="?"/>
              <a:defRPr sz="1200"/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Century Gothic"/>
              <a:buNone/>
              <a:defRPr b="1" i="0" sz="3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7500" y="1638301"/>
            <a:ext cx="7922400" cy="27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🞆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hyperlink" Target="https://arxiv.org/pdf/1505.04597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hyperlink" Target="https://www.robots.ox.ac.uk/~vgg/software/via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ctrTitle"/>
          </p:nvPr>
        </p:nvSpPr>
        <p:spPr>
          <a:xfrm>
            <a:off x="591985" y="1086860"/>
            <a:ext cx="7929000" cy="2228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IAs para Segmentação </a:t>
            </a:r>
            <a:endParaRPr sz="3900"/>
          </a:p>
        </p:txBody>
      </p:sp>
      <p:sp>
        <p:nvSpPr>
          <p:cNvPr id="105" name="Google Shape;105;p21"/>
          <p:cNvSpPr txBox="1"/>
          <p:nvPr>
            <p:ph idx="1" type="subTitle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Prof. Caio Hamamura</a:t>
            </a:r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7486374" y="170683"/>
            <a:ext cx="13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Aula 07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9750" y="545667"/>
            <a:ext cx="2998314" cy="175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644" y="485675"/>
            <a:ext cx="3043968" cy="1756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Contexto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Já vimos como obter informações de imagens: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CNN: classificação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Mas e se eu quiser fazer uma análise mais profunda do que tem na imagem: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 se a imagem tiver cachorros e gatos?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Quanto de cada um existe?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Onde estão eles na imagem?</a:t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4575" y="3231076"/>
            <a:ext cx="1574200" cy="157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que segmentação?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325" y="444825"/>
            <a:ext cx="1908746" cy="1908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4124" y="510099"/>
            <a:ext cx="4435150" cy="155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 problema clássico: hemogramas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Quantas células existem?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Hemácias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Glóbulos brancos:</a:t>
            </a:r>
            <a:endParaRPr/>
          </a:p>
          <a:p>
            <a:pPr indent="-323850" lvl="2" marL="1371600" rtl="0" algn="l">
              <a:spcBef>
                <a:spcPts val="100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Eosinófilos</a:t>
            </a:r>
            <a:endParaRPr/>
          </a:p>
          <a:p>
            <a:pPr indent="-323850" lvl="2" marL="1371600" rtl="0" algn="l">
              <a:spcBef>
                <a:spcPts val="100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Neutrófilos</a:t>
            </a:r>
            <a:endParaRPr/>
          </a:p>
          <a:p>
            <a:pPr indent="-323850" lvl="2" marL="1371600" rtl="0" algn="l">
              <a:spcBef>
                <a:spcPts val="100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Linfócitos</a:t>
            </a:r>
            <a:endParaRPr/>
          </a:p>
          <a:p>
            <a:pPr indent="-323850" lvl="2" marL="1371600" rtl="0" algn="l">
              <a:spcBef>
                <a:spcPts val="100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...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Plaquetas</a:t>
            </a: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8388" y="3302725"/>
            <a:ext cx="271462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6638" y="1309400"/>
            <a:ext cx="2524125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fazia antigamente</a:t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813" y="2064150"/>
            <a:ext cx="271462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9480" y="2064151"/>
            <a:ext cx="2714625" cy="1685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25"/>
          <p:cNvCxnSpPr>
            <a:stCxn id="137" idx="3"/>
            <a:endCxn id="138" idx="1"/>
          </p:cNvCxnSpPr>
          <p:nvPr/>
        </p:nvCxnSpPr>
        <p:spPr>
          <a:xfrm>
            <a:off x="2883438" y="2907113"/>
            <a:ext cx="375900" cy="0"/>
          </a:xfrm>
          <a:prstGeom prst="straightConnector1">
            <a:avLst/>
          </a:prstGeom>
          <a:noFill/>
          <a:ln cap="flat" cmpd="sng" w="38100">
            <a:solidFill>
              <a:srgbClr val="359E4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25"/>
          <p:cNvSpPr txBox="1"/>
          <p:nvPr/>
        </p:nvSpPr>
        <p:spPr>
          <a:xfrm>
            <a:off x="2365325" y="4042550"/>
            <a:ext cx="178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de Mediana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1" name="Google Shape;141;p25"/>
          <p:cNvCxnSpPr>
            <a:stCxn id="138" idx="3"/>
            <a:endCxn id="142" idx="1"/>
          </p:cNvCxnSpPr>
          <p:nvPr/>
        </p:nvCxnSpPr>
        <p:spPr>
          <a:xfrm>
            <a:off x="5974105" y="2907114"/>
            <a:ext cx="393300" cy="0"/>
          </a:xfrm>
          <a:prstGeom prst="straightConnector1">
            <a:avLst/>
          </a:prstGeom>
          <a:noFill/>
          <a:ln cap="flat" cmpd="sng" w="38100">
            <a:solidFill>
              <a:srgbClr val="359E4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5"/>
          <p:cNvSpPr txBox="1"/>
          <p:nvPr/>
        </p:nvSpPr>
        <p:spPr>
          <a:xfrm>
            <a:off x="5478950" y="4042550"/>
            <a:ext cx="148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Escolha por tonalidade 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7338" y="2064151"/>
            <a:ext cx="2714625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Analisando as imagens com deep learning (CNNs)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874" y="355299"/>
            <a:ext cx="4435150" cy="155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07275"/>
            <a:ext cx="8839204" cy="302984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/>
        </p:nvSpPr>
        <p:spPr>
          <a:xfrm>
            <a:off x="2846975" y="11525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https://arxiv.org/pdf/1505.04597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7"/>
          <p:cNvSpPr txBox="1"/>
          <p:nvPr>
            <p:ph idx="4294967295"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U-Net (2015)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Treinando a segmentação</a:t>
            </a:r>
            <a:endParaRPr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200" y="1369625"/>
            <a:ext cx="8686800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8"/>
          <p:cNvSpPr txBox="1"/>
          <p:nvPr/>
        </p:nvSpPr>
        <p:spPr>
          <a:xfrm>
            <a:off x="352650" y="4704852"/>
            <a:ext cx="670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https://www.robots.ox.ac.uk/~vgg/software/via/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Roboflow</a:t>
            </a:r>
            <a:endParaRPr/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itável">
  <a:themeElements>
    <a:clrScheme name="Personalizada 1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359E45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