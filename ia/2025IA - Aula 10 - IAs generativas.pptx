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EB Garamond"/>
      <p:regular r:id="rId26"/>
      <p:bold r:id="rId27"/>
      <p:italic r:id="rId28"/>
      <p:boldItalic r:id="rId29"/>
    </p:embeddedFont>
    <p:embeddedFont>
      <p:font typeface="Oswald"/>
      <p:regular r:id="rId30"/>
      <p:bold r:id="rId31"/>
    </p:embeddedFont>
    <p:embeddedFont>
      <p:font typeface="Century Gothic"/>
      <p:regular r:id="rId32"/>
      <p:bold r:id="rId33"/>
      <p:italic r:id="rId34"/>
      <p:boldItalic r:id="rId35"/>
    </p:embeddedFont>
    <p:embeddedFont>
      <p:font typeface="Open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BGaramond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EBGaramond-italic.fntdata"/><Relationship Id="rId27" Type="http://schemas.openxmlformats.org/officeDocument/2006/relationships/font" Target="fonts/EBGaramon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EBGaramon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swald-bold.fntdata"/><Relationship Id="rId30" Type="http://schemas.openxmlformats.org/officeDocument/2006/relationships/font" Target="fonts/Oswald-regular.fntdata"/><Relationship Id="rId11" Type="http://schemas.openxmlformats.org/officeDocument/2006/relationships/slide" Target="slides/slide6.xml"/><Relationship Id="rId33" Type="http://schemas.openxmlformats.org/officeDocument/2006/relationships/font" Target="fonts/CenturyGothic-bold.fntdata"/><Relationship Id="rId10" Type="http://schemas.openxmlformats.org/officeDocument/2006/relationships/slide" Target="slides/slide5.xml"/><Relationship Id="rId32" Type="http://schemas.openxmlformats.org/officeDocument/2006/relationships/font" Target="fonts/CenturyGothic-regular.fntdata"/><Relationship Id="rId13" Type="http://schemas.openxmlformats.org/officeDocument/2006/relationships/slide" Target="slides/slide8.xml"/><Relationship Id="rId35" Type="http://schemas.openxmlformats.org/officeDocument/2006/relationships/font" Target="fonts/CenturyGothic-boldItalic.fntdata"/><Relationship Id="rId12" Type="http://schemas.openxmlformats.org/officeDocument/2006/relationships/slide" Target="slides/slide7.xml"/><Relationship Id="rId34" Type="http://schemas.openxmlformats.org/officeDocument/2006/relationships/font" Target="fonts/CenturyGothic-italic.fntdata"/><Relationship Id="rId15" Type="http://schemas.openxmlformats.org/officeDocument/2006/relationships/slide" Target="slides/slide10.xml"/><Relationship Id="rId37" Type="http://schemas.openxmlformats.org/officeDocument/2006/relationships/font" Target="fonts/OpenSans-bold.fntdata"/><Relationship Id="rId14" Type="http://schemas.openxmlformats.org/officeDocument/2006/relationships/slide" Target="slides/slide9.xml"/><Relationship Id="rId36" Type="http://schemas.openxmlformats.org/officeDocument/2006/relationships/font" Target="fonts/OpenSans-regular.fntdata"/><Relationship Id="rId17" Type="http://schemas.openxmlformats.org/officeDocument/2006/relationships/slide" Target="slides/slide12.xml"/><Relationship Id="rId39" Type="http://schemas.openxmlformats.org/officeDocument/2006/relationships/font" Target="fonts/OpenSans-boldItalic.fntdata"/><Relationship Id="rId16" Type="http://schemas.openxmlformats.org/officeDocument/2006/relationships/slide" Target="slides/slide11.xml"/><Relationship Id="rId38" Type="http://schemas.openxmlformats.org/officeDocument/2006/relationships/font" Target="fonts/OpenSans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d68f8e980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d68f8e980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fbd72f7e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1fbd72f7e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1fbd72f7e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1fbd72f7e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fbd72f7e5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1fbd72f7e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1fbd72f7e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1fbd72f7e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14a6ae90c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614a6ae90c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1fbd72f7e5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1fbd72f7e5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1fbd72f7e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1fbd72f7e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14a6ae90c_7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614a6ae90c_7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1fbd72f7e5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1fbd72f7e5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1fbd72f7e5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1fbd72f7e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1fbd72f7e5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1fbd72f7e5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14a6ae90c_7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614a6ae90c_7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8b0a76035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8b0a7603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614d815e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614d815e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-2381"/>
            <a:ext cx="9144000" cy="3902869"/>
          </a:xfrm>
          <a:custGeom>
            <a:rect b="b" l="l" r="r" t="t"/>
            <a:pathLst>
              <a:path extrusionOk="0" h="3278" w="576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607501" y="1086860"/>
            <a:ext cx="7929000" cy="2228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Roboto"/>
              <a:buNone/>
              <a:defRPr b="0" sz="41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07501" y="3960635"/>
            <a:ext cx="7929000" cy="32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7000970" y="4531022"/>
            <a:ext cx="100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338635" y="4531022"/>
            <a:ext cx="648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008748" y="4436916"/>
            <a:ext cx="796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5225" y="3843125"/>
            <a:ext cx="3110024" cy="111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128229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900"/>
              <a:buFont typeface="Impact"/>
              <a:buNone/>
              <a:defRPr b="0" sz="2900">
                <a:latin typeface="Impact"/>
                <a:ea typeface="Impact"/>
                <a:cs typeface="Impact"/>
                <a:sym typeface="Impac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EB Garamond"/>
              <a:buChar char="●"/>
              <a:defRPr sz="2100">
                <a:latin typeface="EB Garamond"/>
                <a:ea typeface="EB Garamond"/>
                <a:cs typeface="EB Garamond"/>
                <a:sym typeface="EB Garamond"/>
              </a:defRPr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EB Garamond"/>
              <a:buChar char="○"/>
              <a:defRPr sz="1800">
                <a:latin typeface="EB Garamond"/>
                <a:ea typeface="EB Garamond"/>
                <a:cs typeface="EB Garamond"/>
                <a:sym typeface="EB Garamond"/>
              </a:defRPr>
            </a:lvl2pPr>
            <a:lvl3pPr indent="-32385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EB Garamond"/>
              <a:buChar char="■"/>
              <a:defRPr sz="1500">
                <a:latin typeface="EB Garamond"/>
                <a:ea typeface="EB Garamond"/>
                <a:cs typeface="EB Garamond"/>
                <a:sym typeface="EB Garamond"/>
              </a:defRPr>
            </a:lvl3pPr>
            <a:lvl4pPr indent="-3175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●"/>
              <a:defRPr sz="1400">
                <a:latin typeface="EB Garamond"/>
                <a:ea typeface="EB Garamond"/>
                <a:cs typeface="EB Garamond"/>
                <a:sym typeface="EB Garamond"/>
              </a:defRPr>
            </a:lvl4pPr>
            <a:lvl5pPr indent="-3175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○"/>
              <a:defRPr sz="1400">
                <a:latin typeface="EB Garamond"/>
                <a:ea typeface="EB Garamond"/>
                <a:cs typeface="EB Garamond"/>
                <a:sym typeface="EB Garamond"/>
              </a:defRPr>
            </a:lvl5pPr>
            <a:lvl6pPr indent="-3175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■"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indent="-3175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●"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indent="-3175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○"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indent="-3175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■"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a numerada">
  <p:cSld name="OBJECT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1282294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>
            <p:ph type="title"/>
          </p:nvPr>
        </p:nvSpPr>
        <p:spPr>
          <a:xfrm>
            <a:off x="607500" y="167975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900"/>
              <a:buFont typeface="Impact"/>
              <a:buNone/>
              <a:defRPr b="0" sz="2900">
                <a:latin typeface="Impact"/>
                <a:ea typeface="Impact"/>
                <a:cs typeface="Impact"/>
                <a:sym typeface="Impac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9pPr>
          </a:lstStyle>
          <a:p/>
        </p:txBody>
      </p:sp>
      <p:sp>
        <p:nvSpPr>
          <p:cNvPr id="26" name="Google Shape;26;p4"/>
          <p:cNvSpPr/>
          <p:nvPr/>
        </p:nvSpPr>
        <p:spPr>
          <a:xfrm>
            <a:off x="607500" y="1555104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607500" y="2258791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607500" y="2962479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3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07500" y="3666166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4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07500" y="4369854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5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1275175" y="15550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1275175" y="22587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1275175" y="29624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1275175" y="36661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1275175" y="43698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0" y="1"/>
            <a:ext cx="9144000" cy="3902869"/>
          </a:xfrm>
          <a:custGeom>
            <a:rect b="b" l="l" r="r" t="t"/>
            <a:pathLst>
              <a:path extrusionOk="0" h="3278" w="576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5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Roboto"/>
              <a:buNone/>
              <a:defRPr b="0" sz="3600" cap="none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Roboto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7000970" y="4531022"/>
            <a:ext cx="100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338635" y="4531022"/>
            <a:ext cx="648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008748" y="4436916"/>
            <a:ext cx="796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25" y="5281"/>
            <a:ext cx="9144000" cy="1388037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409450" y="2729548"/>
            <a:ext cx="38895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AutoNum type="arabicPeriod"/>
              <a:defRPr sz="1800"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AutoNum type="romanLcPeriod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rabicPeriod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4794225" y="2729548"/>
            <a:ext cx="38895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AutoNum type="arabicPeriod"/>
              <a:defRPr sz="1800"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AutoNum type="romanLcPeriod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rabicPeriod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artes de Conteúdo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25" y="5281"/>
            <a:ext cx="9144000" cy="1388037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8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220850" y="2729550"/>
            <a:ext cx="26178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AutoNum type="alphaLcPeriod"/>
              <a:defRPr sz="900"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AutoNum type="romanLcPeriod"/>
              <a:defRPr sz="800">
                <a:latin typeface="Open Sans"/>
                <a:ea typeface="Open Sans"/>
                <a:cs typeface="Open Sans"/>
                <a:sym typeface="Open Sans"/>
              </a:defRPr>
            </a:lvl3pPr>
            <a:lvl4pPr indent="-2667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rabicPeriod"/>
              <a:defRPr sz="600">
                <a:latin typeface="Open Sans"/>
                <a:ea typeface="Open Sans"/>
                <a:cs typeface="Open Sans"/>
                <a:sym typeface="Open Sans"/>
              </a:defRPr>
            </a:lvl4pPr>
            <a:lvl5pPr indent="-2667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lphaLcPeriod"/>
              <a:defRPr sz="600">
                <a:latin typeface="Open Sans"/>
                <a:ea typeface="Open Sans"/>
                <a:cs typeface="Open Sans"/>
                <a:sym typeface="Open Sans"/>
              </a:defRPr>
            </a:lvl5pPr>
            <a:lvl6pPr indent="-2984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romanLcPeriod"/>
              <a:defRPr sz="600"/>
            </a:lvl6pPr>
            <a:lvl7pPr indent="-2984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600"/>
            </a:lvl7pPr>
            <a:lvl8pPr indent="-2984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lphaLcPeriod"/>
              <a:defRPr sz="600"/>
            </a:lvl8pPr>
            <a:lvl9pPr indent="-298450" lvl="8" marL="4114800" algn="l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ts val="1100"/>
              <a:buAutoNum type="romanLcPeriod"/>
              <a:defRPr sz="600"/>
            </a:lvl9pPr>
          </a:lstStyle>
          <a:p/>
        </p:txBody>
      </p:sp>
      <p:sp>
        <p:nvSpPr>
          <p:cNvPr id="53" name="Google Shape;53;p8"/>
          <p:cNvSpPr txBox="1"/>
          <p:nvPr>
            <p:ph idx="2" type="body"/>
          </p:nvPr>
        </p:nvSpPr>
        <p:spPr>
          <a:xfrm>
            <a:off x="3263100" y="2729550"/>
            <a:ext cx="26178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AutoNum type="alphaLcPeriod"/>
              <a:defRPr sz="900"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AutoNum type="romanLcPeriod"/>
              <a:defRPr sz="800">
                <a:latin typeface="Open Sans"/>
                <a:ea typeface="Open Sans"/>
                <a:cs typeface="Open Sans"/>
                <a:sym typeface="Open Sans"/>
              </a:defRPr>
            </a:lvl3pPr>
            <a:lvl4pPr indent="-2667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rabicPeriod"/>
              <a:defRPr sz="600">
                <a:latin typeface="Open Sans"/>
                <a:ea typeface="Open Sans"/>
                <a:cs typeface="Open Sans"/>
                <a:sym typeface="Open Sans"/>
              </a:defRPr>
            </a:lvl4pPr>
            <a:lvl5pPr indent="-2667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lphaLcPeriod"/>
              <a:defRPr sz="600">
                <a:latin typeface="Open Sans"/>
                <a:ea typeface="Open Sans"/>
                <a:cs typeface="Open Sans"/>
                <a:sym typeface="Open Sans"/>
              </a:defRPr>
            </a:lvl5pPr>
            <a:lvl6pPr indent="-2984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romanLcPeriod"/>
              <a:defRPr sz="600"/>
            </a:lvl6pPr>
            <a:lvl7pPr indent="-2984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600"/>
            </a:lvl7pPr>
            <a:lvl8pPr indent="-2984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lphaLcPeriod"/>
              <a:defRPr sz="600"/>
            </a:lvl8pPr>
            <a:lvl9pPr indent="-298450" lvl="8" marL="4114800" algn="l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ts val="1100"/>
              <a:buAutoNum type="romanLcPeriod"/>
              <a:defRPr sz="600"/>
            </a:lvl9pPr>
          </a:lstStyle>
          <a:p/>
        </p:txBody>
      </p:sp>
      <p:sp>
        <p:nvSpPr>
          <p:cNvPr id="54" name="Google Shape;54;p8"/>
          <p:cNvSpPr txBox="1"/>
          <p:nvPr>
            <p:ph idx="3" type="body"/>
          </p:nvPr>
        </p:nvSpPr>
        <p:spPr>
          <a:xfrm>
            <a:off x="6265925" y="2729550"/>
            <a:ext cx="26178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AutoNum type="alphaLcPeriod"/>
              <a:defRPr sz="900"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AutoNum type="romanLcPeriod"/>
              <a:defRPr sz="800">
                <a:latin typeface="Open Sans"/>
                <a:ea typeface="Open Sans"/>
                <a:cs typeface="Open Sans"/>
                <a:sym typeface="Open Sans"/>
              </a:defRPr>
            </a:lvl3pPr>
            <a:lvl4pPr indent="-2667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rabicPeriod"/>
              <a:defRPr sz="600">
                <a:latin typeface="Open Sans"/>
                <a:ea typeface="Open Sans"/>
                <a:cs typeface="Open Sans"/>
                <a:sym typeface="Open Sans"/>
              </a:defRPr>
            </a:lvl4pPr>
            <a:lvl5pPr indent="-2667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lphaLcPeriod"/>
              <a:defRPr sz="600">
                <a:latin typeface="Open Sans"/>
                <a:ea typeface="Open Sans"/>
                <a:cs typeface="Open Sans"/>
                <a:sym typeface="Open Sans"/>
              </a:defRPr>
            </a:lvl5pPr>
            <a:lvl6pPr indent="-2984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romanLcPeriod"/>
              <a:defRPr sz="600"/>
            </a:lvl6pPr>
            <a:lvl7pPr indent="-2984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600"/>
            </a:lvl7pPr>
            <a:lvl8pPr indent="-2984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lphaLcPeriod"/>
              <a:defRPr sz="600"/>
            </a:lvl8pPr>
            <a:lvl9pPr indent="-298450" lvl="8" marL="4114800" algn="l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ts val="1100"/>
              <a:buAutoNum type="romanLcPeriod"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25" y="5281"/>
            <a:ext cx="9144000" cy="1388037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9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>
            <a:off x="804875" y="334571"/>
            <a:ext cx="2660653" cy="862852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10"/>
          <p:cNvSpPr txBox="1"/>
          <p:nvPr>
            <p:ph type="title"/>
          </p:nvPr>
        </p:nvSpPr>
        <p:spPr>
          <a:xfrm>
            <a:off x="804875" y="334575"/>
            <a:ext cx="2660700" cy="684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500"/>
              <a:buFont typeface="Open Sans"/>
              <a:buNone/>
              <a:defRPr b="1" sz="15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3641725" y="334566"/>
            <a:ext cx="4689600" cy="4061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804863" y="1695553"/>
            <a:ext cx="2660700" cy="2700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611046" y="545642"/>
            <a:ext cx="3639600" cy="12129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Open Sans"/>
              <a:buNone/>
              <a:defRPr b="0" sz="18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1"/>
          <p:cNvSpPr/>
          <p:nvPr>
            <p:ph idx="2" type="pic"/>
          </p:nvPr>
        </p:nvSpPr>
        <p:spPr>
          <a:xfrm>
            <a:off x="4573588" y="0"/>
            <a:ext cx="4570500" cy="51435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611046" y="1758513"/>
            <a:ext cx="3639600" cy="2637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Panorâmica com Legenda">
  <p:cSld name="Foto Panorâmica com Legenda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607500" y="3600450"/>
            <a:ext cx="7921200" cy="425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Open Sans"/>
              <a:buNone/>
              <a:defRPr b="0" sz="18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2"/>
          <p:cNvSpPr/>
          <p:nvPr>
            <p:ph idx="2" type="pic"/>
          </p:nvPr>
        </p:nvSpPr>
        <p:spPr>
          <a:xfrm>
            <a:off x="0" y="0"/>
            <a:ext cx="9144000" cy="3600600"/>
          </a:xfrm>
          <a:prstGeom prst="rect">
            <a:avLst/>
          </a:pr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607500" y="4025504"/>
            <a:ext cx="7921200" cy="370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ção com Legenda">
  <p:cSld name="Citação com Legenda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/>
          <p:nvPr/>
        </p:nvSpPr>
        <p:spPr>
          <a:xfrm>
            <a:off x="473773" y="811092"/>
            <a:ext cx="4749309" cy="2429389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13"/>
          <p:cNvSpPr txBox="1"/>
          <p:nvPr>
            <p:ph type="title"/>
          </p:nvPr>
        </p:nvSpPr>
        <p:spPr>
          <a:xfrm>
            <a:off x="638239" y="928876"/>
            <a:ext cx="4420500" cy="1984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Open Sans"/>
              <a:buNone/>
              <a:defRPr b="1" sz="3200" cap="none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>
            <a:off x="639900" y="3332730"/>
            <a:ext cx="4418700" cy="16089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13"/>
          <p:cNvSpPr txBox="1"/>
          <p:nvPr>
            <p:ph idx="2" type="body"/>
          </p:nvPr>
        </p:nvSpPr>
        <p:spPr>
          <a:xfrm>
            <a:off x="5680982" y="811092"/>
            <a:ext cx="2857500" cy="3056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tão de Nome">
  <p:cSld name="Cartão de Nome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/>
          <p:nvPr/>
        </p:nvSpPr>
        <p:spPr>
          <a:xfrm>
            <a:off x="855663" y="1714939"/>
            <a:ext cx="3671335" cy="1877979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14"/>
          <p:cNvSpPr txBox="1"/>
          <p:nvPr>
            <p:ph type="title"/>
          </p:nvPr>
        </p:nvSpPr>
        <p:spPr>
          <a:xfrm>
            <a:off x="1017817" y="1826968"/>
            <a:ext cx="3286800" cy="1505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Open Sans"/>
              <a:buNone/>
              <a:defRPr sz="24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4617000" y="1714500"/>
            <a:ext cx="3660300" cy="1721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0"/>
            <a:ext cx="9144000" cy="1639491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5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 rot="5400000">
            <a:off x="3190864" y="-944999"/>
            <a:ext cx="2755800" cy="7922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>
            <a:off x="5752238" y="334567"/>
            <a:ext cx="3391764" cy="4061221"/>
          </a:xfrm>
          <a:custGeom>
            <a:rect b="b" l="l" r="r" t="t"/>
            <a:pathLst>
              <a:path extrusionOk="0" h="4320" w="2879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6"/>
          <p:cNvSpPr txBox="1"/>
          <p:nvPr>
            <p:ph type="title"/>
          </p:nvPr>
        </p:nvSpPr>
        <p:spPr>
          <a:xfrm rot="5400000">
            <a:off x="5147648" y="1429628"/>
            <a:ext cx="3851100" cy="1871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 rot="5400000">
            <a:off x="1056256" y="-114233"/>
            <a:ext cx="4061100" cy="4958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235500" y="140225"/>
            <a:ext cx="8520600" cy="572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159300" y="923875"/>
            <a:ext cx="8821500" cy="3852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Font typeface="EB Garamond"/>
              <a:buChar char="●"/>
              <a:defRPr sz="2100">
                <a:latin typeface="EB Garamond"/>
                <a:ea typeface="EB Garamond"/>
                <a:cs typeface="EB Garamond"/>
                <a:sym typeface="EB Garamond"/>
              </a:defRPr>
            </a:lvl1pPr>
            <a:lvl2pPr indent="-3492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00"/>
              <a:buFont typeface="EB Garamond"/>
              <a:buChar char="○"/>
              <a:defRPr sz="1900">
                <a:latin typeface="EB Garamond"/>
                <a:ea typeface="EB Garamond"/>
                <a:cs typeface="EB Garamond"/>
                <a:sym typeface="EB Garamond"/>
              </a:defRPr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EB Garamond"/>
              <a:buChar char="■"/>
              <a:defRPr sz="1800">
                <a:latin typeface="EB Garamond"/>
                <a:ea typeface="EB Garamond"/>
                <a:cs typeface="EB Garamond"/>
                <a:sym typeface="EB Garamond"/>
              </a:defRPr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●"/>
              <a:defRPr sz="1600">
                <a:latin typeface="EB Garamond"/>
                <a:ea typeface="EB Garamond"/>
                <a:cs typeface="EB Garamond"/>
                <a:sym typeface="EB Garamond"/>
              </a:defRPr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○"/>
              <a:defRPr sz="1600">
                <a:latin typeface="EB Garamond"/>
                <a:ea typeface="EB Garamond"/>
                <a:cs typeface="EB Garamond"/>
                <a:sym typeface="EB Garamond"/>
              </a:defRPr>
            </a:lvl5pPr>
            <a:lvl6pPr indent="-3302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■"/>
              <a:defRPr sz="1600">
                <a:latin typeface="EB Garamond"/>
                <a:ea typeface="EB Garamond"/>
                <a:cs typeface="EB Garamond"/>
                <a:sym typeface="EB Garamond"/>
              </a:defRPr>
            </a:lvl6pPr>
            <a:lvl7pPr indent="-3302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●"/>
              <a:defRPr sz="1600">
                <a:latin typeface="EB Garamond"/>
                <a:ea typeface="EB Garamond"/>
                <a:cs typeface="EB Garamond"/>
                <a:sym typeface="EB Garamond"/>
              </a:defRPr>
            </a:lvl7pPr>
            <a:lvl8pPr indent="-3302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○"/>
              <a:defRPr sz="1600">
                <a:latin typeface="EB Garamond"/>
                <a:ea typeface="EB Garamond"/>
                <a:cs typeface="EB Garamond"/>
                <a:sym typeface="EB Garamond"/>
              </a:defRPr>
            </a:lvl8pPr>
            <a:lvl9pPr indent="-3302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600"/>
              <a:buFont typeface="EB Garamond"/>
              <a:buChar char="■"/>
              <a:defRPr sz="16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  <p:sp>
        <p:nvSpPr>
          <p:cNvPr id="93" name="Google Shape;93;p18"/>
          <p:cNvSpPr/>
          <p:nvPr/>
        </p:nvSpPr>
        <p:spPr>
          <a:xfrm>
            <a:off x="0" y="5013150"/>
            <a:ext cx="9144000" cy="130200"/>
          </a:xfrm>
          <a:prstGeom prst="rect">
            <a:avLst/>
          </a:prstGeom>
          <a:solidFill>
            <a:srgbClr val="359E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?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200"/>
              <a:buChar char="?"/>
              <a:defRPr sz="1200"/>
            </a:lvl9pPr>
          </a:lstStyle>
          <a:p/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>
  <p:cSld name="Custom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/>
          <p:nvPr/>
        </p:nvSpPr>
        <p:spPr>
          <a:xfrm>
            <a:off x="0" y="5013150"/>
            <a:ext cx="9144000" cy="130200"/>
          </a:xfrm>
          <a:prstGeom prst="rect">
            <a:avLst/>
          </a:prstGeom>
          <a:solidFill>
            <a:srgbClr val="359E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Century Gothic"/>
              <a:buNone/>
              <a:defRPr b="1" i="0" sz="3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07500" y="1638301"/>
            <a:ext cx="7922400" cy="27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🞆"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338635" y="4531022"/>
            <a:ext cx="648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7000970" y="4531022"/>
            <a:ext cx="100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008748" y="4436916"/>
            <a:ext cx="796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8.png"/><Relationship Id="rId7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olab.research.google.com/drive/1jOHhWk78td29_MRSlnZhMf67jat-XRsr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arxiv.org/abs/1406.2661" TargetMode="External"/><Relationship Id="rId4" Type="http://schemas.openxmlformats.org/officeDocument/2006/relationships/hyperlink" Target="https://www.tensorflow.org/tutorials/generative/dcgan" TargetMode="External"/><Relationship Id="rId5" Type="http://schemas.openxmlformats.org/officeDocument/2006/relationships/hyperlink" Target="https://huggingface.co/learn/computer-vision-course/en/unit5/generative-models/ga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ctrTitle"/>
          </p:nvPr>
        </p:nvSpPr>
        <p:spPr>
          <a:xfrm>
            <a:off x="591985" y="1086860"/>
            <a:ext cx="7929000" cy="2228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IAs Generativas (GAN)</a:t>
            </a:r>
            <a:endParaRPr sz="3900"/>
          </a:p>
        </p:txBody>
      </p:sp>
      <p:sp>
        <p:nvSpPr>
          <p:cNvPr id="105" name="Google Shape;105;p21"/>
          <p:cNvSpPr txBox="1"/>
          <p:nvPr>
            <p:ph idx="1" type="subTitle"/>
          </p:nvPr>
        </p:nvSpPr>
        <p:spPr>
          <a:xfrm>
            <a:off x="607501" y="3960635"/>
            <a:ext cx="79290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Prof. Caio Hamamura</a:t>
            </a:r>
            <a:endParaRPr/>
          </a:p>
        </p:txBody>
      </p:sp>
      <p:sp>
        <p:nvSpPr>
          <p:cNvPr id="106" name="Google Shape;106;p21"/>
          <p:cNvSpPr txBox="1"/>
          <p:nvPr/>
        </p:nvSpPr>
        <p:spPr>
          <a:xfrm>
            <a:off x="7486374" y="170683"/>
            <a:ext cx="13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Aula 10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50" y="686975"/>
            <a:ext cx="28575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1200" y="686975"/>
            <a:ext cx="2857498" cy="1605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Contexto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Já vimos como obter informações de imagens: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Classificação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Embeddings faciais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E o processo contrário: gerar imagens a partir de informações?</a:t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4575" y="3231076"/>
            <a:ext cx="1574200" cy="157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6800" y="3257475"/>
            <a:ext cx="3264499" cy="15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Contexto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48525" y="1454450"/>
            <a:ext cx="7802700" cy="76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Se tivéssemos uma forma como criar imagens a partir de embeddings, poderíamos...</a:t>
            </a:r>
            <a:endParaRPr/>
          </a:p>
        </p:txBody>
      </p:sp>
      <p:sp>
        <p:nvSpPr>
          <p:cNvPr id="123" name="Google Shape;123;p23"/>
          <p:cNvSpPr txBox="1"/>
          <p:nvPr/>
        </p:nvSpPr>
        <p:spPr>
          <a:xfrm>
            <a:off x="80250" y="2682900"/>
            <a:ext cx="234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&lt;descrição da imagem&gt;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24" name="Google Shape;124;p23"/>
          <p:cNvCxnSpPr>
            <a:stCxn id="123" idx="2"/>
          </p:cNvCxnSpPr>
          <p:nvPr/>
        </p:nvCxnSpPr>
        <p:spPr>
          <a:xfrm flipH="1" rot="-5400000">
            <a:off x="1414500" y="2920950"/>
            <a:ext cx="713700" cy="1038000"/>
          </a:xfrm>
          <a:prstGeom prst="bentConnector2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2392" y="3482867"/>
            <a:ext cx="761075" cy="76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3"/>
          <p:cNvPicPr preferRelativeResize="0"/>
          <p:nvPr/>
        </p:nvPicPr>
        <p:blipFill rotWithShape="1">
          <a:blip r:embed="rId4">
            <a:alphaModFix/>
          </a:blip>
          <a:srcRect b="37897" l="5238" r="38194" t="37897"/>
          <a:stretch/>
        </p:blipFill>
        <p:spPr>
          <a:xfrm>
            <a:off x="2424450" y="4407725"/>
            <a:ext cx="1071600" cy="2579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" name="Google Shape;127;p23"/>
          <p:cNvCxnSpPr>
            <a:stCxn id="125" idx="3"/>
          </p:cNvCxnSpPr>
          <p:nvPr/>
        </p:nvCxnSpPr>
        <p:spPr>
          <a:xfrm>
            <a:off x="3293467" y="3863417"/>
            <a:ext cx="1218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8" name="Google Shape;128;p23"/>
          <p:cNvSpPr txBox="1"/>
          <p:nvPr/>
        </p:nvSpPr>
        <p:spPr>
          <a:xfrm>
            <a:off x="4640600" y="2758700"/>
            <a:ext cx="335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Embeddings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9" name="Google Shape;12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1138" y="3189263"/>
            <a:ext cx="1171575" cy="1476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" name="Google Shape;130;p23"/>
          <p:cNvCxnSpPr/>
          <p:nvPr/>
        </p:nvCxnSpPr>
        <p:spPr>
          <a:xfrm>
            <a:off x="5916542" y="3863417"/>
            <a:ext cx="659100" cy="33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1" name="Google Shape;131;p23"/>
          <p:cNvCxnSpPr/>
          <p:nvPr/>
        </p:nvCxnSpPr>
        <p:spPr>
          <a:xfrm>
            <a:off x="7526067" y="3863417"/>
            <a:ext cx="659100" cy="33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32" name="Google Shape;132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84875" y="3442878"/>
            <a:ext cx="841100" cy="84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/>
          <p:cNvPicPr preferRelativeResize="0"/>
          <p:nvPr/>
        </p:nvPicPr>
        <p:blipFill rotWithShape="1">
          <a:blip r:embed="rId7">
            <a:alphaModFix/>
          </a:blip>
          <a:srcRect b="0" l="20322" r="20328" t="0"/>
          <a:stretch/>
        </p:blipFill>
        <p:spPr>
          <a:xfrm>
            <a:off x="6729637" y="3600879"/>
            <a:ext cx="642450" cy="528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 txBox="1"/>
          <p:nvPr/>
        </p:nvSpPr>
        <p:spPr>
          <a:xfrm>
            <a:off x="6811750" y="4109475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IA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" name="Google Shape;135;p23"/>
          <p:cNvSpPr txBox="1"/>
          <p:nvPr/>
        </p:nvSpPr>
        <p:spPr>
          <a:xfrm>
            <a:off x="8238700" y="3008475"/>
            <a:ext cx="93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Imagem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CNN reversa?</a:t>
            </a:r>
            <a:endParaRPr/>
          </a:p>
        </p:txBody>
      </p:sp>
      <p:pic>
        <p:nvPicPr>
          <p:cNvPr id="141" name="Google Shape;1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20050"/>
            <a:ext cx="2750374" cy="164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272575" y="420050"/>
            <a:ext cx="2750374" cy="164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camadas convolucionais</a:t>
            </a:r>
            <a:endParaRPr/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614025" y="1369625"/>
            <a:ext cx="7929000" cy="3517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Reduzem a imagem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Filtro maior reduz mais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Stride: pula alguns pixels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Mas e o contrário? Como aumentar o número de pixels?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Convolução transposta</a:t>
            </a:r>
            <a:endParaRPr/>
          </a:p>
        </p:txBody>
      </p:sp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9025" y="1166426"/>
            <a:ext cx="4103512" cy="392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Convolução transposta (stride 2)</a:t>
            </a:r>
            <a:endParaRPr/>
          </a:p>
        </p:txBody>
      </p:sp>
      <p:pic>
        <p:nvPicPr>
          <p:cNvPr id="160" name="Google Shape;1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500" y="1093401"/>
            <a:ext cx="7854748" cy="392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Convolução transposta</a:t>
            </a:r>
            <a:endParaRPr/>
          </a:p>
        </p:txBody>
      </p:sp>
      <p:pic>
        <p:nvPicPr>
          <p:cNvPr id="166" name="Google Shape;16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52548"/>
            <a:ext cx="9144000" cy="1240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GAN (generative adversarial network)</a:t>
            </a:r>
            <a:endParaRPr/>
          </a:p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3850" y="137575"/>
            <a:ext cx="5523540" cy="1908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 duas redes CNN</a:t>
            </a:r>
            <a:endParaRPr/>
          </a:p>
        </p:txBody>
      </p:sp>
      <p:sp>
        <p:nvSpPr>
          <p:cNvPr id="179" name="Google Shape;179;p30"/>
          <p:cNvSpPr txBox="1"/>
          <p:nvPr>
            <p:ph idx="1" type="body"/>
          </p:nvPr>
        </p:nvSpPr>
        <p:spPr>
          <a:xfrm>
            <a:off x="409450" y="2271150"/>
            <a:ext cx="3889500" cy="276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3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Transforma ruídos em imagens</a:t>
            </a:r>
            <a:endParaRPr/>
          </a:p>
        </p:txBody>
      </p:sp>
      <p:sp>
        <p:nvSpPr>
          <p:cNvPr id="180" name="Google Shape;180;p30"/>
          <p:cNvSpPr txBox="1"/>
          <p:nvPr>
            <p:ph idx="2" type="body"/>
          </p:nvPr>
        </p:nvSpPr>
        <p:spPr>
          <a:xfrm>
            <a:off x="4794225" y="2271150"/>
            <a:ext cx="3889500" cy="276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3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Classifica: é real ou fake?</a:t>
            </a:r>
            <a:endParaRPr/>
          </a:p>
        </p:txBody>
      </p:sp>
      <p:sp>
        <p:nvSpPr>
          <p:cNvPr id="181" name="Google Shape;181;p30"/>
          <p:cNvSpPr txBox="1"/>
          <p:nvPr/>
        </p:nvSpPr>
        <p:spPr>
          <a:xfrm>
            <a:off x="1365175" y="1578925"/>
            <a:ext cx="19782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Geradora</a:t>
            </a:r>
            <a:endParaRPr sz="2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2" name="Google Shape;182;p30"/>
          <p:cNvSpPr txBox="1"/>
          <p:nvPr/>
        </p:nvSpPr>
        <p:spPr>
          <a:xfrm>
            <a:off x="5701203" y="1578925"/>
            <a:ext cx="36888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Discriminadora</a:t>
            </a:r>
            <a:endParaRPr sz="2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83" name="Google Shape;18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09450" y="1441826"/>
            <a:ext cx="771899" cy="7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0"/>
          <p:cNvPicPr preferRelativeResize="0"/>
          <p:nvPr/>
        </p:nvPicPr>
        <p:blipFill rotWithShape="1">
          <a:blip r:embed="rId4">
            <a:alphaModFix/>
          </a:blip>
          <a:srcRect b="43391" l="0" r="22798" t="0"/>
          <a:stretch/>
        </p:blipFill>
        <p:spPr>
          <a:xfrm>
            <a:off x="7796978" y="1463875"/>
            <a:ext cx="917284" cy="72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Gerador de imagem do zero</a:t>
            </a:r>
            <a:endParaRPr/>
          </a:p>
        </p:txBody>
      </p:sp>
      <p:sp>
        <p:nvSpPr>
          <p:cNvPr id="190" name="Google Shape;190;p31"/>
          <p:cNvSpPr txBox="1"/>
          <p:nvPr>
            <p:ph idx="1" type="body"/>
          </p:nvPr>
        </p:nvSpPr>
        <p:spPr>
          <a:xfrm>
            <a:off x="614025" y="1369625"/>
            <a:ext cx="7929000" cy="347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525" y="1647702"/>
            <a:ext cx="7876125" cy="272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1"/>
          <p:cNvSpPr txBox="1"/>
          <p:nvPr/>
        </p:nvSpPr>
        <p:spPr>
          <a:xfrm>
            <a:off x="6613075" y="3421575"/>
            <a:ext cx="92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Loss</a:t>
            </a:r>
            <a:endParaRPr b="1"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Duas redes que aprendem juntas?</a:t>
            </a:r>
            <a:endParaRPr/>
          </a:p>
        </p:txBody>
      </p:sp>
      <p:sp>
        <p:nvSpPr>
          <p:cNvPr id="198" name="Google Shape;198;p32"/>
          <p:cNvSpPr txBox="1"/>
          <p:nvPr>
            <p:ph idx="1" type="body"/>
          </p:nvPr>
        </p:nvSpPr>
        <p:spPr>
          <a:xfrm>
            <a:off x="614025" y="1369625"/>
            <a:ext cx="7929000" cy="3567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Segredo do aprendizado: loss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/>
              <a:t>Rede geradora: gera uma imagem a partir de ruído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Função de perda: quanto ela consegue enganar a rede discriminante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AutoNum type="arabicPeriod"/>
            </a:pPr>
            <a:r>
              <a:rPr lang="en"/>
              <a:t>Rede discriminante: predizer se é uma imagem real ou gerada pela Rede Geradora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Função de perda: quanto ela acerta o que é falso e o que é de verdade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Gerando a partir de dados em vez de imagem ruído</a:t>
            </a:r>
            <a:endParaRPr/>
          </a:p>
        </p:txBody>
      </p:sp>
      <p:cxnSp>
        <p:nvCxnSpPr>
          <p:cNvPr id="204" name="Google Shape;204;p33"/>
          <p:cNvCxnSpPr/>
          <p:nvPr/>
        </p:nvCxnSpPr>
        <p:spPr>
          <a:xfrm>
            <a:off x="3480950" y="3555175"/>
            <a:ext cx="650400" cy="33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5" name="Google Shape;205;p33"/>
          <p:cNvSpPr txBox="1"/>
          <p:nvPr/>
        </p:nvSpPr>
        <p:spPr>
          <a:xfrm>
            <a:off x="4259600" y="2453900"/>
            <a:ext cx="335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Embeddings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06" name="Google Shape;20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0138" y="2884463"/>
            <a:ext cx="1171575" cy="1476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7" name="Google Shape;207;p33"/>
          <p:cNvCxnSpPr/>
          <p:nvPr/>
        </p:nvCxnSpPr>
        <p:spPr>
          <a:xfrm>
            <a:off x="5535542" y="3558617"/>
            <a:ext cx="659100" cy="33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8" name="Google Shape;208;p33"/>
          <p:cNvCxnSpPr/>
          <p:nvPr/>
        </p:nvCxnSpPr>
        <p:spPr>
          <a:xfrm>
            <a:off x="7145067" y="3558617"/>
            <a:ext cx="659100" cy="33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209" name="Google Shape;20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3875" y="3138078"/>
            <a:ext cx="841100" cy="84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3"/>
          <p:cNvSpPr txBox="1"/>
          <p:nvPr/>
        </p:nvSpPr>
        <p:spPr>
          <a:xfrm>
            <a:off x="7857700" y="2703675"/>
            <a:ext cx="93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Imagem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11" name="Google Shape;211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0075" y="1433014"/>
            <a:ext cx="2517724" cy="118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0075" y="2727330"/>
            <a:ext cx="3110852" cy="179067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3"/>
          <p:cNvSpPr txBox="1"/>
          <p:nvPr/>
        </p:nvSpPr>
        <p:spPr>
          <a:xfrm>
            <a:off x="5658700" y="3865000"/>
            <a:ext cx="19782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CNN</a:t>
            </a:r>
            <a:br>
              <a:rPr lang="en" sz="17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" sz="17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Geradora</a:t>
            </a:r>
            <a:endParaRPr sz="17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14" name="Google Shape;214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6283913" y="3045101"/>
            <a:ext cx="771899" cy="771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Métodos de entrada e treinamento</a:t>
            </a:r>
            <a:endParaRPr/>
          </a:p>
        </p:txBody>
      </p:sp>
      <p:sp>
        <p:nvSpPr>
          <p:cNvPr id="220" name="Google Shape;220;p34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Ruído: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Entrada: ruído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Saída: imagem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Ruído + classe: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Entrada: vetor ruído + classe 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[ruido..., 1, 0] - cachorro 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[ruido..., 0, 1] - gato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Saída: 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Generativa: imagem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Discriminador: label (tem que acertar real/fake + cachorro/gato)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Embedding texto (passado por uma LLM)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Entrada: vetor ruído + vetor embedding do texto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Saída: 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Generativa: imagem (de acordo com o texto solicitado)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Discriminador: imagem -&gt; embedding do texto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Caderno	</a:t>
            </a:r>
            <a:endParaRPr/>
          </a:p>
        </p:txBody>
      </p:sp>
      <p:sp>
        <p:nvSpPr>
          <p:cNvPr id="226" name="Google Shape;226;p35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https://colab.research.google.com/drive/1jOHhWk78td29_MRSlnZhMf67jat-XRsr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Referências</a:t>
            </a:r>
            <a:endParaRPr/>
          </a:p>
        </p:txBody>
      </p:sp>
      <p:sp>
        <p:nvSpPr>
          <p:cNvPr id="232" name="Google Shape;232;p36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Artigo Original das GANs  - Goodfellow et al., 2014: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https://arxiv.org/abs/1406.2661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TensorFlow Tutorials 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https://www.tensorflow.org/tutorials/generative/dcgan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HuggingFace GAN: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https://huggingface.co/learn/computer-vision-course/en/unit5/generative-models/gans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itável">
  <a:themeElements>
    <a:clrScheme name="Personalizada 1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359E45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