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5143500" cx="9144000"/>
  <p:notesSz cx="6858000" cy="9144000"/>
  <p:embeddedFontLst>
    <p:embeddedFont>
      <p:font typeface="Corsiva"/>
      <p:regular r:id="rId72"/>
      <p:bold r:id="rId73"/>
      <p:italic r:id="rId74"/>
      <p:boldItalic r:id="rId75"/>
    </p:embeddedFont>
    <p:embeddedFont>
      <p:font typeface="Roboto"/>
      <p:regular r:id="rId76"/>
      <p:bold r:id="rId77"/>
      <p:italic r:id="rId78"/>
      <p:boldItalic r:id="rId79"/>
    </p:embeddedFont>
    <p:embeddedFont>
      <p:font typeface="EB Garamond"/>
      <p:regular r:id="rId80"/>
      <p:bold r:id="rId81"/>
      <p:italic r:id="rId82"/>
      <p:boldItalic r:id="rId83"/>
    </p:embeddedFont>
    <p:embeddedFont>
      <p:font typeface="Licorice"/>
      <p:regular r:id="rId84"/>
    </p:embeddedFont>
    <p:embeddedFont>
      <p:font typeface="Zeyada"/>
      <p:regular r:id="rId85"/>
    </p:embeddedFont>
    <p:embeddedFont>
      <p:font typeface="Cambria Math"/>
      <p:regular r:id="rId86"/>
    </p:embeddedFont>
    <p:embeddedFont>
      <p:font typeface="Century Gothic"/>
      <p:regular r:id="rId87"/>
      <p:bold r:id="rId88"/>
      <p:italic r:id="rId89"/>
      <p:boldItalic r:id="rId90"/>
    </p:embeddedFont>
    <p:embeddedFont>
      <p:font typeface="Open Sans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B06470-4F40-489E-8002-071D86AA56DA}">
  <a:tblStyle styleId="{5BB06470-4F40-489E-8002-071D86AA56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Licorice-regular.fntdata"/><Relationship Id="rId83" Type="http://schemas.openxmlformats.org/officeDocument/2006/relationships/font" Target="fonts/EBGaramond-boldItalic.fntdata"/><Relationship Id="rId42" Type="http://schemas.openxmlformats.org/officeDocument/2006/relationships/slide" Target="slides/slide36.xml"/><Relationship Id="rId86" Type="http://schemas.openxmlformats.org/officeDocument/2006/relationships/font" Target="fonts/CambriaMath-regular.fntdata"/><Relationship Id="rId41" Type="http://schemas.openxmlformats.org/officeDocument/2006/relationships/slide" Target="slides/slide35.xml"/><Relationship Id="rId85" Type="http://schemas.openxmlformats.org/officeDocument/2006/relationships/font" Target="fonts/Zeyada-regular.fntdata"/><Relationship Id="rId44" Type="http://schemas.openxmlformats.org/officeDocument/2006/relationships/slide" Target="slides/slide38.xml"/><Relationship Id="rId88" Type="http://schemas.openxmlformats.org/officeDocument/2006/relationships/font" Target="fonts/CenturyGothic-bold.fntdata"/><Relationship Id="rId43" Type="http://schemas.openxmlformats.org/officeDocument/2006/relationships/slide" Target="slides/slide37.xml"/><Relationship Id="rId87" Type="http://schemas.openxmlformats.org/officeDocument/2006/relationships/font" Target="fonts/CenturyGothic-regular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CenturyGothic-italic.fntdata"/><Relationship Id="rId80" Type="http://schemas.openxmlformats.org/officeDocument/2006/relationships/font" Target="fonts/EBGaramond-regular.fntdata"/><Relationship Id="rId82" Type="http://schemas.openxmlformats.org/officeDocument/2006/relationships/font" Target="fonts/EBGaramond-italic.fntdata"/><Relationship Id="rId81" Type="http://schemas.openxmlformats.org/officeDocument/2006/relationships/font" Target="fonts/EBGaramo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Corsiva-bold.fntdata"/><Relationship Id="rId72" Type="http://schemas.openxmlformats.org/officeDocument/2006/relationships/font" Target="fonts/Corsiva-regular.fntdata"/><Relationship Id="rId31" Type="http://schemas.openxmlformats.org/officeDocument/2006/relationships/slide" Target="slides/slide25.xml"/><Relationship Id="rId75" Type="http://schemas.openxmlformats.org/officeDocument/2006/relationships/font" Target="fonts/Corsiva-boldItalic.fntdata"/><Relationship Id="rId30" Type="http://schemas.openxmlformats.org/officeDocument/2006/relationships/slide" Target="slides/slide24.xml"/><Relationship Id="rId74" Type="http://schemas.openxmlformats.org/officeDocument/2006/relationships/font" Target="fonts/Corsiva-italic.fntdata"/><Relationship Id="rId33" Type="http://schemas.openxmlformats.org/officeDocument/2006/relationships/slide" Target="slides/slide27.xml"/><Relationship Id="rId77" Type="http://schemas.openxmlformats.org/officeDocument/2006/relationships/font" Target="fonts/Roboto-bold.fntdata"/><Relationship Id="rId32" Type="http://schemas.openxmlformats.org/officeDocument/2006/relationships/slide" Target="slides/slide26.xml"/><Relationship Id="rId76" Type="http://schemas.openxmlformats.org/officeDocument/2006/relationships/font" Target="fonts/Roboto-regular.fntdata"/><Relationship Id="rId35" Type="http://schemas.openxmlformats.org/officeDocument/2006/relationships/slide" Target="slides/slide29.xml"/><Relationship Id="rId79" Type="http://schemas.openxmlformats.org/officeDocument/2006/relationships/font" Target="fonts/Roboto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94" Type="http://schemas.openxmlformats.org/officeDocument/2006/relationships/font" Target="fonts/OpenSans-boldItalic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OpenSans-regular.fntdata"/><Relationship Id="rId90" Type="http://schemas.openxmlformats.org/officeDocument/2006/relationships/font" Target="fonts/CenturyGothic-boldItalic.fntdata"/><Relationship Id="rId93" Type="http://schemas.openxmlformats.org/officeDocument/2006/relationships/font" Target="fonts/OpenSans-italic.fntdata"/><Relationship Id="rId92" Type="http://schemas.openxmlformats.org/officeDocument/2006/relationships/font" Target="fonts/OpenSans-bold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460a654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460a654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60a654c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460a654c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460a654c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460a654c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460a654c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460a654c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460a654c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460a654c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460a654c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460a654c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460a654c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460a654c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deab8ac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deab8ac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5217cb28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d5217cb28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5217cb28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d5217cb28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d5217cb28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d5217cb28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5217cb28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d5217cb28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d5217cb280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d5217cb28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5217cb28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d5217cb28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d5217cb28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d5217cb28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d5217cb280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d5217cb280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d5217cb280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d5217cb280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d5217cb280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d5217cb280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d5217cb28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d5217cb28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d5217cb280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d5217cb280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d5217cb280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d5217cb280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d5217cb280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d5217cb280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d5217cb280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d5217cb280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d5217cb280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d5217cb280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4c5545ad1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4c5545ad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d5217cb280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d5217cb280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d5217cb280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d5217cb280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d5217cb280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d5217cb280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d5217cb280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d5217cb280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d5217cb280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d5217cb280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d5298c541a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d5298c541a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d5298c541a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d5298c541a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d5327ca3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d5327ca3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d5298c541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d5298c541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d5298c541a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d5298c541a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752f2a623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752f2a623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d5327ca30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d5327ca30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d5327ca30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d5327ca30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d5327ca30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d5327ca30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d5327ca30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d5327ca30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4c5545ad1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4c5545ad1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d5327ca30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d5327ca30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d5327ca30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d5327ca30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d5327ca304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d5327ca304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d5327ca304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d5327ca304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d5327ca304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d5327ca304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d5327ca304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d5327ca304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d5327ca304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d5327ca304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d5327ca304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d5327ca304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d5327ca304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d5327ca304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d5327ca304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d5327ca304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d5b5bf902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d5b5bf902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d5b5bf902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d5b5bf902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d5327ca304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d5327ca304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3752f2a623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3752f2a623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752f2a623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752f2a623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752f2a623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3752f2a623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752f2a623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752f2a623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752f2a623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752f2a623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3752f2a623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3752f2a623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752f2a623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752f2a623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752f2a623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752f2a623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2d4d4f14ce8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d4d4f14ce8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d48dcc5c9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d48dcc5c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9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40.png"/><Relationship Id="rId8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27.png"/><Relationship Id="rId7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41.png"/><Relationship Id="rId5" Type="http://schemas.openxmlformats.org/officeDocument/2006/relationships/image" Target="../media/image46.png"/><Relationship Id="rId6" Type="http://schemas.openxmlformats.org/officeDocument/2006/relationships/image" Target="../media/image38.png"/><Relationship Id="rId7" Type="http://schemas.openxmlformats.org/officeDocument/2006/relationships/image" Target="../media/image45.png"/><Relationship Id="rId8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Relationship Id="rId4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Relationship Id="rId5" Type="http://schemas.openxmlformats.org/officeDocument/2006/relationships/image" Target="../media/image49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Relationship Id="rId5" Type="http://schemas.openxmlformats.org/officeDocument/2006/relationships/image" Target="../media/image49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59.png"/><Relationship Id="rId5" Type="http://schemas.openxmlformats.org/officeDocument/2006/relationships/image" Target="../media/image49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colab.research.google.com/drive/1Vxu6gAre102fyz0kAMM3j4SgkMZiGAfV?usp=sharing" TargetMode="External"/><Relationship Id="rId4" Type="http://schemas.openxmlformats.org/officeDocument/2006/relationships/hyperlink" Target="https://www.kaggle.com/datasets/johnsmith88/heart-disease-dataset" TargetMode="Externa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timeline.historyofdatascience.com/" TargetMode="External"/><Relationship Id="rId4" Type="http://schemas.openxmlformats.org/officeDocument/2006/relationships/hyperlink" Target="https://github.com/fastai/fastbook/blob/master/01_intro.ipynb" TargetMode="External"/><Relationship Id="rId5" Type="http://schemas.openxmlformats.org/officeDocument/2006/relationships/hyperlink" Target="https://nerdyelectronics.com/a-quick-history-of-ai-ml-and-d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Redes Neurais e Aprendizado Profundo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03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50" y="119750"/>
            <a:ext cx="3298575" cy="185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passada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00" y="482100"/>
            <a:ext cx="1908748" cy="190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4294967295" type="title"/>
          </p:nvPr>
        </p:nvSpPr>
        <p:spPr>
          <a:xfrm>
            <a:off x="276014" y="-80260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regress</a:t>
            </a:r>
            <a:r>
              <a:rPr lang="en"/>
              <a:t>ão logística</a:t>
            </a:r>
            <a:endParaRPr/>
          </a:p>
        </p:txBody>
      </p:sp>
      <p:grpSp>
        <p:nvGrpSpPr>
          <p:cNvPr id="120" name="Google Shape;120;p23"/>
          <p:cNvGrpSpPr/>
          <p:nvPr/>
        </p:nvGrpSpPr>
        <p:grpSpPr>
          <a:xfrm>
            <a:off x="2935498" y="1286615"/>
            <a:ext cx="5019011" cy="488261"/>
            <a:chOff x="1596625" y="2502950"/>
            <a:chExt cx="5409000" cy="526200"/>
          </a:xfrm>
        </p:grpSpPr>
        <p:sp>
          <p:nvSpPr>
            <p:cNvPr id="121" name="Google Shape;121;p23"/>
            <p:cNvSpPr/>
            <p:nvPr/>
          </p:nvSpPr>
          <p:spPr>
            <a:xfrm>
              <a:off x="1596625" y="2502950"/>
              <a:ext cx="5409000" cy="526200"/>
            </a:xfrm>
            <a:prstGeom prst="rect">
              <a:avLst/>
            </a:prstGeom>
            <a:solidFill>
              <a:srgbClr val="FFFFFF"/>
            </a:solidFill>
            <a:ln cap="flat" cmpd="sng" w="885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825" lIns="84825" spcFirstLastPara="1" rIns="84825" wrap="square" tIns="8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9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22" name="Google Shape;1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6042" y="2643451"/>
              <a:ext cx="5089524" cy="263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0625" y="2174907"/>
            <a:ext cx="6640500" cy="155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50" y="1148050"/>
            <a:ext cx="2503500" cy="264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0625" y="3845334"/>
            <a:ext cx="6524926" cy="959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Gradiente descendente: ajustando os peso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241200" y="2564825"/>
            <a:ext cx="344400" cy="60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400"/>
              <a:t>?</a:t>
            </a:r>
            <a:endParaRPr sz="3400"/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0" r="50889" t="0"/>
          <a:stretch/>
        </p:blipFill>
        <p:spPr>
          <a:xfrm>
            <a:off x="488894" y="2303200"/>
            <a:ext cx="257742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425" y="1174659"/>
            <a:ext cx="6524926" cy="959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Gradiente descendente: ajustando os pesos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414300" y="1699350"/>
            <a:ext cx="344400" cy="60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400"/>
              <a:t>?</a:t>
            </a:r>
            <a:endParaRPr sz="3400"/>
          </a:p>
        </p:txBody>
      </p:sp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0" l="0" r="50889" t="0"/>
          <a:stretch/>
        </p:blipFill>
        <p:spPr>
          <a:xfrm>
            <a:off x="661994" y="1437725"/>
            <a:ext cx="257742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/>
          <p:nvPr/>
        </p:nvSpPr>
        <p:spPr>
          <a:xfrm>
            <a:off x="3972875" y="1759188"/>
            <a:ext cx="5426700" cy="264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42" name="Google Shape;142;p25"/>
          <p:cNvGrpSpPr/>
          <p:nvPr/>
        </p:nvGrpSpPr>
        <p:grpSpPr>
          <a:xfrm>
            <a:off x="4045275" y="1851012"/>
            <a:ext cx="6293550" cy="2548856"/>
            <a:chOff x="2346875" y="2571750"/>
            <a:chExt cx="6293550" cy="2548856"/>
          </a:xfrm>
        </p:grpSpPr>
        <p:pic>
          <p:nvPicPr>
            <p:cNvPr id="143" name="Google Shape;14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07044" y="2571750"/>
              <a:ext cx="3315625" cy="248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25"/>
            <p:cNvSpPr txBox="1"/>
            <p:nvPr/>
          </p:nvSpPr>
          <p:spPr>
            <a:xfrm>
              <a:off x="6422675" y="2746200"/>
              <a:ext cx="9084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5" name="Google Shape;145;p25"/>
            <p:cNvSpPr txBox="1"/>
            <p:nvPr/>
          </p:nvSpPr>
          <p:spPr>
            <a:xfrm>
              <a:off x="5967725" y="4118400"/>
              <a:ext cx="26727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Gradiente</a:t>
              </a:r>
              <a:endParaRPr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6" name="Google Shape;146;p25"/>
            <p:cNvSpPr txBox="1"/>
            <p:nvPr/>
          </p:nvSpPr>
          <p:spPr>
            <a:xfrm>
              <a:off x="5891500" y="4118400"/>
              <a:ext cx="17229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Perda mínima</a:t>
              </a:r>
              <a:endParaRPr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7" name="Google Shape;147;p25"/>
            <p:cNvSpPr txBox="1"/>
            <p:nvPr/>
          </p:nvSpPr>
          <p:spPr>
            <a:xfrm>
              <a:off x="2346875" y="2896700"/>
              <a:ext cx="1089000" cy="615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Loss</a:t>
              </a:r>
              <a:b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(quão ruim)</a:t>
              </a:r>
              <a:endParaRPr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8" name="Google Shape;148;p25"/>
            <p:cNvSpPr txBox="1"/>
            <p:nvPr/>
          </p:nvSpPr>
          <p:spPr>
            <a:xfrm>
              <a:off x="4395712" y="4720406"/>
              <a:ext cx="7383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</a:t>
              </a:r>
              <a:endParaRPr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49" name="Google Shape;149;p25"/>
            <p:cNvSpPr txBox="1"/>
            <p:nvPr/>
          </p:nvSpPr>
          <p:spPr>
            <a:xfrm>
              <a:off x="4616250" y="2615775"/>
              <a:ext cx="105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Peso inicial</a:t>
              </a:r>
              <a:endParaRPr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0" name="Google Shape;150;p25"/>
            <p:cNvSpPr txBox="1"/>
            <p:nvPr/>
          </p:nvSpPr>
          <p:spPr>
            <a:xfrm>
              <a:off x="3742151" y="3217223"/>
              <a:ext cx="1143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Passos do</a:t>
              </a:r>
              <a:b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</a:br>
              <a:r>
                <a:rPr lang="en">
                  <a:solidFill>
                    <a:srgbClr val="00000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treinamento</a:t>
              </a:r>
              <a:endParaRPr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51" name="Google Shape;151;p25"/>
          <p:cNvSpPr txBox="1"/>
          <p:nvPr/>
        </p:nvSpPr>
        <p:spPr>
          <a:xfrm>
            <a:off x="725375" y="2695350"/>
            <a:ext cx="30993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unção Loss (laranja): p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reciso descobrir(inventar)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Calcula o quão ruim está o modelo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Derivada vai me dar a tendência de melhora ou piora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Gradiente descendente: no caso da regress</a:t>
            </a:r>
            <a:r>
              <a:rPr lang="en"/>
              <a:t>ão logística</a:t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18" y="1398350"/>
            <a:ext cx="4115747" cy="6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4504284" y="1273200"/>
            <a:ext cx="4567200" cy="92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868" y="1370050"/>
            <a:ext cx="4272053" cy="7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292214" y="2613114"/>
            <a:ext cx="509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: peso inicial aleatório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200" y="2625225"/>
            <a:ext cx="11144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200" y="3225975"/>
            <a:ext cx="3429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292228" y="3199900"/>
            <a:ext cx="63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: taxa de aprendizado (normalmente &lt; 1)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832225" y="3661600"/>
            <a:ext cx="57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variáveis X para cada linha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1018178" y="4142650"/>
            <a:ext cx="63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: erro (resíduo)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6825" y="2696664"/>
            <a:ext cx="361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 txBox="1"/>
          <p:nvPr/>
        </p:nvSpPr>
        <p:spPr>
          <a:xfrm>
            <a:off x="5026575" y="2616372"/>
            <a:ext cx="363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: número de linhas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423" y="4167650"/>
            <a:ext cx="113511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9">
            <a:alphaModFix/>
          </a:blip>
          <a:srcRect b="0" l="0" r="29711" t="0"/>
          <a:stretch/>
        </p:blipFill>
        <p:spPr>
          <a:xfrm>
            <a:off x="417200" y="3746200"/>
            <a:ext cx="28967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Gradiente descendente: no caso da regressão logística</a:t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498284" y="1372100"/>
            <a:ext cx="4567200" cy="92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868" y="1468950"/>
            <a:ext cx="4272053" cy="7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1099253" y="2995050"/>
            <a:ext cx="63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: erro (resíduo)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98" y="3020050"/>
            <a:ext cx="113511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 txBox="1"/>
          <p:nvPr/>
        </p:nvSpPr>
        <p:spPr>
          <a:xfrm>
            <a:off x="913300" y="2514000"/>
            <a:ext cx="57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variáveis X para cada linha</a:t>
            </a: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5">
            <a:alphaModFix/>
          </a:blip>
          <a:srcRect b="0" l="0" r="29711" t="0"/>
          <a:stretch/>
        </p:blipFill>
        <p:spPr>
          <a:xfrm>
            <a:off x="498275" y="2598600"/>
            <a:ext cx="2896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493350" y="3855900"/>
            <a:ext cx="8157300" cy="738900"/>
          </a:xfrm>
          <a:prstGeom prst="rect">
            <a:avLst/>
          </a:prstGeom>
          <a:solidFill>
            <a:srgbClr val="EB9C5A">
              <a:alpha val="297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Intuição lógica: quanto maior for o valor da variável, mais ela contribuiu para o erro -&gt; preciso ajustar mais o seu peso.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Rede Neural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00" y="175350"/>
            <a:ext cx="3767551" cy="25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29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9"/>
          <p:cNvCxnSpPr/>
          <p:nvPr/>
        </p:nvCxnSpPr>
        <p:spPr>
          <a:xfrm rot="10800000">
            <a:off x="2029175" y="4589550"/>
            <a:ext cx="0" cy="14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9"/>
          <p:cNvCxnSpPr>
            <a:endCxn id="196" idx="2"/>
          </p:cNvCxnSpPr>
          <p:nvPr/>
        </p:nvCxnSpPr>
        <p:spPr>
          <a:xfrm rot="10800000">
            <a:off x="2439875" y="3677638"/>
            <a:ext cx="0" cy="1045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9"/>
          <p:cNvCxnSpPr>
            <a:endCxn id="198" idx="2"/>
          </p:cNvCxnSpPr>
          <p:nvPr/>
        </p:nvCxnSpPr>
        <p:spPr>
          <a:xfrm rot="10800000">
            <a:off x="8612700" y="4535450"/>
            <a:ext cx="0" cy="195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9"/>
          <p:cNvSpPr txBox="1"/>
          <p:nvPr/>
        </p:nvSpPr>
        <p:spPr>
          <a:xfrm>
            <a:off x="1737801" y="4739999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1956 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1336538" y="4044225"/>
            <a:ext cx="1233000" cy="523200"/>
          </a:xfrm>
          <a:prstGeom prst="rect">
            <a:avLst/>
          </a:prstGeom>
          <a:solidFill>
            <a:srgbClr val="212121">
              <a:alpha val="7785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Conferência</a:t>
            </a:r>
            <a:b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Dartmouth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1753775" y="3154438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 I Perceptron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7926600" y="4012250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Redes Neurais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Deep Learning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8309550" y="4740000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2010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2223301" y="4739999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1958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3" name="Google Shape;203;p29"/>
          <p:cNvCxnSpPr/>
          <p:nvPr/>
        </p:nvCxnSpPr>
        <p:spPr>
          <a:xfrm rot="10800000">
            <a:off x="690525" y="3284550"/>
            <a:ext cx="0" cy="1427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9"/>
          <p:cNvSpPr txBox="1"/>
          <p:nvPr/>
        </p:nvSpPr>
        <p:spPr>
          <a:xfrm>
            <a:off x="387375" y="4740000"/>
            <a:ext cx="6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1943 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4425" y="2887800"/>
            <a:ext cx="137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Perceptron</a:t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74" y="1867117"/>
            <a:ext cx="1033550" cy="10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325" y="2021363"/>
            <a:ext cx="908849" cy="1127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4425" y="1162658"/>
            <a:ext cx="13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-50825" y="1658044"/>
            <a:ext cx="9774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McCulloch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649777" y="2595700"/>
            <a:ext cx="5163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Pitts</a:t>
            </a:r>
            <a:endParaRPr/>
          </a:p>
        </p:txBody>
      </p:sp>
      <p:sp>
        <p:nvSpPr>
          <p:cNvPr id="211" name="Google Shape;211;p29"/>
          <p:cNvSpPr txBox="1"/>
          <p:nvPr/>
        </p:nvSpPr>
        <p:spPr>
          <a:xfrm>
            <a:off x="1951175" y="1888544"/>
            <a:ext cx="977400" cy="35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Rosenblatt</a:t>
            </a:r>
            <a:endParaRPr/>
          </a:p>
        </p:txBody>
      </p:sp>
      <p:grpSp>
        <p:nvGrpSpPr>
          <p:cNvPr id="212" name="Google Shape;212;p29"/>
          <p:cNvGrpSpPr/>
          <p:nvPr/>
        </p:nvGrpSpPr>
        <p:grpSpPr>
          <a:xfrm>
            <a:off x="2765675" y="2755735"/>
            <a:ext cx="1372200" cy="2384464"/>
            <a:chOff x="2765675" y="2755735"/>
            <a:chExt cx="1372200" cy="2384464"/>
          </a:xfrm>
        </p:grpSpPr>
        <p:pic>
          <p:nvPicPr>
            <p:cNvPr id="213" name="Google Shape;21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97350" y="2755735"/>
              <a:ext cx="908850" cy="1225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9"/>
            <p:cNvSpPr txBox="1"/>
            <p:nvPr/>
          </p:nvSpPr>
          <p:spPr>
            <a:xfrm>
              <a:off x="2765675" y="4198850"/>
              <a:ext cx="1372200" cy="354000"/>
            </a:xfrm>
            <a:prstGeom prst="rect">
              <a:avLst/>
            </a:prstGeom>
            <a:solidFill>
              <a:srgbClr val="212121">
                <a:alpha val="7785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Multicamadas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29"/>
            <p:cNvSpPr txBox="1"/>
            <p:nvPr/>
          </p:nvSpPr>
          <p:spPr>
            <a:xfrm>
              <a:off x="3148626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1965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16" name="Google Shape;216;p29"/>
            <p:cNvCxnSpPr>
              <a:endCxn id="214" idx="2"/>
            </p:cNvCxnSpPr>
            <p:nvPr/>
          </p:nvCxnSpPr>
          <p:spPr>
            <a:xfrm rot="10800000">
              <a:off x="3451775" y="4552850"/>
              <a:ext cx="0" cy="1680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7" name="Google Shape;217;p29"/>
            <p:cNvSpPr txBox="1"/>
            <p:nvPr/>
          </p:nvSpPr>
          <p:spPr>
            <a:xfrm>
              <a:off x="2944549" y="3662779"/>
              <a:ext cx="977400" cy="5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Alexey</a:t>
              </a:r>
              <a:b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Ivakhnenko</a:t>
              </a:r>
              <a:endParaRPr/>
            </a:p>
          </p:txBody>
        </p:sp>
      </p:grpSp>
      <p:grpSp>
        <p:nvGrpSpPr>
          <p:cNvPr id="218" name="Google Shape;218;p29"/>
          <p:cNvGrpSpPr/>
          <p:nvPr/>
        </p:nvGrpSpPr>
        <p:grpSpPr>
          <a:xfrm>
            <a:off x="3299050" y="233375"/>
            <a:ext cx="1372200" cy="4906824"/>
            <a:chOff x="3299050" y="233375"/>
            <a:chExt cx="1372200" cy="4906824"/>
          </a:xfrm>
        </p:grpSpPr>
        <p:sp>
          <p:nvSpPr>
            <p:cNvPr id="219" name="Google Shape;219;p29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20" name="Google Shape;220;p29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" name="Google Shape;221;p29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22" name="Google Shape;222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9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224" name="Google Shape;224;p29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25" name="Google Shape;225;p29"/>
          <p:cNvGrpSpPr/>
          <p:nvPr/>
        </p:nvGrpSpPr>
        <p:grpSpPr>
          <a:xfrm>
            <a:off x="4440651" y="533349"/>
            <a:ext cx="1976224" cy="4606851"/>
            <a:chOff x="4440651" y="533349"/>
            <a:chExt cx="1976224" cy="4606851"/>
          </a:xfrm>
        </p:grpSpPr>
        <p:sp>
          <p:nvSpPr>
            <p:cNvPr id="226" name="Google Shape;226;p29"/>
            <p:cNvSpPr txBox="1"/>
            <p:nvPr/>
          </p:nvSpPr>
          <p:spPr>
            <a:xfrm>
              <a:off x="4858900" y="4740000"/>
              <a:ext cx="731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1980s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27" name="Google Shape;227;p29"/>
            <p:cNvCxnSpPr/>
            <p:nvPr/>
          </p:nvCxnSpPr>
          <p:spPr>
            <a:xfrm rot="10800000">
              <a:off x="5170649" y="4535500"/>
              <a:ext cx="0" cy="1956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8" name="Google Shape;228;p29"/>
            <p:cNvSpPr txBox="1"/>
            <p:nvPr/>
          </p:nvSpPr>
          <p:spPr>
            <a:xfrm>
              <a:off x="4484788" y="4181440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29" name="Google Shape;229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33411" y="1529729"/>
              <a:ext cx="674500" cy="733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33388" y="2474640"/>
              <a:ext cx="674500" cy="75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867762" y="3421584"/>
              <a:ext cx="606300" cy="714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833388" y="533349"/>
              <a:ext cx="674500" cy="8208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9"/>
            <p:cNvSpPr txBox="1"/>
            <p:nvPr/>
          </p:nvSpPr>
          <p:spPr>
            <a:xfrm>
              <a:off x="5502700" y="786485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LeCun</a:t>
              </a:r>
              <a:endParaRPr/>
            </a:p>
          </p:txBody>
        </p:sp>
        <p:sp>
          <p:nvSpPr>
            <p:cNvPr id="234" name="Google Shape;234;p29"/>
            <p:cNvSpPr txBox="1"/>
            <p:nvPr/>
          </p:nvSpPr>
          <p:spPr>
            <a:xfrm>
              <a:off x="5507875" y="1737425"/>
              <a:ext cx="909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Rumelhart</a:t>
              </a:r>
              <a:endParaRPr/>
            </a:p>
          </p:txBody>
        </p:sp>
        <p:sp>
          <p:nvSpPr>
            <p:cNvPr id="235" name="Google Shape;235;p29"/>
            <p:cNvSpPr txBox="1"/>
            <p:nvPr/>
          </p:nvSpPr>
          <p:spPr>
            <a:xfrm>
              <a:off x="5502700" y="2688363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Hinton</a:t>
              </a:r>
              <a:endParaRPr/>
            </a:p>
          </p:txBody>
        </p:sp>
        <p:sp>
          <p:nvSpPr>
            <p:cNvPr id="236" name="Google Shape;236;p29"/>
            <p:cNvSpPr txBox="1"/>
            <p:nvPr/>
          </p:nvSpPr>
          <p:spPr>
            <a:xfrm>
              <a:off x="5474050" y="3639300"/>
              <a:ext cx="7317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Williams</a:t>
              </a:r>
              <a:endParaRPr/>
            </a:p>
          </p:txBody>
        </p:sp>
        <p:sp>
          <p:nvSpPr>
            <p:cNvPr id="237" name="Google Shape;237;p29"/>
            <p:cNvSpPr txBox="1"/>
            <p:nvPr/>
          </p:nvSpPr>
          <p:spPr>
            <a:xfrm>
              <a:off x="4440651" y="4181450"/>
              <a:ext cx="1485600" cy="354000"/>
            </a:xfrm>
            <a:prstGeom prst="rect">
              <a:avLst/>
            </a:prstGeom>
            <a:solidFill>
              <a:srgbClr val="212121">
                <a:alpha val="7785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Retropropagação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0"/>
          <p:cNvGrpSpPr/>
          <p:nvPr/>
        </p:nvGrpSpPr>
        <p:grpSpPr>
          <a:xfrm>
            <a:off x="-50825" y="234675"/>
            <a:ext cx="11446800" cy="4905525"/>
            <a:chOff x="-50825" y="234675"/>
            <a:chExt cx="11446800" cy="4905525"/>
          </a:xfrm>
        </p:grpSpPr>
        <p:cxnSp>
          <p:nvCxnSpPr>
            <p:cNvPr id="243" name="Google Shape;243;p30"/>
            <p:cNvCxnSpPr/>
            <p:nvPr/>
          </p:nvCxnSpPr>
          <p:spPr>
            <a:xfrm rot="10800000">
              <a:off x="690525" y="3284550"/>
              <a:ext cx="0" cy="1427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4" name="Google Shape;244;p30"/>
            <p:cNvSpPr txBox="1"/>
            <p:nvPr/>
          </p:nvSpPr>
          <p:spPr>
            <a:xfrm>
              <a:off x="387375" y="4740000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1943 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5" name="Google Shape;245;p30"/>
            <p:cNvSpPr txBox="1"/>
            <p:nvPr/>
          </p:nvSpPr>
          <p:spPr>
            <a:xfrm>
              <a:off x="4425" y="2887800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Perceptron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46" name="Google Shape;246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8374" y="1867117"/>
              <a:ext cx="1033550" cy="10880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30"/>
            <p:cNvSpPr txBox="1"/>
            <p:nvPr/>
          </p:nvSpPr>
          <p:spPr>
            <a:xfrm>
              <a:off x="-50825" y="1658044"/>
              <a:ext cx="977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McCulloch</a:t>
              </a:r>
              <a:endParaRPr/>
            </a:p>
          </p:txBody>
        </p:sp>
        <p:sp>
          <p:nvSpPr>
            <p:cNvPr id="248" name="Google Shape;248;p30"/>
            <p:cNvSpPr txBox="1"/>
            <p:nvPr/>
          </p:nvSpPr>
          <p:spPr>
            <a:xfrm>
              <a:off x="649777" y="2595700"/>
              <a:ext cx="5163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Pitts</a:t>
              </a:r>
              <a:endParaRPr/>
            </a:p>
          </p:txBody>
        </p:sp>
        <p:pic>
          <p:nvPicPr>
            <p:cNvPr id="249" name="Google Shape;24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783425" y="234675"/>
              <a:ext cx="3810000" cy="2305050"/>
            </a:xfrm>
            <a:prstGeom prst="rect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50" name="Google Shape;250;p30"/>
            <p:cNvCxnSpPr/>
            <p:nvPr/>
          </p:nvCxnSpPr>
          <p:spPr>
            <a:xfrm>
              <a:off x="1376625" y="1381950"/>
              <a:ext cx="1142700" cy="10500"/>
            </a:xfrm>
            <a:prstGeom prst="straightConnector1">
              <a:avLst/>
            </a:prstGeom>
            <a:noFill/>
            <a:ln cap="flat" cmpd="sng" w="38100">
              <a:solidFill>
                <a:srgbClr val="4472C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1" name="Google Shape;251;p30"/>
            <p:cNvCxnSpPr/>
            <p:nvPr/>
          </p:nvCxnSpPr>
          <p:spPr>
            <a:xfrm>
              <a:off x="6795475" y="1381950"/>
              <a:ext cx="1142700" cy="10500"/>
            </a:xfrm>
            <a:prstGeom prst="straightConnector1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2" name="Google Shape;252;p30"/>
            <p:cNvSpPr txBox="1"/>
            <p:nvPr/>
          </p:nvSpPr>
          <p:spPr>
            <a:xfrm>
              <a:off x="1224650" y="800425"/>
              <a:ext cx="46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ENTRADA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3" name="Google Shape;253;p30"/>
            <p:cNvSpPr txBox="1"/>
            <p:nvPr/>
          </p:nvSpPr>
          <p:spPr>
            <a:xfrm>
              <a:off x="6795475" y="816425"/>
              <a:ext cx="46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Saída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54" name="Google Shape;254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42150" y="2692125"/>
              <a:ext cx="2425661" cy="18866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5" name="Google Shape;255;p30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6" name="Google Shape;256;p30"/>
          <p:cNvGrpSpPr/>
          <p:nvPr/>
        </p:nvGrpSpPr>
        <p:grpSpPr>
          <a:xfrm>
            <a:off x="-3046" y="1888544"/>
            <a:ext cx="1789438" cy="3251655"/>
            <a:chOff x="498338" y="1888544"/>
            <a:chExt cx="1789438" cy="3251655"/>
          </a:xfrm>
        </p:grpSpPr>
        <p:cxnSp>
          <p:nvCxnSpPr>
            <p:cNvPr id="257" name="Google Shape;257;p30"/>
            <p:cNvCxnSpPr/>
            <p:nvPr/>
          </p:nvCxnSpPr>
          <p:spPr>
            <a:xfrm rot="10800000">
              <a:off x="1190975" y="4589550"/>
              <a:ext cx="0" cy="1416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30"/>
            <p:cNvCxnSpPr>
              <a:endCxn id="259" idx="2"/>
            </p:cNvCxnSpPr>
            <p:nvPr/>
          </p:nvCxnSpPr>
          <p:spPr>
            <a:xfrm rot="10800000">
              <a:off x="1601675" y="3677638"/>
              <a:ext cx="0" cy="10455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30"/>
            <p:cNvSpPr txBox="1"/>
            <p:nvPr/>
          </p:nvSpPr>
          <p:spPr>
            <a:xfrm>
              <a:off x="89960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1956 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1" name="Google Shape;261;p30"/>
            <p:cNvSpPr txBox="1"/>
            <p:nvPr/>
          </p:nvSpPr>
          <p:spPr>
            <a:xfrm>
              <a:off x="498338" y="4044225"/>
              <a:ext cx="1233000" cy="523200"/>
            </a:xfrm>
            <a:prstGeom prst="rect">
              <a:avLst/>
            </a:prstGeom>
            <a:solidFill>
              <a:srgbClr val="212121">
                <a:alpha val="7785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 Conferência</a:t>
              </a:r>
              <a:b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Dartmouth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9" name="Google Shape;259;p30"/>
            <p:cNvSpPr txBox="1"/>
            <p:nvPr/>
          </p:nvSpPr>
          <p:spPr>
            <a:xfrm>
              <a:off x="915575" y="3154438"/>
              <a:ext cx="1372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Mark I Perceptron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30"/>
            <p:cNvSpPr txBox="1"/>
            <p:nvPr/>
          </p:nvSpPr>
          <p:spPr>
            <a:xfrm>
              <a:off x="138510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1958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63" name="Google Shape;263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46125" y="2021363"/>
              <a:ext cx="908849" cy="1127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0"/>
            <p:cNvSpPr txBox="1"/>
            <p:nvPr/>
          </p:nvSpPr>
          <p:spPr>
            <a:xfrm>
              <a:off x="1112975" y="1888544"/>
              <a:ext cx="977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Rosenblatt</a:t>
              </a:r>
              <a:endParaRPr/>
            </a:p>
          </p:txBody>
        </p:sp>
      </p:grpSp>
      <p:sp>
        <p:nvSpPr>
          <p:cNvPr id="265" name="Google Shape;265;p30"/>
          <p:cNvSpPr txBox="1"/>
          <p:nvPr/>
        </p:nvSpPr>
        <p:spPr>
          <a:xfrm>
            <a:off x="6291300" y="2865500"/>
            <a:ext cx="286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Neurônios lógicos (0 ou 1 apenas)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31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1" name="Google Shape;271;p31"/>
          <p:cNvGrpSpPr/>
          <p:nvPr/>
        </p:nvGrpSpPr>
        <p:grpSpPr>
          <a:xfrm>
            <a:off x="-3046" y="288175"/>
            <a:ext cx="7509296" cy="4852023"/>
            <a:chOff x="-3046" y="288175"/>
            <a:chExt cx="7509296" cy="4852023"/>
          </a:xfrm>
        </p:grpSpPr>
        <p:grpSp>
          <p:nvGrpSpPr>
            <p:cNvPr id="272" name="Google Shape;272;p31"/>
            <p:cNvGrpSpPr/>
            <p:nvPr/>
          </p:nvGrpSpPr>
          <p:grpSpPr>
            <a:xfrm>
              <a:off x="-3046" y="1888544"/>
              <a:ext cx="1789438" cy="3251655"/>
              <a:chOff x="498338" y="1888544"/>
              <a:chExt cx="1789438" cy="3251655"/>
            </a:xfrm>
          </p:grpSpPr>
          <p:cxnSp>
            <p:nvCxnSpPr>
              <p:cNvPr id="273" name="Google Shape;273;p31"/>
              <p:cNvCxnSpPr/>
              <p:nvPr/>
            </p:nvCxnSpPr>
            <p:spPr>
              <a:xfrm rot="10800000">
                <a:off x="1190975" y="4589550"/>
                <a:ext cx="0" cy="14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31"/>
              <p:cNvCxnSpPr>
                <a:endCxn id="275" idx="2"/>
              </p:cNvCxnSpPr>
              <p:nvPr/>
            </p:nvCxnSpPr>
            <p:spPr>
              <a:xfrm rot="10800000">
                <a:off x="1601675" y="3677638"/>
                <a:ext cx="0" cy="1045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6" name="Google Shape;276;p31"/>
              <p:cNvSpPr txBox="1"/>
              <p:nvPr/>
            </p:nvSpPr>
            <p:spPr>
              <a:xfrm>
                <a:off x="899601" y="4739999"/>
                <a:ext cx="60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1956 </a:t>
                </a:r>
                <a:endParaRPr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77" name="Google Shape;277;p31"/>
              <p:cNvSpPr txBox="1"/>
              <p:nvPr/>
            </p:nvSpPr>
            <p:spPr>
              <a:xfrm>
                <a:off x="498338" y="4044225"/>
                <a:ext cx="1233000" cy="523200"/>
              </a:xfrm>
              <a:prstGeom prst="rect">
                <a:avLst/>
              </a:prstGeom>
              <a:solidFill>
                <a:srgbClr val="212121">
                  <a:alpha val="77850"/>
                </a:srgbClr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  Conferência</a:t>
                </a:r>
                <a:b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</a:b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Dartmouth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75" name="Google Shape;275;p31"/>
              <p:cNvSpPr txBox="1"/>
              <p:nvPr/>
            </p:nvSpPr>
            <p:spPr>
              <a:xfrm>
                <a:off x="915575" y="3154438"/>
                <a:ext cx="13722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Mark I Perceptron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78" name="Google Shape;278;p31"/>
              <p:cNvSpPr txBox="1"/>
              <p:nvPr/>
            </p:nvSpPr>
            <p:spPr>
              <a:xfrm>
                <a:off x="1385101" y="4739999"/>
                <a:ext cx="60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1958</a:t>
                </a:r>
                <a:endParaRPr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pic>
            <p:nvPicPr>
              <p:cNvPr id="279" name="Google Shape;279;p3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146125" y="2021363"/>
                <a:ext cx="908849" cy="11278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31"/>
              <p:cNvSpPr txBox="1"/>
              <p:nvPr/>
            </p:nvSpPr>
            <p:spPr>
              <a:xfrm>
                <a:off x="1112975" y="1888544"/>
                <a:ext cx="977400" cy="35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Rosenblatt</a:t>
                </a:r>
                <a:endParaRPr/>
              </a:p>
            </p:txBody>
          </p:sp>
        </p:grpSp>
        <p:pic>
          <p:nvPicPr>
            <p:cNvPr id="281" name="Google Shape;28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0425" y="288175"/>
              <a:ext cx="4585825" cy="42947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" name="Google Shape;282;p31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283" name="Google Shape;283;p31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84" name="Google Shape;284;p31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5" name="Google Shape;285;p31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86" name="Google Shape;286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31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288" name="Google Shape;288;p31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3" name="Google Shape;293;p32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4" name="Google Shape;294;p32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295" name="Google Shape;295;p32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96" name="Google Shape;296;p32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7" name="Google Shape;297;p32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298" name="Google Shape;29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32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300" name="Google Shape;300;p32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301" name="Google Shape;301;p32"/>
          <p:cNvPicPr preferRelativeResize="0"/>
          <p:nvPr/>
        </p:nvPicPr>
        <p:blipFill rotWithShape="1">
          <a:blip r:embed="rId4">
            <a:alphaModFix/>
          </a:blip>
          <a:srcRect b="0" l="0" r="0" t="51782"/>
          <a:stretch/>
        </p:blipFill>
        <p:spPr>
          <a:xfrm>
            <a:off x="1469163" y="388100"/>
            <a:ext cx="4027251" cy="18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5562925" y="448250"/>
            <a:ext cx="34578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B Garamond"/>
              <a:buAutoNum type="arabicPeriod"/>
            </a:pPr>
            <a:r>
              <a:rPr lang="en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Só tem capacidade de diferenciar classes lineares</a:t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B Garamond"/>
              <a:buAutoNum type="arabicPeriod"/>
            </a:pPr>
            <a:r>
              <a:rPr lang="en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Para resolver isso precisaria de pelo menos mais uma camada!</a:t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5054" y="2854153"/>
            <a:ext cx="4875316" cy="1733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33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33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310" name="Google Shape;310;p33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11" name="Google Shape;311;p33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" name="Google Shape;312;p33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13" name="Google Shape;3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33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315" name="Google Shape;315;p33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16" name="Google Shape;316;p33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9" name="Google Shape;319;p33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0" name="Google Shape;320;p33"/>
          <p:cNvCxnSpPr>
            <a:stCxn id="316" idx="6"/>
            <a:endCxn id="321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33"/>
          <p:cNvCxnSpPr>
            <a:stCxn id="317" idx="6"/>
            <a:endCxn id="323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3"/>
          <p:cNvCxnSpPr>
            <a:stCxn id="316" idx="5"/>
            <a:endCxn id="323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3"/>
          <p:cNvCxnSpPr>
            <a:stCxn id="317" idx="7"/>
            <a:endCxn id="321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33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31" name="Google Shape;331;p33"/>
          <p:cNvCxnSpPr>
            <a:stCxn id="321" idx="6"/>
            <a:endCxn id="330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3"/>
          <p:cNvCxnSpPr>
            <a:stCxn id="323" idx="6"/>
            <a:endCxn id="330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33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4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0" name="Google Shape;340;p34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341" name="Google Shape;341;p34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42" name="Google Shape;342;p34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3" name="Google Shape;343;p34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44" name="Google Shape;34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4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346" name="Google Shape;346;p34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47" name="Google Shape;347;p34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34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1" name="Google Shape;351;p34"/>
          <p:cNvCxnSpPr>
            <a:stCxn id="347" idx="6"/>
            <a:endCxn id="352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4"/>
          <p:cNvCxnSpPr>
            <a:stCxn id="348" idx="6"/>
            <a:endCxn id="354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4"/>
          <p:cNvCxnSpPr>
            <a:stCxn id="347" idx="5"/>
            <a:endCxn id="354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4"/>
          <p:cNvCxnSpPr>
            <a:stCxn id="348" idx="7"/>
            <a:endCxn id="352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34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9" name="Google Shape;359;p34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2" name="Google Shape;362;p34"/>
          <p:cNvCxnSpPr>
            <a:stCxn id="352" idx="6"/>
            <a:endCxn id="361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4"/>
          <p:cNvCxnSpPr>
            <a:stCxn id="354" idx="6"/>
            <a:endCxn id="361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4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6345275" y="144075"/>
            <a:ext cx="240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x 1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0 x 1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7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34"/>
          <p:cNvSpPr txBox="1"/>
          <p:nvPr/>
        </p:nvSpPr>
        <p:spPr>
          <a:xfrm>
            <a:off x="4842850" y="1073300"/>
            <a:ext cx="2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p35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3" name="Google Shape;373;p35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374" name="Google Shape;374;p35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75" name="Google Shape;375;p35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6" name="Google Shape;376;p35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77" name="Google Shape;37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5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379" name="Google Shape;379;p35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80" name="Google Shape;380;p35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35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p35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84" name="Google Shape;384;p35"/>
          <p:cNvCxnSpPr>
            <a:stCxn id="380" idx="6"/>
            <a:endCxn id="385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35"/>
          <p:cNvCxnSpPr>
            <a:stCxn id="381" idx="6"/>
            <a:endCxn id="387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5"/>
          <p:cNvCxnSpPr>
            <a:stCxn id="380" idx="5"/>
            <a:endCxn id="387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5"/>
          <p:cNvCxnSpPr>
            <a:stCxn id="381" idx="7"/>
            <a:endCxn id="385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35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35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35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5" name="Google Shape;395;p35"/>
          <p:cNvCxnSpPr>
            <a:stCxn id="385" idx="6"/>
            <a:endCxn id="394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35"/>
          <p:cNvCxnSpPr>
            <a:stCxn id="387" idx="6"/>
            <a:endCxn id="394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35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p35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35"/>
          <p:cNvSpPr txBox="1"/>
          <p:nvPr/>
        </p:nvSpPr>
        <p:spPr>
          <a:xfrm>
            <a:off x="4862388" y="3341708"/>
            <a:ext cx="3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5658975" y="144075"/>
            <a:ext cx="308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x 0,4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0 x 0,4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0,4</a:t>
            </a:r>
            <a:endParaRPr sz="17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4842850" y="1073300"/>
            <a:ext cx="2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5658975" y="707750"/>
            <a:ext cx="308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0,4 &gt; 0,5 = </a:t>
            </a: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7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p36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8" name="Google Shape;408;p36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409" name="Google Shape;409;p36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10" name="Google Shape;410;p36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1" name="Google Shape;411;p36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412" name="Google Shape;41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6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414" name="Google Shape;414;p36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15" name="Google Shape;415;p36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8" name="Google Shape;418;p36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19" name="Google Shape;419;p36"/>
          <p:cNvCxnSpPr>
            <a:stCxn id="415" idx="6"/>
            <a:endCxn id="420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36"/>
          <p:cNvCxnSpPr>
            <a:stCxn id="416" idx="6"/>
            <a:endCxn id="422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36"/>
          <p:cNvCxnSpPr>
            <a:stCxn id="415" idx="5"/>
            <a:endCxn id="422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6"/>
          <p:cNvCxnSpPr>
            <a:stCxn id="416" idx="7"/>
            <a:endCxn id="420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36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36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7" name="Google Shape;427;p36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0" name="Google Shape;430;p36"/>
          <p:cNvCxnSpPr>
            <a:stCxn id="420" idx="6"/>
            <a:endCxn id="429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36"/>
          <p:cNvCxnSpPr>
            <a:stCxn id="422" idx="6"/>
            <a:endCxn id="429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36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4862388" y="3341708"/>
            <a:ext cx="3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5658975" y="144075"/>
            <a:ext cx="308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x 1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0 x (-1)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7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36"/>
          <p:cNvSpPr txBox="1"/>
          <p:nvPr/>
        </p:nvSpPr>
        <p:spPr>
          <a:xfrm>
            <a:off x="4842850" y="1073300"/>
            <a:ext cx="2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6996000" y="2244975"/>
            <a:ext cx="2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Google Shape;442;p37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3" name="Google Shape;443;p37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444" name="Google Shape;444;p37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45" name="Google Shape;445;p37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6" name="Google Shape;446;p37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447" name="Google Shape;44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7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449" name="Google Shape;449;p37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50" name="Google Shape;450;p37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2" name="Google Shape;452;p37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p37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4" name="Google Shape;454;p37"/>
          <p:cNvCxnSpPr>
            <a:stCxn id="450" idx="6"/>
            <a:endCxn id="455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37"/>
          <p:cNvCxnSpPr>
            <a:stCxn id="451" idx="6"/>
            <a:endCxn id="457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37"/>
          <p:cNvCxnSpPr>
            <a:stCxn id="450" idx="5"/>
            <a:endCxn id="457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37"/>
          <p:cNvCxnSpPr>
            <a:stCxn id="451" idx="7"/>
            <a:endCxn id="455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37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37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5" name="Google Shape;465;p37"/>
          <p:cNvCxnSpPr>
            <a:stCxn id="455" idx="6"/>
            <a:endCxn id="464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37"/>
          <p:cNvCxnSpPr>
            <a:stCxn id="457" idx="6"/>
            <a:endCxn id="464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37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3" name="Google Shape;473;p38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4" name="Google Shape;474;p38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475" name="Google Shape;475;p38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76" name="Google Shape;476;p38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7" name="Google Shape;477;p38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478" name="Google Shape;47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38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480" name="Google Shape;480;p38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81" name="Google Shape;481;p38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85" name="Google Shape;485;p38"/>
          <p:cNvCxnSpPr>
            <a:stCxn id="481" idx="6"/>
            <a:endCxn id="486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p38"/>
          <p:cNvCxnSpPr>
            <a:stCxn id="482" idx="6"/>
            <a:endCxn id="488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38"/>
          <p:cNvCxnSpPr>
            <a:stCxn id="481" idx="5"/>
            <a:endCxn id="488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38"/>
          <p:cNvCxnSpPr>
            <a:stCxn id="482" idx="7"/>
            <a:endCxn id="486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1" name="Google Shape;491;p38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38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3" name="Google Shape;493;p38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4" name="Google Shape;494;p38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38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96" name="Google Shape;496;p38"/>
          <p:cNvCxnSpPr>
            <a:stCxn id="486" idx="6"/>
            <a:endCxn id="495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38"/>
          <p:cNvCxnSpPr>
            <a:stCxn id="488" idx="6"/>
            <a:endCxn id="495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38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9" name="Google Shape;499;p38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0" name="Google Shape;500;p38"/>
          <p:cNvSpPr txBox="1"/>
          <p:nvPr/>
        </p:nvSpPr>
        <p:spPr>
          <a:xfrm>
            <a:off x="6345275" y="144075"/>
            <a:ext cx="240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x 1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1 x 1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2</a:t>
            </a:r>
            <a:endParaRPr sz="17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38"/>
          <p:cNvSpPr txBox="1"/>
          <p:nvPr/>
        </p:nvSpPr>
        <p:spPr>
          <a:xfrm>
            <a:off x="6345275" y="7077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 &gt; 0,5 = </a:t>
            </a: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7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38"/>
          <p:cNvSpPr txBox="1"/>
          <p:nvPr/>
        </p:nvSpPr>
        <p:spPr>
          <a:xfrm>
            <a:off x="4842850" y="1073300"/>
            <a:ext cx="2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7" name="Google Shape;507;p39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8" name="Google Shape;508;p39"/>
          <p:cNvGrpSpPr/>
          <p:nvPr/>
        </p:nvGrpSpPr>
        <p:grpSpPr>
          <a:xfrm>
            <a:off x="30454" y="233375"/>
            <a:ext cx="1372200" cy="4906824"/>
            <a:chOff x="3299050" y="233375"/>
            <a:chExt cx="1372200" cy="4906824"/>
          </a:xfrm>
        </p:grpSpPr>
        <p:sp>
          <p:nvSpPr>
            <p:cNvPr id="509" name="Google Shape;509;p39"/>
            <p:cNvSpPr txBox="1"/>
            <p:nvPr/>
          </p:nvSpPr>
          <p:spPr>
            <a:xfrm>
              <a:off x="3665551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1969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10" name="Google Shape;510;p39"/>
            <p:cNvCxnSpPr/>
            <p:nvPr/>
          </p:nvCxnSpPr>
          <p:spPr>
            <a:xfrm rot="10800000">
              <a:off x="3958325" y="2699550"/>
              <a:ext cx="0" cy="20121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1" name="Google Shape;511;p39"/>
            <p:cNvSpPr txBox="1"/>
            <p:nvPr/>
          </p:nvSpPr>
          <p:spPr>
            <a:xfrm>
              <a:off x="3299050" y="2347753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Limitações?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12" name="Google Shape;51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3963" y="466348"/>
              <a:ext cx="768725" cy="16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39"/>
            <p:cNvSpPr txBox="1"/>
            <p:nvPr/>
          </p:nvSpPr>
          <p:spPr>
            <a:xfrm>
              <a:off x="3536675" y="233375"/>
              <a:ext cx="864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Minsky</a:t>
              </a:r>
              <a:endParaRPr/>
            </a:p>
          </p:txBody>
        </p:sp>
        <p:sp>
          <p:nvSpPr>
            <p:cNvPr id="514" name="Google Shape;514;p39"/>
            <p:cNvSpPr txBox="1"/>
            <p:nvPr/>
          </p:nvSpPr>
          <p:spPr>
            <a:xfrm>
              <a:off x="3647913" y="2032262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Papert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15" name="Google Shape;515;p39"/>
          <p:cNvSpPr/>
          <p:nvPr/>
        </p:nvSpPr>
        <p:spPr>
          <a:xfrm>
            <a:off x="2234700" y="1154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2234700" y="30591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39"/>
          <p:cNvSpPr txBox="1"/>
          <p:nvPr/>
        </p:nvSpPr>
        <p:spPr>
          <a:xfrm>
            <a:off x="1953025" y="1265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39"/>
          <p:cNvSpPr txBox="1"/>
          <p:nvPr/>
        </p:nvSpPr>
        <p:spPr>
          <a:xfrm>
            <a:off x="1953025" y="3170900"/>
            <a:ext cx="3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9" name="Google Shape;519;p39"/>
          <p:cNvCxnSpPr>
            <a:stCxn id="515" idx="6"/>
            <a:endCxn id="520" idx="2"/>
          </p:cNvCxnSpPr>
          <p:nvPr/>
        </p:nvCxnSpPr>
        <p:spPr>
          <a:xfrm>
            <a:off x="2919900" y="1496750"/>
            <a:ext cx="1309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39"/>
          <p:cNvCxnSpPr>
            <a:stCxn id="516" idx="6"/>
            <a:endCxn id="522" idx="2"/>
          </p:cNvCxnSpPr>
          <p:nvPr/>
        </p:nvCxnSpPr>
        <p:spPr>
          <a:xfrm>
            <a:off x="2919900" y="34017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39"/>
          <p:cNvCxnSpPr>
            <a:stCxn id="515" idx="5"/>
            <a:endCxn id="522" idx="1"/>
          </p:cNvCxnSpPr>
          <p:nvPr/>
        </p:nvCxnSpPr>
        <p:spPr>
          <a:xfrm>
            <a:off x="2819555" y="17390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39"/>
          <p:cNvCxnSpPr>
            <a:stCxn id="516" idx="7"/>
            <a:endCxn id="520" idx="3"/>
          </p:cNvCxnSpPr>
          <p:nvPr/>
        </p:nvCxnSpPr>
        <p:spPr>
          <a:xfrm flipH="1" rot="10800000">
            <a:off x="2819555" y="17389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39"/>
          <p:cNvSpPr txBox="1"/>
          <p:nvPr/>
        </p:nvSpPr>
        <p:spPr>
          <a:xfrm>
            <a:off x="3751950" y="1096400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6" name="Google Shape;526;p39"/>
          <p:cNvSpPr txBox="1"/>
          <p:nvPr/>
        </p:nvSpPr>
        <p:spPr>
          <a:xfrm>
            <a:off x="3751950" y="1768750"/>
            <a:ext cx="4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7" name="Google Shape;527;p39"/>
          <p:cNvSpPr txBox="1"/>
          <p:nvPr/>
        </p:nvSpPr>
        <p:spPr>
          <a:xfrm>
            <a:off x="3751950" y="28415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8" name="Google Shape;528;p39"/>
          <p:cNvSpPr txBox="1"/>
          <p:nvPr/>
        </p:nvSpPr>
        <p:spPr>
          <a:xfrm>
            <a:off x="3751950" y="3401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2" name="Google Shape;522;p39"/>
          <p:cNvSpPr/>
          <p:nvPr/>
        </p:nvSpPr>
        <p:spPr>
          <a:xfrm>
            <a:off x="4229425" y="30591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4229375" y="11541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6244800" y="21066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30" name="Google Shape;530;p39"/>
          <p:cNvCxnSpPr>
            <a:stCxn id="520" idx="6"/>
            <a:endCxn id="529" idx="1"/>
          </p:cNvCxnSpPr>
          <p:nvPr/>
        </p:nvCxnSpPr>
        <p:spPr>
          <a:xfrm>
            <a:off x="4914575" y="14967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39"/>
          <p:cNvCxnSpPr>
            <a:stCxn id="522" idx="6"/>
            <a:endCxn id="529" idx="3"/>
          </p:cNvCxnSpPr>
          <p:nvPr/>
        </p:nvCxnSpPr>
        <p:spPr>
          <a:xfrm flipH="1" rot="10800000">
            <a:off x="4914625" y="26913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39"/>
          <p:cNvSpPr txBox="1"/>
          <p:nvPr/>
        </p:nvSpPr>
        <p:spPr>
          <a:xfrm>
            <a:off x="6105175" y="1651825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3" name="Google Shape;533;p39"/>
          <p:cNvSpPr txBox="1"/>
          <p:nvPr/>
        </p:nvSpPr>
        <p:spPr>
          <a:xfrm>
            <a:off x="6054175" y="2846475"/>
            <a:ext cx="4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4" name="Google Shape;534;p39"/>
          <p:cNvSpPr txBox="1"/>
          <p:nvPr/>
        </p:nvSpPr>
        <p:spPr>
          <a:xfrm>
            <a:off x="4862388" y="3341708"/>
            <a:ext cx="3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535" name="Google Shape;535;p39"/>
          <p:cNvSpPr txBox="1"/>
          <p:nvPr/>
        </p:nvSpPr>
        <p:spPr>
          <a:xfrm>
            <a:off x="5658975" y="144075"/>
            <a:ext cx="308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x 0,4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" sz="17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1 x 0,4</a:t>
            </a: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0,8</a:t>
            </a:r>
            <a:endParaRPr sz="17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39"/>
          <p:cNvSpPr txBox="1"/>
          <p:nvPr/>
        </p:nvSpPr>
        <p:spPr>
          <a:xfrm>
            <a:off x="4842850" y="1073300"/>
            <a:ext cx="2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537" name="Google Shape;537;p39"/>
          <p:cNvSpPr txBox="1"/>
          <p:nvPr/>
        </p:nvSpPr>
        <p:spPr>
          <a:xfrm>
            <a:off x="5658975" y="707750"/>
            <a:ext cx="308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0,8 &gt; 0,5 = </a:t>
            </a:r>
            <a:r>
              <a:rPr lang="en"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7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40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3" name="Google Shape;543;p40"/>
          <p:cNvGrpSpPr/>
          <p:nvPr/>
        </p:nvGrpSpPr>
        <p:grpSpPr>
          <a:xfrm>
            <a:off x="30454" y="144075"/>
            <a:ext cx="8716121" cy="4996124"/>
            <a:chOff x="30454" y="144075"/>
            <a:chExt cx="8716121" cy="4996124"/>
          </a:xfrm>
        </p:grpSpPr>
        <p:grpSp>
          <p:nvGrpSpPr>
            <p:cNvPr id="544" name="Google Shape;544;p40"/>
            <p:cNvGrpSpPr/>
            <p:nvPr/>
          </p:nvGrpSpPr>
          <p:grpSpPr>
            <a:xfrm>
              <a:off x="30454" y="233375"/>
              <a:ext cx="1372200" cy="4906824"/>
              <a:chOff x="3299050" y="233375"/>
              <a:chExt cx="1372200" cy="4906824"/>
            </a:xfrm>
          </p:grpSpPr>
          <p:sp>
            <p:nvSpPr>
              <p:cNvPr id="545" name="Google Shape;545;p40"/>
              <p:cNvSpPr txBox="1"/>
              <p:nvPr/>
            </p:nvSpPr>
            <p:spPr>
              <a:xfrm>
                <a:off x="3665551" y="4739999"/>
                <a:ext cx="60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1969</a:t>
                </a:r>
                <a:endParaRPr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546" name="Google Shape;546;p40"/>
              <p:cNvCxnSpPr/>
              <p:nvPr/>
            </p:nvCxnSpPr>
            <p:spPr>
              <a:xfrm rot="10800000">
                <a:off x="3958325" y="2699550"/>
                <a:ext cx="0" cy="2012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40"/>
              <p:cNvSpPr txBox="1"/>
              <p:nvPr/>
            </p:nvSpPr>
            <p:spPr>
              <a:xfrm>
                <a:off x="3299050" y="2347753"/>
                <a:ext cx="13722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Limitações?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pic>
            <p:nvPicPr>
              <p:cNvPr id="548" name="Google Shape;548;p4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573963" y="466348"/>
                <a:ext cx="768725" cy="16665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9" name="Google Shape;549;p40"/>
              <p:cNvSpPr txBox="1"/>
              <p:nvPr/>
            </p:nvSpPr>
            <p:spPr>
              <a:xfrm>
                <a:off x="3536675" y="233375"/>
                <a:ext cx="864000" cy="35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Minsky</a:t>
                </a:r>
                <a:endParaRPr/>
              </a:p>
            </p:txBody>
          </p:sp>
          <p:sp>
            <p:nvSpPr>
              <p:cNvPr id="550" name="Google Shape;550;p40"/>
              <p:cNvSpPr txBox="1"/>
              <p:nvPr/>
            </p:nvSpPr>
            <p:spPr>
              <a:xfrm>
                <a:off x="3647913" y="2032262"/>
                <a:ext cx="674400" cy="35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Papert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551" name="Google Shape;551;p40"/>
            <p:cNvSpPr/>
            <p:nvPr/>
          </p:nvSpPr>
          <p:spPr>
            <a:xfrm>
              <a:off x="2234700" y="1154150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2234700" y="3059150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3" name="Google Shape;553;p40"/>
            <p:cNvSpPr txBox="1"/>
            <p:nvPr/>
          </p:nvSpPr>
          <p:spPr>
            <a:xfrm>
              <a:off x="1953025" y="1265900"/>
              <a:ext cx="320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4" name="Google Shape;554;p40"/>
            <p:cNvSpPr txBox="1"/>
            <p:nvPr/>
          </p:nvSpPr>
          <p:spPr>
            <a:xfrm>
              <a:off x="1953025" y="3170900"/>
              <a:ext cx="320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55" name="Google Shape;555;p40"/>
            <p:cNvCxnSpPr>
              <a:stCxn id="551" idx="6"/>
              <a:endCxn id="556" idx="2"/>
            </p:cNvCxnSpPr>
            <p:nvPr/>
          </p:nvCxnSpPr>
          <p:spPr>
            <a:xfrm>
              <a:off x="2919900" y="1496750"/>
              <a:ext cx="13095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7" name="Google Shape;557;p40"/>
            <p:cNvCxnSpPr>
              <a:stCxn id="552" idx="6"/>
              <a:endCxn id="558" idx="2"/>
            </p:cNvCxnSpPr>
            <p:nvPr/>
          </p:nvCxnSpPr>
          <p:spPr>
            <a:xfrm>
              <a:off x="2919900" y="3401750"/>
              <a:ext cx="13095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9" name="Google Shape;559;p40"/>
            <p:cNvCxnSpPr>
              <a:stCxn id="551" idx="5"/>
              <a:endCxn id="558" idx="1"/>
            </p:cNvCxnSpPr>
            <p:nvPr/>
          </p:nvCxnSpPr>
          <p:spPr>
            <a:xfrm>
              <a:off x="2819555" y="1739005"/>
              <a:ext cx="1510200" cy="1420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0" name="Google Shape;560;p40"/>
            <p:cNvCxnSpPr>
              <a:stCxn id="552" idx="7"/>
              <a:endCxn id="556" idx="3"/>
            </p:cNvCxnSpPr>
            <p:nvPr/>
          </p:nvCxnSpPr>
          <p:spPr>
            <a:xfrm flipH="1" rot="10800000">
              <a:off x="2819555" y="1738995"/>
              <a:ext cx="1510200" cy="1420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1" name="Google Shape;561;p40"/>
            <p:cNvSpPr txBox="1"/>
            <p:nvPr/>
          </p:nvSpPr>
          <p:spPr>
            <a:xfrm>
              <a:off x="3751950" y="1096400"/>
              <a:ext cx="32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2" name="Google Shape;562;p40"/>
            <p:cNvSpPr txBox="1"/>
            <p:nvPr/>
          </p:nvSpPr>
          <p:spPr>
            <a:xfrm>
              <a:off x="3751950" y="1768750"/>
              <a:ext cx="46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3" name="Google Shape;563;p40"/>
            <p:cNvSpPr txBox="1"/>
            <p:nvPr/>
          </p:nvSpPr>
          <p:spPr>
            <a:xfrm>
              <a:off x="3751950" y="2841500"/>
              <a:ext cx="47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0,4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4" name="Google Shape;564;p40"/>
            <p:cNvSpPr txBox="1"/>
            <p:nvPr/>
          </p:nvSpPr>
          <p:spPr>
            <a:xfrm>
              <a:off x="3751950" y="3401900"/>
              <a:ext cx="47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0,4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4229425" y="3059175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AND</a:t>
              </a:r>
              <a:endParaRPr b="1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4229375" y="1154125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OR</a:t>
              </a:r>
              <a:endParaRPr sz="18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6244800" y="2106650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66" name="Google Shape;566;p40"/>
            <p:cNvCxnSpPr>
              <a:stCxn id="556" idx="6"/>
              <a:endCxn id="565" idx="1"/>
            </p:cNvCxnSpPr>
            <p:nvPr/>
          </p:nvCxnSpPr>
          <p:spPr>
            <a:xfrm>
              <a:off x="4914575" y="1496725"/>
              <a:ext cx="1430700" cy="710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7" name="Google Shape;567;p40"/>
            <p:cNvCxnSpPr>
              <a:stCxn id="558" idx="6"/>
              <a:endCxn id="565" idx="3"/>
            </p:cNvCxnSpPr>
            <p:nvPr/>
          </p:nvCxnSpPr>
          <p:spPr>
            <a:xfrm flipH="1" rot="10800000">
              <a:off x="4914625" y="2691375"/>
              <a:ext cx="1430400" cy="710400"/>
            </a:xfrm>
            <a:prstGeom prst="straightConnector1">
              <a:avLst/>
            </a:prstGeom>
            <a:noFill/>
            <a:ln cap="flat" cmpd="sng" w="19050">
              <a:solidFill>
                <a:srgbClr val="00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8" name="Google Shape;568;p40"/>
            <p:cNvSpPr txBox="1"/>
            <p:nvPr/>
          </p:nvSpPr>
          <p:spPr>
            <a:xfrm>
              <a:off x="6105175" y="1651825"/>
              <a:ext cx="32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40"/>
            <p:cNvSpPr txBox="1"/>
            <p:nvPr/>
          </p:nvSpPr>
          <p:spPr>
            <a:xfrm>
              <a:off x="6054175" y="2846475"/>
              <a:ext cx="42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0" name="Google Shape;570;p40"/>
            <p:cNvSpPr txBox="1"/>
            <p:nvPr/>
          </p:nvSpPr>
          <p:spPr>
            <a:xfrm>
              <a:off x="4862388" y="3341708"/>
              <a:ext cx="376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/>
            </a:p>
          </p:txBody>
        </p:sp>
        <p:sp>
          <p:nvSpPr>
            <p:cNvPr id="571" name="Google Shape;571;p40"/>
            <p:cNvSpPr txBox="1"/>
            <p:nvPr/>
          </p:nvSpPr>
          <p:spPr>
            <a:xfrm>
              <a:off x="5658975" y="144075"/>
              <a:ext cx="3087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 x 1</a:t>
              </a:r>
              <a:r>
                <a:rPr lang="en" sz="17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 + </a:t>
              </a:r>
              <a:r>
                <a:rPr lang="en" sz="1700">
                  <a:solidFill>
                    <a:srgbClr val="00FFFF"/>
                  </a:solidFill>
                  <a:latin typeface="Consolas"/>
                  <a:ea typeface="Consolas"/>
                  <a:cs typeface="Consolas"/>
                  <a:sym typeface="Consolas"/>
                </a:rPr>
                <a:t>1 x (-1)</a:t>
              </a:r>
              <a:r>
                <a:rPr lang="en" sz="17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72" name="Google Shape;572;p40"/>
            <p:cNvSpPr txBox="1"/>
            <p:nvPr/>
          </p:nvSpPr>
          <p:spPr>
            <a:xfrm>
              <a:off x="4842850" y="1073300"/>
              <a:ext cx="255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/>
            </a:p>
          </p:txBody>
        </p:sp>
        <p:sp>
          <p:nvSpPr>
            <p:cNvPr id="573" name="Google Shape;573;p40"/>
            <p:cNvSpPr txBox="1"/>
            <p:nvPr/>
          </p:nvSpPr>
          <p:spPr>
            <a:xfrm>
              <a:off x="6996000" y="2244975"/>
              <a:ext cx="255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8" name="Google Shape;578;p41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9" name="Google Shape;579;p41"/>
          <p:cNvGrpSpPr/>
          <p:nvPr/>
        </p:nvGrpSpPr>
        <p:grpSpPr>
          <a:xfrm>
            <a:off x="30454" y="144075"/>
            <a:ext cx="8716121" cy="4996124"/>
            <a:chOff x="30454" y="144075"/>
            <a:chExt cx="8716121" cy="4996124"/>
          </a:xfrm>
        </p:grpSpPr>
        <p:grpSp>
          <p:nvGrpSpPr>
            <p:cNvPr id="580" name="Google Shape;580;p41"/>
            <p:cNvGrpSpPr/>
            <p:nvPr/>
          </p:nvGrpSpPr>
          <p:grpSpPr>
            <a:xfrm>
              <a:off x="30454" y="233375"/>
              <a:ext cx="1372200" cy="4906824"/>
              <a:chOff x="3299050" y="233375"/>
              <a:chExt cx="1372200" cy="4906824"/>
            </a:xfrm>
          </p:grpSpPr>
          <p:sp>
            <p:nvSpPr>
              <p:cNvPr id="581" name="Google Shape;581;p41"/>
              <p:cNvSpPr txBox="1"/>
              <p:nvPr/>
            </p:nvSpPr>
            <p:spPr>
              <a:xfrm>
                <a:off x="3665551" y="4739999"/>
                <a:ext cx="60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1969</a:t>
                </a:r>
                <a:endParaRPr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582" name="Google Shape;582;p41"/>
              <p:cNvCxnSpPr/>
              <p:nvPr/>
            </p:nvCxnSpPr>
            <p:spPr>
              <a:xfrm rot="10800000">
                <a:off x="3958325" y="2699550"/>
                <a:ext cx="0" cy="2012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3" name="Google Shape;583;p41"/>
              <p:cNvSpPr txBox="1"/>
              <p:nvPr/>
            </p:nvSpPr>
            <p:spPr>
              <a:xfrm>
                <a:off x="3299050" y="2347753"/>
                <a:ext cx="13722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Limitações?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pic>
            <p:nvPicPr>
              <p:cNvPr id="584" name="Google Shape;584;p4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573963" y="466348"/>
                <a:ext cx="768725" cy="16665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5" name="Google Shape;585;p41"/>
              <p:cNvSpPr txBox="1"/>
              <p:nvPr/>
            </p:nvSpPr>
            <p:spPr>
              <a:xfrm>
                <a:off x="3536675" y="233375"/>
                <a:ext cx="864000" cy="35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Minsky</a:t>
                </a:r>
                <a:endParaRPr/>
              </a:p>
            </p:txBody>
          </p:sp>
          <p:sp>
            <p:nvSpPr>
              <p:cNvPr id="586" name="Google Shape;586;p41"/>
              <p:cNvSpPr txBox="1"/>
              <p:nvPr/>
            </p:nvSpPr>
            <p:spPr>
              <a:xfrm>
                <a:off x="3647913" y="2032262"/>
                <a:ext cx="674400" cy="35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Papert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587" name="Google Shape;587;p41"/>
            <p:cNvSpPr/>
            <p:nvPr/>
          </p:nvSpPr>
          <p:spPr>
            <a:xfrm>
              <a:off x="2234700" y="1154150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2234700" y="3059150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9" name="Google Shape;589;p41"/>
            <p:cNvSpPr txBox="1"/>
            <p:nvPr/>
          </p:nvSpPr>
          <p:spPr>
            <a:xfrm>
              <a:off x="1953025" y="1265900"/>
              <a:ext cx="320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0" name="Google Shape;590;p41"/>
            <p:cNvSpPr txBox="1"/>
            <p:nvPr/>
          </p:nvSpPr>
          <p:spPr>
            <a:xfrm>
              <a:off x="1953025" y="3170900"/>
              <a:ext cx="320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91" name="Google Shape;591;p41"/>
            <p:cNvCxnSpPr>
              <a:stCxn id="587" idx="6"/>
              <a:endCxn id="592" idx="2"/>
            </p:cNvCxnSpPr>
            <p:nvPr/>
          </p:nvCxnSpPr>
          <p:spPr>
            <a:xfrm>
              <a:off x="2919900" y="1496750"/>
              <a:ext cx="13095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3" name="Google Shape;593;p41"/>
            <p:cNvCxnSpPr>
              <a:stCxn id="588" idx="6"/>
              <a:endCxn id="594" idx="2"/>
            </p:cNvCxnSpPr>
            <p:nvPr/>
          </p:nvCxnSpPr>
          <p:spPr>
            <a:xfrm>
              <a:off x="2919900" y="3401750"/>
              <a:ext cx="13095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5" name="Google Shape;595;p41"/>
            <p:cNvCxnSpPr>
              <a:stCxn id="587" idx="5"/>
              <a:endCxn id="594" idx="1"/>
            </p:cNvCxnSpPr>
            <p:nvPr/>
          </p:nvCxnSpPr>
          <p:spPr>
            <a:xfrm>
              <a:off x="2819555" y="1739005"/>
              <a:ext cx="1510200" cy="1420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6" name="Google Shape;596;p41"/>
            <p:cNvCxnSpPr>
              <a:stCxn id="588" idx="7"/>
              <a:endCxn id="592" idx="3"/>
            </p:cNvCxnSpPr>
            <p:nvPr/>
          </p:nvCxnSpPr>
          <p:spPr>
            <a:xfrm flipH="1" rot="10800000">
              <a:off x="2819555" y="1738995"/>
              <a:ext cx="1510200" cy="1420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7" name="Google Shape;597;p41"/>
            <p:cNvSpPr txBox="1"/>
            <p:nvPr/>
          </p:nvSpPr>
          <p:spPr>
            <a:xfrm>
              <a:off x="3751950" y="1096400"/>
              <a:ext cx="32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8" name="Google Shape;598;p41"/>
            <p:cNvSpPr txBox="1"/>
            <p:nvPr/>
          </p:nvSpPr>
          <p:spPr>
            <a:xfrm>
              <a:off x="3751950" y="1768750"/>
              <a:ext cx="46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9" name="Google Shape;599;p41"/>
            <p:cNvSpPr txBox="1"/>
            <p:nvPr/>
          </p:nvSpPr>
          <p:spPr>
            <a:xfrm>
              <a:off x="3751950" y="2841500"/>
              <a:ext cx="47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0,4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0" name="Google Shape;600;p41"/>
            <p:cNvSpPr txBox="1"/>
            <p:nvPr/>
          </p:nvSpPr>
          <p:spPr>
            <a:xfrm>
              <a:off x="3751950" y="3401900"/>
              <a:ext cx="47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0,4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4" name="Google Shape;594;p41"/>
            <p:cNvSpPr/>
            <p:nvPr/>
          </p:nvSpPr>
          <p:spPr>
            <a:xfrm>
              <a:off x="4229425" y="3059175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AND</a:t>
              </a:r>
              <a:endParaRPr b="1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4229375" y="1154125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OR</a:t>
              </a:r>
              <a:endParaRPr sz="18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6244800" y="2106650"/>
              <a:ext cx="685200" cy="6852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02" name="Google Shape;602;p41"/>
            <p:cNvCxnSpPr>
              <a:stCxn id="592" idx="6"/>
              <a:endCxn id="601" idx="1"/>
            </p:cNvCxnSpPr>
            <p:nvPr/>
          </p:nvCxnSpPr>
          <p:spPr>
            <a:xfrm>
              <a:off x="4914575" y="1496725"/>
              <a:ext cx="1430700" cy="710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3" name="Google Shape;603;p41"/>
            <p:cNvCxnSpPr>
              <a:stCxn id="594" idx="6"/>
              <a:endCxn id="601" idx="3"/>
            </p:cNvCxnSpPr>
            <p:nvPr/>
          </p:nvCxnSpPr>
          <p:spPr>
            <a:xfrm flipH="1" rot="10800000">
              <a:off x="4914625" y="2691375"/>
              <a:ext cx="1430400" cy="710400"/>
            </a:xfrm>
            <a:prstGeom prst="straightConnector1">
              <a:avLst/>
            </a:prstGeom>
            <a:noFill/>
            <a:ln cap="flat" cmpd="sng" w="19050">
              <a:solidFill>
                <a:srgbClr val="00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4" name="Google Shape;604;p41"/>
            <p:cNvSpPr txBox="1"/>
            <p:nvPr/>
          </p:nvSpPr>
          <p:spPr>
            <a:xfrm>
              <a:off x="6105175" y="1651825"/>
              <a:ext cx="32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5" name="Google Shape;605;p41"/>
            <p:cNvSpPr txBox="1"/>
            <p:nvPr/>
          </p:nvSpPr>
          <p:spPr>
            <a:xfrm>
              <a:off x="6054175" y="2846475"/>
              <a:ext cx="42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-1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6" name="Google Shape;606;p41"/>
            <p:cNvSpPr txBox="1"/>
            <p:nvPr/>
          </p:nvSpPr>
          <p:spPr>
            <a:xfrm>
              <a:off x="4862388" y="3341708"/>
              <a:ext cx="376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/>
            </a:p>
          </p:txBody>
        </p:sp>
        <p:sp>
          <p:nvSpPr>
            <p:cNvPr id="607" name="Google Shape;607;p41"/>
            <p:cNvSpPr txBox="1"/>
            <p:nvPr/>
          </p:nvSpPr>
          <p:spPr>
            <a:xfrm>
              <a:off x="5658975" y="144075"/>
              <a:ext cx="3087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 x 1</a:t>
              </a:r>
              <a:r>
                <a:rPr lang="en" sz="17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 + </a:t>
              </a:r>
              <a:r>
                <a:rPr lang="en" sz="1700">
                  <a:solidFill>
                    <a:srgbClr val="00FFFF"/>
                  </a:solidFill>
                  <a:latin typeface="Consolas"/>
                  <a:ea typeface="Consolas"/>
                  <a:cs typeface="Consolas"/>
                  <a:sym typeface="Consolas"/>
                </a:rPr>
                <a:t>1 x (-1)</a:t>
              </a:r>
              <a:r>
                <a:rPr lang="en" sz="1700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7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8" name="Google Shape;608;p41"/>
            <p:cNvSpPr txBox="1"/>
            <p:nvPr/>
          </p:nvSpPr>
          <p:spPr>
            <a:xfrm>
              <a:off x="4842850" y="1073300"/>
              <a:ext cx="255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/>
            </a:p>
          </p:txBody>
        </p:sp>
        <p:sp>
          <p:nvSpPr>
            <p:cNvPr id="609" name="Google Shape;609;p41"/>
            <p:cNvSpPr txBox="1"/>
            <p:nvPr/>
          </p:nvSpPr>
          <p:spPr>
            <a:xfrm>
              <a:off x="6996000" y="2244975"/>
              <a:ext cx="255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/>
            </a:p>
          </p:txBody>
        </p:sp>
      </p:grpSp>
      <p:grpSp>
        <p:nvGrpSpPr>
          <p:cNvPr id="610" name="Google Shape;610;p41"/>
          <p:cNvGrpSpPr/>
          <p:nvPr/>
        </p:nvGrpSpPr>
        <p:grpSpPr>
          <a:xfrm>
            <a:off x="6467" y="2755735"/>
            <a:ext cx="1372200" cy="2384464"/>
            <a:chOff x="2765675" y="2755735"/>
            <a:chExt cx="1372200" cy="2384464"/>
          </a:xfrm>
        </p:grpSpPr>
        <p:pic>
          <p:nvPicPr>
            <p:cNvPr id="611" name="Google Shape;61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97350" y="2755735"/>
              <a:ext cx="908850" cy="1225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" name="Google Shape;612;p41"/>
            <p:cNvSpPr txBox="1"/>
            <p:nvPr/>
          </p:nvSpPr>
          <p:spPr>
            <a:xfrm>
              <a:off x="2765675" y="4198850"/>
              <a:ext cx="1372200" cy="354000"/>
            </a:xfrm>
            <a:prstGeom prst="rect">
              <a:avLst/>
            </a:prstGeom>
            <a:solidFill>
              <a:srgbClr val="212121">
                <a:alpha val="7785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Multicamadas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3" name="Google Shape;613;p41"/>
            <p:cNvSpPr txBox="1"/>
            <p:nvPr/>
          </p:nvSpPr>
          <p:spPr>
            <a:xfrm>
              <a:off x="3148626" y="4739999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1965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14" name="Google Shape;614;p41"/>
            <p:cNvCxnSpPr>
              <a:endCxn id="612" idx="2"/>
            </p:cNvCxnSpPr>
            <p:nvPr/>
          </p:nvCxnSpPr>
          <p:spPr>
            <a:xfrm rot="10800000">
              <a:off x="3451775" y="4552850"/>
              <a:ext cx="0" cy="1680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5" name="Google Shape;615;p41"/>
            <p:cNvSpPr txBox="1"/>
            <p:nvPr/>
          </p:nvSpPr>
          <p:spPr>
            <a:xfrm>
              <a:off x="2944549" y="3662779"/>
              <a:ext cx="977400" cy="5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Alexey</a:t>
              </a:r>
              <a:b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</a:b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Ivakhnenko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42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1" name="Google Shape;621;p42"/>
          <p:cNvGrpSpPr/>
          <p:nvPr/>
        </p:nvGrpSpPr>
        <p:grpSpPr>
          <a:xfrm>
            <a:off x="6467" y="152400"/>
            <a:ext cx="8284308" cy="4987799"/>
            <a:chOff x="6467" y="152400"/>
            <a:chExt cx="8284308" cy="4987799"/>
          </a:xfrm>
        </p:grpSpPr>
        <p:grpSp>
          <p:nvGrpSpPr>
            <p:cNvPr id="622" name="Google Shape;622;p42"/>
            <p:cNvGrpSpPr/>
            <p:nvPr/>
          </p:nvGrpSpPr>
          <p:grpSpPr>
            <a:xfrm>
              <a:off x="6467" y="2755735"/>
              <a:ext cx="1372200" cy="2384464"/>
              <a:chOff x="2765675" y="2755735"/>
              <a:chExt cx="1372200" cy="2384464"/>
            </a:xfrm>
          </p:grpSpPr>
          <p:pic>
            <p:nvPicPr>
              <p:cNvPr id="623" name="Google Shape;623;p4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997350" y="2755735"/>
                <a:ext cx="908850" cy="12251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4" name="Google Shape;624;p42"/>
              <p:cNvSpPr txBox="1"/>
              <p:nvPr/>
            </p:nvSpPr>
            <p:spPr>
              <a:xfrm>
                <a:off x="2765675" y="4198850"/>
                <a:ext cx="1372200" cy="354000"/>
              </a:xfrm>
              <a:prstGeom prst="rect">
                <a:avLst/>
              </a:prstGeom>
              <a:solidFill>
                <a:srgbClr val="212121">
                  <a:alpha val="77850"/>
                </a:srgbClr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Multicamadas</a:t>
                </a:r>
                <a:endParaRPr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625" name="Google Shape;625;p42"/>
              <p:cNvSpPr txBox="1"/>
              <p:nvPr/>
            </p:nvSpPr>
            <p:spPr>
              <a:xfrm>
                <a:off x="3148626" y="4739999"/>
                <a:ext cx="60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1965</a:t>
                </a:r>
                <a:endParaRPr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cxnSp>
            <p:nvCxnSpPr>
              <p:cNvPr id="626" name="Google Shape;626;p42"/>
              <p:cNvCxnSpPr>
                <a:endCxn id="624" idx="2"/>
              </p:cNvCxnSpPr>
              <p:nvPr/>
            </p:nvCxnSpPr>
            <p:spPr>
              <a:xfrm rot="10800000">
                <a:off x="3451775" y="4552850"/>
                <a:ext cx="0" cy="1680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7" name="Google Shape;627;p42"/>
              <p:cNvSpPr txBox="1"/>
              <p:nvPr/>
            </p:nvSpPr>
            <p:spPr>
              <a:xfrm>
                <a:off x="2944549" y="3662779"/>
                <a:ext cx="977400" cy="523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Alexey</a:t>
                </a:r>
                <a:b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</a:br>
                <a:r>
                  <a:rPr lang="en" sz="11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rPr>
                  <a:t>Ivakhnenko</a:t>
                </a:r>
                <a:endParaRPr/>
              </a:p>
            </p:txBody>
          </p:sp>
        </p:grpSp>
        <p:pic>
          <p:nvPicPr>
            <p:cNvPr id="628" name="Google Shape;62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63900" y="152400"/>
              <a:ext cx="5426875" cy="4106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9" name="Google Shape;629;p42"/>
          <p:cNvGrpSpPr/>
          <p:nvPr/>
        </p:nvGrpSpPr>
        <p:grpSpPr>
          <a:xfrm>
            <a:off x="-39141" y="533349"/>
            <a:ext cx="1976224" cy="4606851"/>
            <a:chOff x="-39141" y="533349"/>
            <a:chExt cx="1976224" cy="4606851"/>
          </a:xfrm>
        </p:grpSpPr>
        <p:sp>
          <p:nvSpPr>
            <p:cNvPr id="630" name="Google Shape;630;p42"/>
            <p:cNvSpPr txBox="1"/>
            <p:nvPr/>
          </p:nvSpPr>
          <p:spPr>
            <a:xfrm>
              <a:off x="379107" y="4740000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1986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31" name="Google Shape;631;p42"/>
            <p:cNvCxnSpPr/>
            <p:nvPr/>
          </p:nvCxnSpPr>
          <p:spPr>
            <a:xfrm rot="10800000">
              <a:off x="690857" y="4535500"/>
              <a:ext cx="0" cy="1956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2" name="Google Shape;632;p42"/>
            <p:cNvSpPr txBox="1"/>
            <p:nvPr/>
          </p:nvSpPr>
          <p:spPr>
            <a:xfrm>
              <a:off x="4996" y="4181440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33" name="Google Shape;633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3620" y="1529729"/>
              <a:ext cx="674500" cy="733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4" name="Google Shape;634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3596" y="2474640"/>
              <a:ext cx="674500" cy="75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5" name="Google Shape;635;p4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87970" y="3421584"/>
              <a:ext cx="606300" cy="714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6" name="Google Shape;636;p4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53596" y="533349"/>
              <a:ext cx="674500" cy="8208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42"/>
            <p:cNvSpPr txBox="1"/>
            <p:nvPr/>
          </p:nvSpPr>
          <p:spPr>
            <a:xfrm>
              <a:off x="1022908" y="786485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LeCun</a:t>
              </a:r>
              <a:endParaRPr/>
            </a:p>
          </p:txBody>
        </p:sp>
        <p:sp>
          <p:nvSpPr>
            <p:cNvPr id="638" name="Google Shape;638;p42"/>
            <p:cNvSpPr txBox="1"/>
            <p:nvPr/>
          </p:nvSpPr>
          <p:spPr>
            <a:xfrm>
              <a:off x="1028083" y="1737425"/>
              <a:ext cx="909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Rumelhart</a:t>
              </a:r>
              <a:endParaRPr/>
            </a:p>
          </p:txBody>
        </p:sp>
        <p:sp>
          <p:nvSpPr>
            <p:cNvPr id="639" name="Google Shape;639;p42"/>
            <p:cNvSpPr txBox="1"/>
            <p:nvPr/>
          </p:nvSpPr>
          <p:spPr>
            <a:xfrm>
              <a:off x="1022908" y="2688363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Hinton</a:t>
              </a:r>
              <a:endParaRPr/>
            </a:p>
          </p:txBody>
        </p:sp>
        <p:sp>
          <p:nvSpPr>
            <p:cNvPr id="640" name="Google Shape;640;p42"/>
            <p:cNvSpPr txBox="1"/>
            <p:nvPr/>
          </p:nvSpPr>
          <p:spPr>
            <a:xfrm>
              <a:off x="994258" y="3639300"/>
              <a:ext cx="7317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Williams</a:t>
              </a:r>
              <a:endParaRPr/>
            </a:p>
          </p:txBody>
        </p:sp>
        <p:sp>
          <p:nvSpPr>
            <p:cNvPr id="641" name="Google Shape;641;p42"/>
            <p:cNvSpPr txBox="1"/>
            <p:nvPr/>
          </p:nvSpPr>
          <p:spPr>
            <a:xfrm>
              <a:off x="-39141" y="4181450"/>
              <a:ext cx="1485600" cy="354000"/>
            </a:xfrm>
            <a:prstGeom prst="rect">
              <a:avLst/>
            </a:prstGeom>
            <a:solidFill>
              <a:srgbClr val="212121">
                <a:alpha val="7785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Retropropagação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Google Shape;646;p43"/>
          <p:cNvCxnSpPr/>
          <p:nvPr/>
        </p:nvCxnSpPr>
        <p:spPr>
          <a:xfrm>
            <a:off x="-192100" y="4738475"/>
            <a:ext cx="9957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47" name="Google Shape;647;p43"/>
          <p:cNvGrpSpPr/>
          <p:nvPr/>
        </p:nvGrpSpPr>
        <p:grpSpPr>
          <a:xfrm>
            <a:off x="-39141" y="533349"/>
            <a:ext cx="1976224" cy="4606851"/>
            <a:chOff x="-39141" y="533349"/>
            <a:chExt cx="1976224" cy="4606851"/>
          </a:xfrm>
        </p:grpSpPr>
        <p:sp>
          <p:nvSpPr>
            <p:cNvPr id="648" name="Google Shape;648;p43"/>
            <p:cNvSpPr txBox="1"/>
            <p:nvPr/>
          </p:nvSpPr>
          <p:spPr>
            <a:xfrm>
              <a:off x="379107" y="4740000"/>
              <a:ext cx="606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1986</a:t>
              </a:r>
              <a:endPara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49" name="Google Shape;649;p43"/>
            <p:cNvCxnSpPr/>
            <p:nvPr/>
          </p:nvCxnSpPr>
          <p:spPr>
            <a:xfrm rot="10800000">
              <a:off x="690857" y="4535500"/>
              <a:ext cx="0" cy="19560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0" name="Google Shape;650;p43"/>
            <p:cNvSpPr txBox="1"/>
            <p:nvPr/>
          </p:nvSpPr>
          <p:spPr>
            <a:xfrm>
              <a:off x="4996" y="4181440"/>
              <a:ext cx="1372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651" name="Google Shape;65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3620" y="1529729"/>
              <a:ext cx="674500" cy="733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2" name="Google Shape;65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3596" y="2474640"/>
              <a:ext cx="674500" cy="75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7970" y="3421584"/>
              <a:ext cx="606300" cy="714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4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53596" y="533349"/>
              <a:ext cx="674500" cy="8208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43"/>
            <p:cNvSpPr txBox="1"/>
            <p:nvPr/>
          </p:nvSpPr>
          <p:spPr>
            <a:xfrm>
              <a:off x="1022908" y="786485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LeCun</a:t>
              </a:r>
              <a:endParaRPr/>
            </a:p>
          </p:txBody>
        </p:sp>
        <p:sp>
          <p:nvSpPr>
            <p:cNvPr id="656" name="Google Shape;656;p43"/>
            <p:cNvSpPr txBox="1"/>
            <p:nvPr/>
          </p:nvSpPr>
          <p:spPr>
            <a:xfrm>
              <a:off x="1028083" y="1737425"/>
              <a:ext cx="9090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Rumelhart</a:t>
              </a:r>
              <a:endParaRPr/>
            </a:p>
          </p:txBody>
        </p:sp>
        <p:sp>
          <p:nvSpPr>
            <p:cNvPr id="657" name="Google Shape;657;p43"/>
            <p:cNvSpPr txBox="1"/>
            <p:nvPr/>
          </p:nvSpPr>
          <p:spPr>
            <a:xfrm>
              <a:off x="1022908" y="2688363"/>
              <a:ext cx="6744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Hinton</a:t>
              </a:r>
              <a:endParaRPr/>
            </a:p>
          </p:txBody>
        </p:sp>
        <p:sp>
          <p:nvSpPr>
            <p:cNvPr id="658" name="Google Shape;658;p43"/>
            <p:cNvSpPr txBox="1"/>
            <p:nvPr/>
          </p:nvSpPr>
          <p:spPr>
            <a:xfrm>
              <a:off x="994258" y="3639300"/>
              <a:ext cx="731700" cy="354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Williams</a:t>
              </a:r>
              <a:endParaRPr/>
            </a:p>
          </p:txBody>
        </p:sp>
        <p:sp>
          <p:nvSpPr>
            <p:cNvPr id="659" name="Google Shape;659;p43"/>
            <p:cNvSpPr txBox="1"/>
            <p:nvPr/>
          </p:nvSpPr>
          <p:spPr>
            <a:xfrm>
              <a:off x="-39141" y="4181450"/>
              <a:ext cx="1485600" cy="354000"/>
            </a:xfrm>
            <a:prstGeom prst="rect">
              <a:avLst/>
            </a:prstGeom>
            <a:solidFill>
              <a:srgbClr val="212121">
                <a:alpha val="77850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Retropropagação</a:t>
              </a:r>
              <a:endParaRPr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660" name="Google Shape;660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1677" y="1352998"/>
            <a:ext cx="5546576" cy="3119951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3"/>
          <p:cNvSpPr txBox="1"/>
          <p:nvPr/>
        </p:nvSpPr>
        <p:spPr>
          <a:xfrm>
            <a:off x="2289200" y="424225"/>
            <a:ext cx="63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Propagação dos erros para trás (multiplicando pelos pesos)</a:t>
            </a:r>
            <a:endParaRPr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4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Entendendo as redes neurais modernas</a:t>
            </a:r>
            <a:endParaRPr/>
          </a:p>
        </p:txBody>
      </p:sp>
      <p:sp>
        <p:nvSpPr>
          <p:cNvPr id="667" name="Google Shape;667;p44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8" name="Google Shape;6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00" y="202625"/>
            <a:ext cx="3104025" cy="1877925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9" name="Google Shape;669;p44"/>
          <p:cNvPicPr preferRelativeResize="0"/>
          <p:nvPr/>
        </p:nvPicPr>
        <p:blipFill rotWithShape="1">
          <a:blip r:embed="rId4">
            <a:alphaModFix/>
          </a:blip>
          <a:srcRect b="19081" l="0" r="0" t="0"/>
          <a:stretch/>
        </p:blipFill>
        <p:spPr>
          <a:xfrm>
            <a:off x="4924500" y="416500"/>
            <a:ext cx="3507525" cy="15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neurônio ou perceptron é um modelo do neurônio biológico: com 4 componentes</a:t>
            </a:r>
            <a:endParaRPr/>
          </a:p>
        </p:txBody>
      </p:sp>
      <p:pic>
        <p:nvPicPr>
          <p:cNvPr id="675" name="Google Shape;6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50" y="1201287"/>
            <a:ext cx="3104025" cy="1877925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6" name="Google Shape;676;p45"/>
          <p:cNvSpPr txBox="1"/>
          <p:nvPr>
            <p:ph idx="1" type="body"/>
          </p:nvPr>
        </p:nvSpPr>
        <p:spPr>
          <a:xfrm>
            <a:off x="505875" y="3193675"/>
            <a:ext cx="8282700" cy="195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Entrada (</a:t>
            </a:r>
            <a:r>
              <a:rPr lang="en">
                <a:latin typeface="Zeyada"/>
                <a:ea typeface="Zeyada"/>
                <a:cs typeface="Zeyada"/>
                <a:sym typeface="Zeyada"/>
              </a:rPr>
              <a:t>  </a:t>
            </a:r>
            <a:r>
              <a:rPr lang="en"/>
              <a:t>): recebe um conjunto de entradas (                    )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Pesos (</a:t>
            </a:r>
            <a:r>
              <a:rPr lang="en">
                <a:latin typeface="Licorice"/>
                <a:ea typeface="Licorice"/>
                <a:cs typeface="Licorice"/>
                <a:sym typeface="Licorice"/>
              </a:rPr>
              <a:t>   </a:t>
            </a:r>
            <a:r>
              <a:rPr lang="en"/>
              <a:t>): </a:t>
            </a:r>
            <a:r>
              <a:rPr lang="en">
                <a:latin typeface="Corsiva"/>
                <a:ea typeface="Corsiva"/>
                <a:cs typeface="Corsiva"/>
                <a:sym typeface="Corsiva"/>
              </a:rPr>
              <a:t>  </a:t>
            </a:r>
            <a:r>
              <a:rPr lang="en"/>
              <a:t>  é multiplicado pelos </a:t>
            </a:r>
            <a:endParaRPr>
              <a:latin typeface="Amita"/>
              <a:ea typeface="Amita"/>
              <a:cs typeface="Amita"/>
              <a:sym typeface="Amita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Função de ativação: </a:t>
            </a:r>
            <a:r>
              <a:rPr lang="en"/>
              <a:t>neurônio </a:t>
            </a:r>
            <a:r>
              <a:rPr lang="en"/>
              <a:t>executa uma função em cima dessa soma (sigmóide, tanh, ...)</a:t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Saída: resultado pode ser a saída final ou enviada para outros neurônios</a:t>
            </a:r>
            <a:endParaRPr/>
          </a:p>
        </p:txBody>
      </p:sp>
      <p:grpSp>
        <p:nvGrpSpPr>
          <p:cNvPr id="677" name="Google Shape;677;p45"/>
          <p:cNvGrpSpPr/>
          <p:nvPr/>
        </p:nvGrpSpPr>
        <p:grpSpPr>
          <a:xfrm>
            <a:off x="4835143" y="3636934"/>
            <a:ext cx="3449833" cy="353131"/>
            <a:chOff x="3928368" y="3623705"/>
            <a:chExt cx="4458300" cy="456300"/>
          </a:xfrm>
        </p:grpSpPr>
        <p:sp>
          <p:nvSpPr>
            <p:cNvPr id="678" name="Google Shape;678;p45"/>
            <p:cNvSpPr/>
            <p:nvPr/>
          </p:nvSpPr>
          <p:spPr>
            <a:xfrm>
              <a:off x="3928368" y="3623705"/>
              <a:ext cx="4458300" cy="45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  <p:pic>
          <p:nvPicPr>
            <p:cNvPr id="679" name="Google Shape;67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8441" y="3696099"/>
              <a:ext cx="4306199" cy="326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0" name="Google Shape;68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701" y="3248121"/>
            <a:ext cx="168525" cy="2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329" y="3256283"/>
            <a:ext cx="1074596" cy="2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9847" y="3650700"/>
            <a:ext cx="168525" cy="2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2975" y="3658537"/>
            <a:ext cx="210483" cy="2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7200" y="3642529"/>
            <a:ext cx="210483" cy="2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53450" y="1151476"/>
            <a:ext cx="3673183" cy="197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rede com entrada e um neurônio de saída = regresão logística!</a:t>
            </a:r>
            <a:endParaRPr/>
          </a:p>
        </p:txBody>
      </p:sp>
      <p:pic>
        <p:nvPicPr>
          <p:cNvPr id="691" name="Google Shape;6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419" y="1345849"/>
            <a:ext cx="6562274" cy="353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regressão logística nada mais é do que apenas um neurônio cuja função de ativação é a sigmóíde</a:t>
            </a:r>
            <a:endParaRPr/>
          </a:p>
        </p:txBody>
      </p:sp>
      <p:pic>
        <p:nvPicPr>
          <p:cNvPr id="697" name="Google Shape;6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550" y="1114900"/>
            <a:ext cx="3806550" cy="4028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47"/>
          <p:cNvGrpSpPr/>
          <p:nvPr/>
        </p:nvGrpSpPr>
        <p:grpSpPr>
          <a:xfrm>
            <a:off x="428034" y="1606474"/>
            <a:ext cx="3886367" cy="378075"/>
            <a:chOff x="1596625" y="2502950"/>
            <a:chExt cx="5409000" cy="526200"/>
          </a:xfrm>
        </p:grpSpPr>
        <p:sp>
          <p:nvSpPr>
            <p:cNvPr id="699" name="Google Shape;699;p47"/>
            <p:cNvSpPr/>
            <p:nvPr/>
          </p:nvSpPr>
          <p:spPr>
            <a:xfrm>
              <a:off x="1596625" y="2502950"/>
              <a:ext cx="5409000" cy="526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700" name="Google Shape;700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6042" y="2643451"/>
              <a:ext cx="5089524" cy="263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1" name="Google Shape;701;p47"/>
          <p:cNvPicPr preferRelativeResize="0"/>
          <p:nvPr/>
        </p:nvPicPr>
        <p:blipFill rotWithShape="1">
          <a:blip r:embed="rId5">
            <a:alphaModFix/>
          </a:blip>
          <a:srcRect b="19081" l="0" r="0" t="0"/>
          <a:stretch/>
        </p:blipFill>
        <p:spPr>
          <a:xfrm>
            <a:off x="617450" y="2515850"/>
            <a:ext cx="3507525" cy="15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grande diferença é que podemos criar mais de uma camada de neurônios:</a:t>
            </a:r>
            <a:endParaRPr/>
          </a:p>
        </p:txBody>
      </p:sp>
      <p:pic>
        <p:nvPicPr>
          <p:cNvPr descr="a diagram showing a dog and a cat with the words input and output (Provided by Tenor)" id="707" name="Google Shape;70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275" y="1595425"/>
            <a:ext cx="5663100" cy="31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9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a rede neural é treinada?</a:t>
            </a:r>
            <a:endParaRPr/>
          </a:p>
        </p:txBody>
      </p:sp>
      <p:sp>
        <p:nvSpPr>
          <p:cNvPr id="713" name="Google Shape;713;p49"/>
          <p:cNvSpPr/>
          <p:nvPr/>
        </p:nvSpPr>
        <p:spPr>
          <a:xfrm>
            <a:off x="170100" y="153075"/>
            <a:ext cx="5255700" cy="22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4" name="Google Shape;714;p49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00" y="117700"/>
            <a:ext cx="4503823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Regressão Logística: erro * entrada</a:t>
            </a:r>
            <a:endParaRPr/>
          </a:p>
        </p:txBody>
      </p:sp>
      <p:sp>
        <p:nvSpPr>
          <p:cNvPr id="721" name="Google Shape;721;p50"/>
          <p:cNvSpPr/>
          <p:nvPr/>
        </p:nvSpPr>
        <p:spPr>
          <a:xfrm>
            <a:off x="190690" y="1319113"/>
            <a:ext cx="4567200" cy="92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22" name="Google Shape;72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30" y="1419065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0"/>
          <p:cNvSpPr/>
          <p:nvPr/>
        </p:nvSpPr>
        <p:spPr>
          <a:xfrm>
            <a:off x="3064200" y="1319113"/>
            <a:ext cx="1614300" cy="4908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24" name="Google Shape;724;p50"/>
          <p:cNvCxnSpPr/>
          <p:nvPr/>
        </p:nvCxnSpPr>
        <p:spPr>
          <a:xfrm>
            <a:off x="6703305" y="4067825"/>
            <a:ext cx="1152900" cy="0"/>
          </a:xfrm>
          <a:prstGeom prst="straightConnector1">
            <a:avLst/>
          </a:prstGeom>
          <a:noFill/>
          <a:ln cap="flat" cmpd="sng" w="38100">
            <a:solidFill>
              <a:srgbClr val="359E4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5" name="Google Shape;72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68" y="2659125"/>
            <a:ext cx="6476199" cy="22074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6" name="Google Shape;726;p50"/>
          <p:cNvGraphicFramePr/>
          <p:nvPr/>
        </p:nvGraphicFramePr>
        <p:xfrm>
          <a:off x="7899183" y="3841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{5BB06470-4F40-489E-8002-071D86AA56DA}</a:tableStyleId>
              </a:tblPr>
              <a:tblGrid>
                <a:gridCol w="1076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0,1275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7" name="Google Shape;727;p50"/>
          <p:cNvSpPr txBox="1"/>
          <p:nvPr/>
        </p:nvSpPr>
        <p:spPr>
          <a:xfrm>
            <a:off x="7383663" y="3441075"/>
            <a:ext cx="1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 do erro</a:t>
            </a:r>
            <a:endParaRPr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8" name="Google Shape;728;p50"/>
          <p:cNvSpPr/>
          <p:nvPr/>
        </p:nvSpPr>
        <p:spPr>
          <a:xfrm>
            <a:off x="6067000" y="3373150"/>
            <a:ext cx="558600" cy="15000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1"/>
          <p:cNvSpPr txBox="1"/>
          <p:nvPr>
            <p:ph idx="4294967295" type="title"/>
          </p:nvPr>
        </p:nvSpPr>
        <p:spPr>
          <a:xfrm>
            <a:off x="607500" y="27877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Isso seria apenas o neurônio final (onde temos o erro)</a:t>
            </a:r>
            <a:endParaRPr/>
          </a:p>
        </p:txBody>
      </p:sp>
      <p:sp>
        <p:nvSpPr>
          <p:cNvPr id="734" name="Google Shape;734;p51"/>
          <p:cNvSpPr/>
          <p:nvPr/>
        </p:nvSpPr>
        <p:spPr>
          <a:xfrm>
            <a:off x="417650" y="1671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5" name="Google Shape;735;p51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36" name="Google Shape;736;p51"/>
          <p:cNvCxnSpPr>
            <a:stCxn id="734" idx="6"/>
            <a:endCxn id="737" idx="2"/>
          </p:cNvCxnSpPr>
          <p:nvPr/>
        </p:nvCxnSpPr>
        <p:spPr>
          <a:xfrm>
            <a:off x="1102850" y="2014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51"/>
          <p:cNvCxnSpPr>
            <a:stCxn id="735" idx="6"/>
            <a:endCxn id="739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0" name="Google Shape;740;p51"/>
          <p:cNvCxnSpPr>
            <a:stCxn id="734" idx="5"/>
            <a:endCxn id="739" idx="1"/>
          </p:cNvCxnSpPr>
          <p:nvPr/>
        </p:nvCxnSpPr>
        <p:spPr>
          <a:xfrm>
            <a:off x="1002505" y="22564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51"/>
          <p:cNvCxnSpPr>
            <a:stCxn id="735" idx="7"/>
            <a:endCxn id="737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9" name="Google Shape;739;p51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7" name="Google Shape;737;p51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2" name="Google Shape;742;p51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3" name="Google Shape;743;p51"/>
          <p:cNvCxnSpPr>
            <a:stCxn id="737" idx="6"/>
            <a:endCxn id="742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51"/>
          <p:cNvCxnSpPr>
            <a:stCxn id="739" idx="6"/>
            <a:endCxn id="742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45" name="Google Shape;74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25" y="2699951"/>
            <a:ext cx="24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1"/>
          <p:cNvPicPr preferRelativeResize="0"/>
          <p:nvPr/>
        </p:nvPicPr>
        <p:blipFill rotWithShape="1">
          <a:blip r:embed="rId4">
            <a:alphaModFix/>
          </a:blip>
          <a:srcRect b="0" l="0" r="51557" t="0"/>
          <a:stretch/>
        </p:blipFill>
        <p:spPr>
          <a:xfrm>
            <a:off x="3710701" y="1925913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51"/>
          <p:cNvPicPr preferRelativeResize="0"/>
          <p:nvPr/>
        </p:nvPicPr>
        <p:blipFill rotWithShape="1">
          <a:blip r:embed="rId4">
            <a:alphaModFix/>
          </a:blip>
          <a:srcRect b="0" l="49711" r="0" t="0"/>
          <a:stretch/>
        </p:blipFill>
        <p:spPr>
          <a:xfrm>
            <a:off x="3704774" y="3676900"/>
            <a:ext cx="32292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51"/>
          <p:cNvPicPr preferRelativeResize="0"/>
          <p:nvPr/>
        </p:nvPicPr>
        <p:blipFill rotWithShape="1">
          <a:blip r:embed="rId5">
            <a:alphaModFix/>
          </a:blip>
          <a:srcRect b="0" l="0" r="52105" t="0"/>
          <a:stretch/>
        </p:blipFill>
        <p:spPr>
          <a:xfrm>
            <a:off x="2552206" y="1766375"/>
            <a:ext cx="41387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1"/>
          <p:cNvPicPr preferRelativeResize="0"/>
          <p:nvPr/>
        </p:nvPicPr>
        <p:blipFill rotWithShape="1">
          <a:blip r:embed="rId5">
            <a:alphaModFix/>
          </a:blip>
          <a:srcRect b="0" l="48977" r="0" t="0"/>
          <a:stretch/>
        </p:blipFill>
        <p:spPr>
          <a:xfrm>
            <a:off x="2518225" y="3676900"/>
            <a:ext cx="440900" cy="4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2"/>
          <p:cNvSpPr txBox="1"/>
          <p:nvPr>
            <p:ph idx="4294967295" type="title"/>
          </p:nvPr>
        </p:nvSpPr>
        <p:spPr>
          <a:xfrm>
            <a:off x="607500" y="27877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Isso seria apenas o neurônio final (onde temos o erro)</a:t>
            </a:r>
            <a:endParaRPr/>
          </a:p>
        </p:txBody>
      </p:sp>
      <p:sp>
        <p:nvSpPr>
          <p:cNvPr id="755" name="Google Shape;755;p52"/>
          <p:cNvSpPr/>
          <p:nvPr/>
        </p:nvSpPr>
        <p:spPr>
          <a:xfrm>
            <a:off x="417650" y="1671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6" name="Google Shape;756;p52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57" name="Google Shape;757;p52"/>
          <p:cNvCxnSpPr>
            <a:stCxn id="755" idx="6"/>
            <a:endCxn id="758" idx="2"/>
          </p:cNvCxnSpPr>
          <p:nvPr/>
        </p:nvCxnSpPr>
        <p:spPr>
          <a:xfrm>
            <a:off x="1102850" y="2014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52"/>
          <p:cNvCxnSpPr>
            <a:stCxn id="756" idx="6"/>
            <a:endCxn id="760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52"/>
          <p:cNvCxnSpPr>
            <a:stCxn id="755" idx="5"/>
            <a:endCxn id="760" idx="1"/>
          </p:cNvCxnSpPr>
          <p:nvPr/>
        </p:nvCxnSpPr>
        <p:spPr>
          <a:xfrm>
            <a:off x="1002505" y="22564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52"/>
          <p:cNvCxnSpPr>
            <a:stCxn id="756" idx="7"/>
            <a:endCxn id="758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0" name="Google Shape;760;p52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8" name="Google Shape;758;p52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3" name="Google Shape;763;p52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64" name="Google Shape;764;p52"/>
          <p:cNvCxnSpPr>
            <a:stCxn id="758" idx="6"/>
            <a:endCxn id="763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52"/>
          <p:cNvCxnSpPr>
            <a:stCxn id="760" idx="6"/>
            <a:endCxn id="763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66" name="Google Shape;76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25" y="2699951"/>
            <a:ext cx="24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2"/>
          <p:cNvPicPr preferRelativeResize="0"/>
          <p:nvPr/>
        </p:nvPicPr>
        <p:blipFill rotWithShape="1">
          <a:blip r:embed="rId4">
            <a:alphaModFix/>
          </a:blip>
          <a:srcRect b="0" l="0" r="51557" t="0"/>
          <a:stretch/>
        </p:blipFill>
        <p:spPr>
          <a:xfrm>
            <a:off x="3710701" y="1925913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2"/>
          <p:cNvPicPr preferRelativeResize="0"/>
          <p:nvPr/>
        </p:nvPicPr>
        <p:blipFill rotWithShape="1">
          <a:blip r:embed="rId4">
            <a:alphaModFix/>
          </a:blip>
          <a:srcRect b="0" l="49711" r="0" t="0"/>
          <a:stretch/>
        </p:blipFill>
        <p:spPr>
          <a:xfrm>
            <a:off x="3704774" y="3676900"/>
            <a:ext cx="32292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2"/>
          <p:cNvPicPr preferRelativeResize="0"/>
          <p:nvPr/>
        </p:nvPicPr>
        <p:blipFill rotWithShape="1">
          <a:blip r:embed="rId5">
            <a:alphaModFix/>
          </a:blip>
          <a:srcRect b="0" l="0" r="52105" t="0"/>
          <a:stretch/>
        </p:blipFill>
        <p:spPr>
          <a:xfrm>
            <a:off x="2552206" y="1766375"/>
            <a:ext cx="41387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2"/>
          <p:cNvPicPr preferRelativeResize="0"/>
          <p:nvPr/>
        </p:nvPicPr>
        <p:blipFill rotWithShape="1">
          <a:blip r:embed="rId5">
            <a:alphaModFix/>
          </a:blip>
          <a:srcRect b="0" l="48977" r="0" t="0"/>
          <a:stretch/>
        </p:blipFill>
        <p:spPr>
          <a:xfrm>
            <a:off x="2518225" y="3676900"/>
            <a:ext cx="440900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8100" y="2699951"/>
            <a:ext cx="27336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2"/>
          <p:cNvSpPr txBox="1"/>
          <p:nvPr/>
        </p:nvSpPr>
        <p:spPr>
          <a:xfrm>
            <a:off x="6516650" y="1095300"/>
            <a:ext cx="180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2"/>
                </a:solidFill>
                <a:latin typeface="EB Garamond"/>
                <a:ea typeface="EB Garamond"/>
                <a:cs typeface="EB Garamond"/>
                <a:sym typeface="EB Garamond"/>
              </a:rPr>
              <a:t>estimado</a:t>
            </a:r>
            <a:endParaRPr>
              <a:solidFill>
                <a:schemeClr val="accen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cxnSp>
        <p:nvCxnSpPr>
          <p:cNvPr id="773" name="Google Shape;773;p52"/>
          <p:cNvCxnSpPr/>
          <p:nvPr/>
        </p:nvCxnSpPr>
        <p:spPr>
          <a:xfrm rot="10800000">
            <a:off x="7416800" y="1746175"/>
            <a:ext cx="0" cy="809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4" name="Google Shape;774;p52"/>
          <p:cNvSpPr txBox="1"/>
          <p:nvPr/>
        </p:nvSpPr>
        <p:spPr>
          <a:xfrm>
            <a:off x="7416800" y="4161450"/>
            <a:ext cx="180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real</a:t>
            </a:r>
            <a:endParaRPr>
              <a:solidFill>
                <a:schemeClr val="accen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cxnSp>
        <p:nvCxnSpPr>
          <p:cNvPr id="775" name="Google Shape;775;p52"/>
          <p:cNvCxnSpPr/>
          <p:nvPr/>
        </p:nvCxnSpPr>
        <p:spPr>
          <a:xfrm rot="10800000">
            <a:off x="8316950" y="3428688"/>
            <a:ext cx="0" cy="809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3"/>
          <p:cNvSpPr txBox="1"/>
          <p:nvPr>
            <p:ph idx="4294967295" type="title"/>
          </p:nvPr>
        </p:nvSpPr>
        <p:spPr>
          <a:xfrm>
            <a:off x="607500" y="27877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Podemos atualizar </a:t>
            </a:r>
            <a:endParaRPr/>
          </a:p>
        </p:txBody>
      </p:sp>
      <p:sp>
        <p:nvSpPr>
          <p:cNvPr id="781" name="Google Shape;781;p53"/>
          <p:cNvSpPr/>
          <p:nvPr/>
        </p:nvSpPr>
        <p:spPr>
          <a:xfrm>
            <a:off x="417650" y="1671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2" name="Google Shape;782;p53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83" name="Google Shape;783;p53"/>
          <p:cNvCxnSpPr>
            <a:stCxn id="781" idx="6"/>
            <a:endCxn id="784" idx="2"/>
          </p:cNvCxnSpPr>
          <p:nvPr/>
        </p:nvCxnSpPr>
        <p:spPr>
          <a:xfrm>
            <a:off x="1102850" y="2014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5" name="Google Shape;785;p53"/>
          <p:cNvCxnSpPr>
            <a:stCxn id="782" idx="6"/>
            <a:endCxn id="786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7" name="Google Shape;787;p53"/>
          <p:cNvCxnSpPr>
            <a:stCxn id="781" idx="5"/>
            <a:endCxn id="786" idx="1"/>
          </p:cNvCxnSpPr>
          <p:nvPr/>
        </p:nvCxnSpPr>
        <p:spPr>
          <a:xfrm>
            <a:off x="1002505" y="22564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8" name="Google Shape;788;p53"/>
          <p:cNvCxnSpPr>
            <a:stCxn id="782" idx="7"/>
            <a:endCxn id="784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6" name="Google Shape;786;p53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4" name="Google Shape;784;p53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9" name="Google Shape;789;p53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90" name="Google Shape;790;p53"/>
          <p:cNvCxnSpPr>
            <a:stCxn id="784" idx="6"/>
            <a:endCxn id="789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53"/>
          <p:cNvCxnSpPr>
            <a:stCxn id="786" idx="6"/>
            <a:endCxn id="789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92" name="Google Shape;7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25" y="2699951"/>
            <a:ext cx="24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3"/>
          <p:cNvPicPr preferRelativeResize="0"/>
          <p:nvPr/>
        </p:nvPicPr>
        <p:blipFill rotWithShape="1">
          <a:blip r:embed="rId4">
            <a:alphaModFix/>
          </a:blip>
          <a:srcRect b="0" l="0" r="51557" t="0"/>
          <a:stretch/>
        </p:blipFill>
        <p:spPr>
          <a:xfrm>
            <a:off x="3710701" y="1925913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3"/>
          <p:cNvPicPr preferRelativeResize="0"/>
          <p:nvPr/>
        </p:nvPicPr>
        <p:blipFill rotWithShape="1">
          <a:blip r:embed="rId4">
            <a:alphaModFix/>
          </a:blip>
          <a:srcRect b="0" l="49711" r="0" t="0"/>
          <a:stretch/>
        </p:blipFill>
        <p:spPr>
          <a:xfrm>
            <a:off x="3704774" y="3676900"/>
            <a:ext cx="32292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3"/>
          <p:cNvPicPr preferRelativeResize="0"/>
          <p:nvPr/>
        </p:nvPicPr>
        <p:blipFill rotWithShape="1">
          <a:blip r:embed="rId5">
            <a:alphaModFix/>
          </a:blip>
          <a:srcRect b="0" l="0" r="52105" t="0"/>
          <a:stretch/>
        </p:blipFill>
        <p:spPr>
          <a:xfrm>
            <a:off x="2552206" y="1766375"/>
            <a:ext cx="41387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/>
          <p:cNvPicPr preferRelativeResize="0"/>
          <p:nvPr/>
        </p:nvPicPr>
        <p:blipFill rotWithShape="1">
          <a:blip r:embed="rId5">
            <a:alphaModFix/>
          </a:blip>
          <a:srcRect b="0" l="48977" r="0" t="0"/>
          <a:stretch/>
        </p:blipFill>
        <p:spPr>
          <a:xfrm>
            <a:off x="2518225" y="3676900"/>
            <a:ext cx="440900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/>
          <p:cNvPicPr preferRelativeResize="0"/>
          <p:nvPr/>
        </p:nvPicPr>
        <p:blipFill rotWithShape="1">
          <a:blip r:embed="rId4">
            <a:alphaModFix/>
          </a:blip>
          <a:srcRect b="0" l="0" r="51557" t="0"/>
          <a:stretch/>
        </p:blipFill>
        <p:spPr>
          <a:xfrm>
            <a:off x="4260926" y="608288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2831" y="1187012"/>
            <a:ext cx="3906677" cy="48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9" name="Google Shape;799;p53"/>
          <p:cNvCxnSpPr/>
          <p:nvPr/>
        </p:nvCxnSpPr>
        <p:spPr>
          <a:xfrm rot="10800000">
            <a:off x="6951700" y="1820213"/>
            <a:ext cx="0" cy="809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00" name="Google Shape;800;p53"/>
          <p:cNvSpPr txBox="1"/>
          <p:nvPr/>
        </p:nvSpPr>
        <p:spPr>
          <a:xfrm>
            <a:off x="5451700" y="25312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taxa aprendizado</a:t>
            </a:r>
            <a:endParaRPr/>
          </a:p>
        </p:txBody>
      </p:sp>
      <p:sp>
        <p:nvSpPr>
          <p:cNvPr id="801" name="Google Shape;801;p53"/>
          <p:cNvSpPr/>
          <p:nvPr/>
        </p:nvSpPr>
        <p:spPr>
          <a:xfrm>
            <a:off x="6821575" y="1367125"/>
            <a:ext cx="277500" cy="226800"/>
          </a:xfrm>
          <a:prstGeom prst="rect">
            <a:avLst/>
          </a:prstGeom>
          <a:solidFill>
            <a:srgbClr val="636363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for várias entradas de uma vez tirar a média do x * erro</a:t>
            </a:r>
            <a:endParaRPr/>
          </a:p>
        </p:txBody>
      </p:sp>
      <p:sp>
        <p:nvSpPr>
          <p:cNvPr id="807" name="Google Shape;807;p54"/>
          <p:cNvSpPr/>
          <p:nvPr/>
        </p:nvSpPr>
        <p:spPr>
          <a:xfrm>
            <a:off x="190690" y="1319113"/>
            <a:ext cx="4567200" cy="92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08" name="Google Shape;80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30" y="1419065"/>
            <a:ext cx="4323624" cy="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4"/>
          <p:cNvSpPr/>
          <p:nvPr/>
        </p:nvSpPr>
        <p:spPr>
          <a:xfrm>
            <a:off x="3064200" y="1319113"/>
            <a:ext cx="1614300" cy="4908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10" name="Google Shape;810;p54"/>
          <p:cNvCxnSpPr/>
          <p:nvPr/>
        </p:nvCxnSpPr>
        <p:spPr>
          <a:xfrm>
            <a:off x="6703305" y="4067825"/>
            <a:ext cx="1152900" cy="0"/>
          </a:xfrm>
          <a:prstGeom prst="straightConnector1">
            <a:avLst/>
          </a:prstGeom>
          <a:noFill/>
          <a:ln cap="flat" cmpd="sng" w="38100">
            <a:solidFill>
              <a:srgbClr val="359E4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11" name="Google Shape;81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68" y="2659125"/>
            <a:ext cx="6476199" cy="22074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2" name="Google Shape;812;p54"/>
          <p:cNvGraphicFramePr/>
          <p:nvPr/>
        </p:nvGraphicFramePr>
        <p:xfrm>
          <a:off x="7899183" y="3841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{5BB06470-4F40-489E-8002-071D86AA56DA}</a:tableStyleId>
              </a:tblPr>
              <a:tblGrid>
                <a:gridCol w="1076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0,1275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472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3" name="Google Shape;813;p54"/>
          <p:cNvSpPr txBox="1"/>
          <p:nvPr/>
        </p:nvSpPr>
        <p:spPr>
          <a:xfrm>
            <a:off x="7383663" y="3441075"/>
            <a:ext cx="1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Média do erro</a:t>
            </a:r>
            <a:endParaRPr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4" name="Google Shape;814;p54"/>
          <p:cNvSpPr/>
          <p:nvPr/>
        </p:nvSpPr>
        <p:spPr>
          <a:xfrm>
            <a:off x="6067000" y="3373150"/>
            <a:ext cx="558600" cy="15000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5"/>
          <p:cNvSpPr txBox="1"/>
          <p:nvPr>
            <p:ph idx="4294967295"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 e a camada de trás?</a:t>
            </a:r>
            <a:endParaRPr/>
          </a:p>
        </p:txBody>
      </p:sp>
      <p:sp>
        <p:nvSpPr>
          <p:cNvPr id="820" name="Google Shape;820;p55"/>
          <p:cNvSpPr/>
          <p:nvPr/>
        </p:nvSpPr>
        <p:spPr>
          <a:xfrm>
            <a:off x="417650" y="1671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1" name="Google Shape;821;p55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22" name="Google Shape;822;p55"/>
          <p:cNvCxnSpPr>
            <a:stCxn id="820" idx="6"/>
            <a:endCxn id="823" idx="2"/>
          </p:cNvCxnSpPr>
          <p:nvPr/>
        </p:nvCxnSpPr>
        <p:spPr>
          <a:xfrm>
            <a:off x="1102850" y="2014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55"/>
          <p:cNvCxnSpPr>
            <a:stCxn id="821" idx="6"/>
            <a:endCxn id="825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6" name="Google Shape;826;p55"/>
          <p:cNvCxnSpPr>
            <a:stCxn id="820" idx="5"/>
            <a:endCxn id="825" idx="1"/>
          </p:cNvCxnSpPr>
          <p:nvPr/>
        </p:nvCxnSpPr>
        <p:spPr>
          <a:xfrm>
            <a:off x="1002505" y="22564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55"/>
          <p:cNvCxnSpPr>
            <a:stCxn id="821" idx="7"/>
            <a:endCxn id="823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8" name="Google Shape;828;p55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5" name="Google Shape;825;p55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3" name="Google Shape;823;p55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9" name="Google Shape;829;p55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30" name="Google Shape;830;p55"/>
          <p:cNvCxnSpPr>
            <a:stCxn id="823" idx="6"/>
            <a:endCxn id="829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55"/>
          <p:cNvCxnSpPr>
            <a:stCxn id="825" idx="6"/>
            <a:endCxn id="829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32" name="Google Shape;8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25" y="2699951"/>
            <a:ext cx="24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5"/>
          <p:cNvPicPr preferRelativeResize="0"/>
          <p:nvPr/>
        </p:nvPicPr>
        <p:blipFill rotWithShape="1">
          <a:blip r:embed="rId4">
            <a:alphaModFix/>
          </a:blip>
          <a:srcRect b="0" l="0" r="76245" t="0"/>
          <a:stretch/>
        </p:blipFill>
        <p:spPr>
          <a:xfrm>
            <a:off x="1716050" y="1599250"/>
            <a:ext cx="311075" cy="3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5"/>
          <p:cNvPicPr preferRelativeResize="0"/>
          <p:nvPr/>
        </p:nvPicPr>
        <p:blipFill rotWithShape="1">
          <a:blip r:embed="rId5">
            <a:alphaModFix/>
          </a:blip>
          <a:srcRect b="0" l="0" r="51557" t="0"/>
          <a:stretch/>
        </p:blipFill>
        <p:spPr>
          <a:xfrm>
            <a:off x="3710701" y="1925913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55"/>
          <p:cNvPicPr preferRelativeResize="0"/>
          <p:nvPr/>
        </p:nvPicPr>
        <p:blipFill rotWithShape="1">
          <a:blip r:embed="rId4">
            <a:alphaModFix/>
          </a:blip>
          <a:srcRect b="0" l="23383" r="50317" t="0"/>
          <a:stretch/>
        </p:blipFill>
        <p:spPr>
          <a:xfrm>
            <a:off x="1699387" y="2295538"/>
            <a:ext cx="344400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5"/>
          <p:cNvPicPr preferRelativeResize="0"/>
          <p:nvPr/>
        </p:nvPicPr>
        <p:blipFill rotWithShape="1">
          <a:blip r:embed="rId4">
            <a:alphaModFix/>
          </a:blip>
          <a:srcRect b="0" l="49287" r="26054" t="0"/>
          <a:stretch/>
        </p:blipFill>
        <p:spPr>
          <a:xfrm>
            <a:off x="1687687" y="3242143"/>
            <a:ext cx="322900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5"/>
          <p:cNvPicPr preferRelativeResize="0"/>
          <p:nvPr/>
        </p:nvPicPr>
        <p:blipFill rotWithShape="1">
          <a:blip r:embed="rId4">
            <a:alphaModFix/>
          </a:blip>
          <a:srcRect b="0" l="73698" r="0" t="0"/>
          <a:stretch/>
        </p:blipFill>
        <p:spPr>
          <a:xfrm>
            <a:off x="1753125" y="4008000"/>
            <a:ext cx="344425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5"/>
          <p:cNvPicPr preferRelativeResize="0"/>
          <p:nvPr/>
        </p:nvPicPr>
        <p:blipFill rotWithShape="1">
          <a:blip r:embed="rId5">
            <a:alphaModFix/>
          </a:blip>
          <a:srcRect b="0" l="49711" r="0" t="0"/>
          <a:stretch/>
        </p:blipFill>
        <p:spPr>
          <a:xfrm>
            <a:off x="3704774" y="3676900"/>
            <a:ext cx="32292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5"/>
          <p:cNvPicPr preferRelativeResize="0"/>
          <p:nvPr/>
        </p:nvPicPr>
        <p:blipFill rotWithShape="1">
          <a:blip r:embed="rId6">
            <a:alphaModFix/>
          </a:blip>
          <a:srcRect b="0" l="0" r="52837" t="0"/>
          <a:stretch/>
        </p:blipFill>
        <p:spPr>
          <a:xfrm>
            <a:off x="555447" y="1766375"/>
            <a:ext cx="407550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5"/>
          <p:cNvPicPr preferRelativeResize="0"/>
          <p:nvPr/>
        </p:nvPicPr>
        <p:blipFill rotWithShape="1">
          <a:blip r:embed="rId6">
            <a:alphaModFix/>
          </a:blip>
          <a:srcRect b="0" l="48546" r="0" t="0"/>
          <a:stretch/>
        </p:blipFill>
        <p:spPr>
          <a:xfrm>
            <a:off x="536916" y="3676900"/>
            <a:ext cx="44462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5"/>
          <p:cNvPicPr preferRelativeResize="0"/>
          <p:nvPr/>
        </p:nvPicPr>
        <p:blipFill rotWithShape="1">
          <a:blip r:embed="rId7">
            <a:alphaModFix/>
          </a:blip>
          <a:srcRect b="0" l="0" r="52105" t="0"/>
          <a:stretch/>
        </p:blipFill>
        <p:spPr>
          <a:xfrm>
            <a:off x="2552206" y="1766375"/>
            <a:ext cx="41387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5"/>
          <p:cNvPicPr preferRelativeResize="0"/>
          <p:nvPr/>
        </p:nvPicPr>
        <p:blipFill rotWithShape="1">
          <a:blip r:embed="rId7">
            <a:alphaModFix/>
          </a:blip>
          <a:srcRect b="0" l="48977" r="0" t="0"/>
          <a:stretch/>
        </p:blipFill>
        <p:spPr>
          <a:xfrm>
            <a:off x="2518225" y="3676900"/>
            <a:ext cx="440900" cy="4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55"/>
          <p:cNvSpPr/>
          <p:nvPr/>
        </p:nvSpPr>
        <p:spPr>
          <a:xfrm>
            <a:off x="158750" y="1143000"/>
            <a:ext cx="2095500" cy="35085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6"/>
          <p:cNvSpPr txBox="1"/>
          <p:nvPr>
            <p:ph idx="4294967295"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sp>
        <p:nvSpPr>
          <p:cNvPr id="849" name="Google Shape;849;p56"/>
          <p:cNvSpPr/>
          <p:nvPr/>
        </p:nvSpPr>
        <p:spPr>
          <a:xfrm>
            <a:off x="417650" y="1671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0" name="Google Shape;850;p56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51" name="Google Shape;851;p56"/>
          <p:cNvCxnSpPr>
            <a:stCxn id="849" idx="6"/>
            <a:endCxn id="852" idx="2"/>
          </p:cNvCxnSpPr>
          <p:nvPr/>
        </p:nvCxnSpPr>
        <p:spPr>
          <a:xfrm>
            <a:off x="1102850" y="2014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56"/>
          <p:cNvCxnSpPr>
            <a:stCxn id="850" idx="6"/>
            <a:endCxn id="854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56"/>
          <p:cNvCxnSpPr>
            <a:stCxn id="849" idx="5"/>
            <a:endCxn id="854" idx="1"/>
          </p:cNvCxnSpPr>
          <p:nvPr/>
        </p:nvCxnSpPr>
        <p:spPr>
          <a:xfrm>
            <a:off x="1002505" y="22564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56"/>
          <p:cNvCxnSpPr>
            <a:stCxn id="850" idx="7"/>
            <a:endCxn id="852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7" name="Google Shape;857;p56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4" name="Google Shape;854;p56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2" name="Google Shape;852;p56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8" name="Google Shape;858;p56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59" name="Google Shape;859;p56"/>
          <p:cNvCxnSpPr>
            <a:stCxn id="852" idx="6"/>
            <a:endCxn id="858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0" name="Google Shape;860;p56"/>
          <p:cNvCxnSpPr>
            <a:stCxn id="854" idx="6"/>
            <a:endCxn id="858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61" name="Google Shape;86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25" y="2699951"/>
            <a:ext cx="24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56"/>
          <p:cNvPicPr preferRelativeResize="0"/>
          <p:nvPr/>
        </p:nvPicPr>
        <p:blipFill rotWithShape="1">
          <a:blip r:embed="rId4">
            <a:alphaModFix/>
          </a:blip>
          <a:srcRect b="0" l="0" r="76245" t="0"/>
          <a:stretch/>
        </p:blipFill>
        <p:spPr>
          <a:xfrm>
            <a:off x="1716050" y="1599250"/>
            <a:ext cx="311075" cy="3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56"/>
          <p:cNvPicPr preferRelativeResize="0"/>
          <p:nvPr/>
        </p:nvPicPr>
        <p:blipFill rotWithShape="1">
          <a:blip r:embed="rId5">
            <a:alphaModFix/>
          </a:blip>
          <a:srcRect b="0" l="0" r="51557" t="0"/>
          <a:stretch/>
        </p:blipFill>
        <p:spPr>
          <a:xfrm>
            <a:off x="3710701" y="1925913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56"/>
          <p:cNvPicPr preferRelativeResize="0"/>
          <p:nvPr/>
        </p:nvPicPr>
        <p:blipFill rotWithShape="1">
          <a:blip r:embed="rId4">
            <a:alphaModFix/>
          </a:blip>
          <a:srcRect b="0" l="23383" r="50317" t="0"/>
          <a:stretch/>
        </p:blipFill>
        <p:spPr>
          <a:xfrm>
            <a:off x="1699387" y="2295538"/>
            <a:ext cx="344400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6"/>
          <p:cNvPicPr preferRelativeResize="0"/>
          <p:nvPr/>
        </p:nvPicPr>
        <p:blipFill rotWithShape="1">
          <a:blip r:embed="rId4">
            <a:alphaModFix/>
          </a:blip>
          <a:srcRect b="0" l="49287" r="26054" t="0"/>
          <a:stretch/>
        </p:blipFill>
        <p:spPr>
          <a:xfrm>
            <a:off x="1687687" y="3242143"/>
            <a:ext cx="322900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6"/>
          <p:cNvPicPr preferRelativeResize="0"/>
          <p:nvPr/>
        </p:nvPicPr>
        <p:blipFill rotWithShape="1">
          <a:blip r:embed="rId4">
            <a:alphaModFix/>
          </a:blip>
          <a:srcRect b="0" l="73698" r="0" t="0"/>
          <a:stretch/>
        </p:blipFill>
        <p:spPr>
          <a:xfrm>
            <a:off x="1753125" y="4008000"/>
            <a:ext cx="344425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6"/>
          <p:cNvPicPr preferRelativeResize="0"/>
          <p:nvPr/>
        </p:nvPicPr>
        <p:blipFill rotWithShape="1">
          <a:blip r:embed="rId5">
            <a:alphaModFix/>
          </a:blip>
          <a:srcRect b="0" l="49711" r="0" t="0"/>
          <a:stretch/>
        </p:blipFill>
        <p:spPr>
          <a:xfrm>
            <a:off x="3704774" y="3676900"/>
            <a:ext cx="32292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56"/>
          <p:cNvPicPr preferRelativeResize="0"/>
          <p:nvPr/>
        </p:nvPicPr>
        <p:blipFill rotWithShape="1">
          <a:blip r:embed="rId6">
            <a:alphaModFix/>
          </a:blip>
          <a:srcRect b="0" l="0" r="52837" t="0"/>
          <a:stretch/>
        </p:blipFill>
        <p:spPr>
          <a:xfrm>
            <a:off x="555447" y="1766375"/>
            <a:ext cx="407550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6"/>
          <p:cNvPicPr preferRelativeResize="0"/>
          <p:nvPr/>
        </p:nvPicPr>
        <p:blipFill rotWithShape="1">
          <a:blip r:embed="rId6">
            <a:alphaModFix/>
          </a:blip>
          <a:srcRect b="0" l="48546" r="0" t="0"/>
          <a:stretch/>
        </p:blipFill>
        <p:spPr>
          <a:xfrm>
            <a:off x="536916" y="3676900"/>
            <a:ext cx="44462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56"/>
          <p:cNvPicPr preferRelativeResize="0"/>
          <p:nvPr/>
        </p:nvPicPr>
        <p:blipFill rotWithShape="1">
          <a:blip r:embed="rId7">
            <a:alphaModFix/>
          </a:blip>
          <a:srcRect b="0" l="0" r="52105" t="0"/>
          <a:stretch/>
        </p:blipFill>
        <p:spPr>
          <a:xfrm>
            <a:off x="2552206" y="1766375"/>
            <a:ext cx="41387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6"/>
          <p:cNvPicPr preferRelativeResize="0"/>
          <p:nvPr/>
        </p:nvPicPr>
        <p:blipFill rotWithShape="1">
          <a:blip r:embed="rId7">
            <a:alphaModFix/>
          </a:blip>
          <a:srcRect b="0" l="48977" r="0" t="0"/>
          <a:stretch/>
        </p:blipFill>
        <p:spPr>
          <a:xfrm>
            <a:off x="2518225" y="3676900"/>
            <a:ext cx="440900" cy="48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2" name="Google Shape;872;p56"/>
          <p:cNvCxnSpPr/>
          <p:nvPr/>
        </p:nvCxnSpPr>
        <p:spPr>
          <a:xfrm rot="10800000">
            <a:off x="1784425" y="1233500"/>
            <a:ext cx="3134100" cy="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3" name="Google Shape;873;p56"/>
          <p:cNvSpPr txBox="1"/>
          <p:nvPr/>
        </p:nvSpPr>
        <p:spPr>
          <a:xfrm>
            <a:off x="5112950" y="995000"/>
            <a:ext cx="404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7"/>
          <p:cNvSpPr txBox="1"/>
          <p:nvPr>
            <p:ph idx="4294967295"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sp>
        <p:nvSpPr>
          <p:cNvPr id="879" name="Google Shape;879;p57"/>
          <p:cNvSpPr/>
          <p:nvPr/>
        </p:nvSpPr>
        <p:spPr>
          <a:xfrm>
            <a:off x="417650" y="1671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0" name="Google Shape;880;p57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81" name="Google Shape;881;p57"/>
          <p:cNvCxnSpPr>
            <a:stCxn id="879" idx="6"/>
            <a:endCxn id="882" idx="2"/>
          </p:cNvCxnSpPr>
          <p:nvPr/>
        </p:nvCxnSpPr>
        <p:spPr>
          <a:xfrm>
            <a:off x="1102850" y="2014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3" name="Google Shape;883;p57"/>
          <p:cNvCxnSpPr>
            <a:stCxn id="880" idx="6"/>
            <a:endCxn id="884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57"/>
          <p:cNvCxnSpPr>
            <a:stCxn id="879" idx="5"/>
            <a:endCxn id="884" idx="1"/>
          </p:cNvCxnSpPr>
          <p:nvPr/>
        </p:nvCxnSpPr>
        <p:spPr>
          <a:xfrm>
            <a:off x="1002505" y="225640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57"/>
          <p:cNvCxnSpPr>
            <a:stCxn id="880" idx="7"/>
            <a:endCxn id="882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7" name="Google Shape;887;p57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4" name="Google Shape;884;p57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2" name="Google Shape;882;p57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8" name="Google Shape;888;p57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889" name="Google Shape;889;p57"/>
          <p:cNvCxnSpPr>
            <a:stCxn id="882" idx="6"/>
            <a:endCxn id="888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0" name="Google Shape;890;p57"/>
          <p:cNvCxnSpPr>
            <a:stCxn id="884" idx="6"/>
            <a:endCxn id="888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1" name="Google Shape;89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25" y="2699951"/>
            <a:ext cx="2476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7"/>
          <p:cNvPicPr preferRelativeResize="0"/>
          <p:nvPr/>
        </p:nvPicPr>
        <p:blipFill rotWithShape="1">
          <a:blip r:embed="rId4">
            <a:alphaModFix/>
          </a:blip>
          <a:srcRect b="0" l="0" r="76245" t="0"/>
          <a:stretch/>
        </p:blipFill>
        <p:spPr>
          <a:xfrm>
            <a:off x="1716050" y="1599250"/>
            <a:ext cx="311075" cy="3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7"/>
          <p:cNvPicPr preferRelativeResize="0"/>
          <p:nvPr/>
        </p:nvPicPr>
        <p:blipFill rotWithShape="1">
          <a:blip r:embed="rId5">
            <a:alphaModFix/>
          </a:blip>
          <a:srcRect b="0" l="0" r="51557" t="0"/>
          <a:stretch/>
        </p:blipFill>
        <p:spPr>
          <a:xfrm>
            <a:off x="3710701" y="1925913"/>
            <a:ext cx="31107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7"/>
          <p:cNvPicPr preferRelativeResize="0"/>
          <p:nvPr/>
        </p:nvPicPr>
        <p:blipFill rotWithShape="1">
          <a:blip r:embed="rId4">
            <a:alphaModFix/>
          </a:blip>
          <a:srcRect b="0" l="23383" r="50317" t="0"/>
          <a:stretch/>
        </p:blipFill>
        <p:spPr>
          <a:xfrm>
            <a:off x="1699387" y="2295538"/>
            <a:ext cx="344400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7"/>
          <p:cNvPicPr preferRelativeResize="0"/>
          <p:nvPr/>
        </p:nvPicPr>
        <p:blipFill rotWithShape="1">
          <a:blip r:embed="rId4">
            <a:alphaModFix/>
          </a:blip>
          <a:srcRect b="0" l="49287" r="26054" t="0"/>
          <a:stretch/>
        </p:blipFill>
        <p:spPr>
          <a:xfrm>
            <a:off x="1687687" y="3242143"/>
            <a:ext cx="322900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7"/>
          <p:cNvPicPr preferRelativeResize="0"/>
          <p:nvPr/>
        </p:nvPicPr>
        <p:blipFill rotWithShape="1">
          <a:blip r:embed="rId4">
            <a:alphaModFix/>
          </a:blip>
          <a:srcRect b="0" l="73698" r="0" t="0"/>
          <a:stretch/>
        </p:blipFill>
        <p:spPr>
          <a:xfrm>
            <a:off x="1753125" y="4008000"/>
            <a:ext cx="344425" cy="3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7"/>
          <p:cNvPicPr preferRelativeResize="0"/>
          <p:nvPr/>
        </p:nvPicPr>
        <p:blipFill rotWithShape="1">
          <a:blip r:embed="rId5">
            <a:alphaModFix/>
          </a:blip>
          <a:srcRect b="0" l="49711" r="0" t="0"/>
          <a:stretch/>
        </p:blipFill>
        <p:spPr>
          <a:xfrm>
            <a:off x="3704774" y="3676900"/>
            <a:ext cx="322925" cy="3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7"/>
          <p:cNvPicPr preferRelativeResize="0"/>
          <p:nvPr/>
        </p:nvPicPr>
        <p:blipFill rotWithShape="1">
          <a:blip r:embed="rId6">
            <a:alphaModFix/>
          </a:blip>
          <a:srcRect b="0" l="0" r="52837" t="0"/>
          <a:stretch/>
        </p:blipFill>
        <p:spPr>
          <a:xfrm>
            <a:off x="555447" y="1766375"/>
            <a:ext cx="407550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7"/>
          <p:cNvPicPr preferRelativeResize="0"/>
          <p:nvPr/>
        </p:nvPicPr>
        <p:blipFill rotWithShape="1">
          <a:blip r:embed="rId6">
            <a:alphaModFix/>
          </a:blip>
          <a:srcRect b="0" l="48546" r="0" t="0"/>
          <a:stretch/>
        </p:blipFill>
        <p:spPr>
          <a:xfrm>
            <a:off x="536916" y="3676900"/>
            <a:ext cx="44462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7"/>
          <p:cNvPicPr preferRelativeResize="0"/>
          <p:nvPr/>
        </p:nvPicPr>
        <p:blipFill rotWithShape="1">
          <a:blip r:embed="rId7">
            <a:alphaModFix/>
          </a:blip>
          <a:srcRect b="0" l="0" r="52105" t="0"/>
          <a:stretch/>
        </p:blipFill>
        <p:spPr>
          <a:xfrm>
            <a:off x="2552206" y="1766375"/>
            <a:ext cx="413875" cy="4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7"/>
          <p:cNvPicPr preferRelativeResize="0"/>
          <p:nvPr/>
        </p:nvPicPr>
        <p:blipFill rotWithShape="1">
          <a:blip r:embed="rId7">
            <a:alphaModFix/>
          </a:blip>
          <a:srcRect b="0" l="48977" r="0" t="0"/>
          <a:stretch/>
        </p:blipFill>
        <p:spPr>
          <a:xfrm>
            <a:off x="2518225" y="3676900"/>
            <a:ext cx="440900" cy="48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2" name="Google Shape;902;p57"/>
          <p:cNvCxnSpPr/>
          <p:nvPr/>
        </p:nvCxnSpPr>
        <p:spPr>
          <a:xfrm rot="10800000">
            <a:off x="1784425" y="1233500"/>
            <a:ext cx="3134100" cy="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3" name="Google Shape;903;p57"/>
          <p:cNvSpPr txBox="1"/>
          <p:nvPr/>
        </p:nvSpPr>
        <p:spPr>
          <a:xfrm>
            <a:off x="5112950" y="995000"/>
            <a:ext cx="404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4" name="Google Shape;904;p57"/>
          <p:cNvSpPr txBox="1"/>
          <p:nvPr/>
        </p:nvSpPr>
        <p:spPr>
          <a:xfrm>
            <a:off x="5786450" y="1854625"/>
            <a:ext cx="313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Neste caso, o erro propagado para trás tem que ser corrigido pelo valor do gradiente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905" name="Google Shape;905;p57"/>
          <p:cNvGrpSpPr/>
          <p:nvPr/>
        </p:nvGrpSpPr>
        <p:grpSpPr>
          <a:xfrm>
            <a:off x="6374922" y="3034684"/>
            <a:ext cx="1957170" cy="740977"/>
            <a:chOff x="670850" y="1514100"/>
            <a:chExt cx="2273400" cy="860700"/>
          </a:xfrm>
        </p:grpSpPr>
        <p:sp>
          <p:nvSpPr>
            <p:cNvPr id="906" name="Google Shape;906;p57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rgbClr val="FFFFFF"/>
            </a:solidFill>
            <a:ln cap="flat" cmpd="sng" w="76200">
              <a:solidFill>
                <a:srgbClr val="359E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907" name="Google Shape;907;p5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8"/>
          <p:cNvSpPr txBox="1"/>
          <p:nvPr>
            <p:ph idx="4294967295" type="title"/>
          </p:nvPr>
        </p:nvSpPr>
        <p:spPr>
          <a:xfrm>
            <a:off x="162925" y="43900"/>
            <a:ext cx="84873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calculando saída, y esperado = 1</a:t>
            </a:r>
            <a:endParaRPr/>
          </a:p>
        </p:txBody>
      </p:sp>
      <p:sp>
        <p:nvSpPr>
          <p:cNvPr id="913" name="Google Shape;913;p58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4" name="Google Shape;914;p58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15" name="Google Shape;915;p58"/>
          <p:cNvCxnSpPr>
            <a:stCxn id="913" idx="6"/>
            <a:endCxn id="916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58"/>
          <p:cNvCxnSpPr>
            <a:stCxn id="914" idx="6"/>
            <a:endCxn id="918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58"/>
          <p:cNvCxnSpPr>
            <a:stCxn id="913" idx="5"/>
            <a:endCxn id="918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0" name="Google Shape;920;p58"/>
          <p:cNvCxnSpPr>
            <a:stCxn id="914" idx="7"/>
            <a:endCxn id="916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" name="Google Shape;921;p58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8" name="Google Shape;918;p58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2" name="Google Shape;922;p58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23" name="Google Shape;923;p58"/>
          <p:cNvCxnSpPr>
            <a:stCxn id="916" idx="6"/>
            <a:endCxn id="922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58"/>
          <p:cNvCxnSpPr>
            <a:stCxn id="918" idx="6"/>
            <a:endCxn id="922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58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26" name="Google Shape;926;p58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27" name="Google Shape;927;p58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28" name="Google Shape;928;p58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29" name="Google Shape;929;p58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30" name="Google Shape;930;p58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9"/>
          <p:cNvSpPr txBox="1"/>
          <p:nvPr>
            <p:ph idx="4294967295" type="title"/>
          </p:nvPr>
        </p:nvSpPr>
        <p:spPr>
          <a:xfrm>
            <a:off x="162925" y="43900"/>
            <a:ext cx="84873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calculando saída, y esperado = 1</a:t>
            </a:r>
            <a:endParaRPr/>
          </a:p>
        </p:txBody>
      </p:sp>
      <p:sp>
        <p:nvSpPr>
          <p:cNvPr id="936" name="Google Shape;936;p59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7" name="Google Shape;937;p59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38" name="Google Shape;938;p59"/>
          <p:cNvCxnSpPr>
            <a:stCxn id="936" idx="6"/>
            <a:endCxn id="939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59"/>
          <p:cNvCxnSpPr>
            <a:stCxn id="937" idx="6"/>
            <a:endCxn id="941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59"/>
          <p:cNvCxnSpPr>
            <a:stCxn id="936" idx="5"/>
            <a:endCxn id="941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59"/>
          <p:cNvCxnSpPr>
            <a:stCxn id="937" idx="7"/>
            <a:endCxn id="939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4" name="Google Shape;944;p59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1" name="Google Shape;941;p59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9" name="Google Shape;939;p59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5" name="Google Shape;945;p59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46" name="Google Shape;946;p59"/>
          <p:cNvCxnSpPr>
            <a:stCxn id="939" idx="6"/>
            <a:endCxn id="945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59"/>
          <p:cNvCxnSpPr>
            <a:stCxn id="941" idx="6"/>
            <a:endCxn id="945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" name="Google Shape;948;p59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49" name="Google Shape;949;p59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50" name="Google Shape;950;p59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51" name="Google Shape;951;p59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52" name="Google Shape;952;p59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53" name="Google Shape;953;p59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54" name="Google Shape;954;p59"/>
          <p:cNvSpPr/>
          <p:nvPr/>
        </p:nvSpPr>
        <p:spPr>
          <a:xfrm>
            <a:off x="2339925" y="1634025"/>
            <a:ext cx="830100" cy="76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5" name="Google Shape;955;p59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6" name="Google Shape;956;p59"/>
          <p:cNvSpPr txBox="1"/>
          <p:nvPr/>
        </p:nvSpPr>
        <p:spPr>
          <a:xfrm>
            <a:off x="5740850" y="1788150"/>
            <a:ext cx="3018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 . 0,2 + 0.2 . 0,1 = 0,16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57" name="Google Shape;95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150" y="2394224"/>
            <a:ext cx="2273391" cy="6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550" y="2394224"/>
            <a:ext cx="2167988" cy="62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60"/>
          <p:cNvSpPr txBox="1"/>
          <p:nvPr>
            <p:ph idx="4294967295" type="title"/>
          </p:nvPr>
        </p:nvSpPr>
        <p:spPr>
          <a:xfrm>
            <a:off x="162925" y="43900"/>
            <a:ext cx="84873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calculando saída, y esperado = 1</a:t>
            </a:r>
            <a:endParaRPr/>
          </a:p>
        </p:txBody>
      </p:sp>
      <p:sp>
        <p:nvSpPr>
          <p:cNvPr id="964" name="Google Shape;964;p60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5" name="Google Shape;965;p60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66" name="Google Shape;966;p60"/>
          <p:cNvCxnSpPr>
            <a:stCxn id="964" idx="6"/>
            <a:endCxn id="967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8" name="Google Shape;968;p60"/>
          <p:cNvCxnSpPr>
            <a:stCxn id="965" idx="6"/>
            <a:endCxn id="969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0" name="Google Shape;970;p60"/>
          <p:cNvCxnSpPr>
            <a:stCxn id="964" idx="5"/>
            <a:endCxn id="969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60"/>
          <p:cNvCxnSpPr>
            <a:stCxn id="965" idx="7"/>
            <a:endCxn id="967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60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9" name="Google Shape;969;p60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7" name="Google Shape;967;p60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3" name="Google Shape;973;p60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74" name="Google Shape;974;p60"/>
          <p:cNvCxnSpPr>
            <a:stCxn id="967" idx="6"/>
            <a:endCxn id="973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60"/>
          <p:cNvCxnSpPr>
            <a:stCxn id="969" idx="6"/>
            <a:endCxn id="973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6" name="Google Shape;976;p60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77" name="Google Shape;977;p60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78" name="Google Shape;978;p60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79" name="Google Shape;979;p60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80" name="Google Shape;980;p60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981" name="Google Shape;981;p60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982" name="Google Shape;982;p60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4" name="Google Shape;984;p60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5" name="Google Shape;985;p60"/>
          <p:cNvSpPr txBox="1"/>
          <p:nvPr/>
        </p:nvSpPr>
        <p:spPr>
          <a:xfrm>
            <a:off x="5740850" y="1788150"/>
            <a:ext cx="3018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 . 0,1 + 0.2 . 0,1 = 0,09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1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92" name="Google Shape;992;p61"/>
          <p:cNvCxnSpPr>
            <a:stCxn id="990" idx="6"/>
            <a:endCxn id="993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61"/>
          <p:cNvCxnSpPr>
            <a:stCxn id="991" idx="6"/>
            <a:endCxn id="995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61"/>
          <p:cNvCxnSpPr>
            <a:stCxn id="990" idx="5"/>
            <a:endCxn id="995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61"/>
          <p:cNvCxnSpPr>
            <a:stCxn id="991" idx="7"/>
            <a:endCxn id="993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61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5" name="Google Shape;995;p61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3" name="Google Shape;993;p61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9" name="Google Shape;999;p61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00" name="Google Shape;1000;p61"/>
          <p:cNvCxnSpPr>
            <a:stCxn id="993" idx="6"/>
            <a:endCxn id="999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61"/>
          <p:cNvCxnSpPr>
            <a:stCxn id="995" idx="6"/>
            <a:endCxn id="999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2" name="Google Shape;1002;p61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003" name="Google Shape;1003;p61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04" name="Google Shape;1004;p61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05" name="Google Shape;1005;p61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06" name="Google Shape;1006;p61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007" name="Google Shape;1007;p61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08" name="Google Shape;1008;p61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9" name="Google Shape;1009;p61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0" name="Google Shape;1010;p61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1" name="Google Shape;1011;p61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2" name="Google Shape;1012;p61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cxnSp>
        <p:nvCxnSpPr>
          <p:cNvPr id="1013" name="Google Shape;1013;p61"/>
          <p:cNvCxnSpPr/>
          <p:nvPr/>
        </p:nvCxnSpPr>
        <p:spPr>
          <a:xfrm rot="10800000">
            <a:off x="1784425" y="1081100"/>
            <a:ext cx="3134100" cy="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4" name="Google Shape;1014;p61"/>
          <p:cNvSpPr txBox="1"/>
          <p:nvPr/>
        </p:nvSpPr>
        <p:spPr>
          <a:xfrm>
            <a:off x="5112950" y="842600"/>
            <a:ext cx="404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15" name="Google Shape;1015;p61"/>
          <p:cNvPicPr preferRelativeResize="0"/>
          <p:nvPr/>
        </p:nvPicPr>
        <p:blipFill rotWithShape="1">
          <a:blip r:embed="rId3">
            <a:alphaModFix/>
          </a:blip>
          <a:srcRect b="0" l="0" r="60145" t="0"/>
          <a:stretch/>
        </p:blipFill>
        <p:spPr>
          <a:xfrm>
            <a:off x="6391098" y="1614325"/>
            <a:ext cx="1887124" cy="3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61"/>
          <p:cNvPicPr preferRelativeResize="0"/>
          <p:nvPr/>
        </p:nvPicPr>
        <p:blipFill rotWithShape="1">
          <a:blip r:embed="rId3">
            <a:alphaModFix/>
          </a:blip>
          <a:srcRect b="0" l="39538" r="26698" t="0"/>
          <a:stretch/>
        </p:blipFill>
        <p:spPr>
          <a:xfrm>
            <a:off x="7113175" y="2324800"/>
            <a:ext cx="1598701" cy="3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61"/>
          <p:cNvPicPr preferRelativeResize="0"/>
          <p:nvPr/>
        </p:nvPicPr>
        <p:blipFill rotWithShape="1">
          <a:blip r:embed="rId3">
            <a:alphaModFix/>
          </a:blip>
          <a:srcRect b="0" l="73346" r="-7111" t="0"/>
          <a:stretch/>
        </p:blipFill>
        <p:spPr>
          <a:xfrm>
            <a:off x="7113175" y="3035275"/>
            <a:ext cx="1598701" cy="3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61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62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4" name="Google Shape;1024;p62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25" name="Google Shape;1025;p62"/>
          <p:cNvCxnSpPr>
            <a:stCxn id="1023" idx="6"/>
            <a:endCxn id="1026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62"/>
          <p:cNvCxnSpPr>
            <a:stCxn id="1024" idx="6"/>
            <a:endCxn id="1028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62"/>
          <p:cNvCxnSpPr>
            <a:stCxn id="1023" idx="5"/>
            <a:endCxn id="1028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0" name="Google Shape;1030;p62"/>
          <p:cNvCxnSpPr>
            <a:stCxn id="1024" idx="7"/>
            <a:endCxn id="1026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62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8" name="Google Shape;1028;p62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6" name="Google Shape;1026;p62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2" name="Google Shape;1032;p62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33" name="Google Shape;1033;p62"/>
          <p:cNvCxnSpPr>
            <a:stCxn id="1026" idx="6"/>
            <a:endCxn id="1032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62"/>
          <p:cNvCxnSpPr>
            <a:stCxn id="1028" idx="6"/>
            <a:endCxn id="1032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62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036" name="Google Shape;1036;p62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37" name="Google Shape;1037;p62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38" name="Google Shape;1038;p62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39" name="Google Shape;1039;p62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040" name="Google Shape;1040;p62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41" name="Google Shape;1041;p62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2" name="Google Shape;1042;p62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3" name="Google Shape;1043;p62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4" name="Google Shape;1044;p62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5" name="Google Shape;1045;p62"/>
          <p:cNvSpPr txBox="1"/>
          <p:nvPr>
            <p:ph idx="4294967295" type="title"/>
          </p:nvPr>
        </p:nvSpPr>
        <p:spPr>
          <a:xfrm>
            <a:off x="607500" y="2597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Aqui ainda é igual a uma regressão logística!</a:t>
            </a:r>
            <a:endParaRPr/>
          </a:p>
        </p:txBody>
      </p:sp>
      <p:pic>
        <p:nvPicPr>
          <p:cNvPr id="1046" name="Google Shape;1046;p62"/>
          <p:cNvPicPr preferRelativeResize="0"/>
          <p:nvPr/>
        </p:nvPicPr>
        <p:blipFill rotWithShape="1">
          <a:blip r:embed="rId3">
            <a:alphaModFix/>
          </a:blip>
          <a:srcRect b="0" l="0" r="60145" t="0"/>
          <a:stretch/>
        </p:blipFill>
        <p:spPr>
          <a:xfrm>
            <a:off x="6391098" y="1614325"/>
            <a:ext cx="1887124" cy="3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62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8" name="Google Shape;1048;p62"/>
          <p:cNvSpPr/>
          <p:nvPr/>
        </p:nvSpPr>
        <p:spPr>
          <a:xfrm>
            <a:off x="2347375" y="1315775"/>
            <a:ext cx="2818500" cy="31401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3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4" name="Google Shape;1054;p63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55" name="Google Shape;1055;p63"/>
          <p:cNvCxnSpPr>
            <a:stCxn id="1053" idx="6"/>
            <a:endCxn id="1056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7" name="Google Shape;1057;p63"/>
          <p:cNvCxnSpPr>
            <a:stCxn id="1054" idx="6"/>
            <a:endCxn id="1058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9" name="Google Shape;1059;p63"/>
          <p:cNvCxnSpPr>
            <a:stCxn id="1053" idx="5"/>
            <a:endCxn id="1058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63"/>
          <p:cNvCxnSpPr>
            <a:stCxn id="1054" idx="7"/>
            <a:endCxn id="1056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63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8" name="Google Shape;1058;p63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6" name="Google Shape;1056;p63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2" name="Google Shape;1062;p63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63" name="Google Shape;1063;p63"/>
          <p:cNvCxnSpPr>
            <a:stCxn id="1056" idx="6"/>
            <a:endCxn id="1062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4" name="Google Shape;1064;p63"/>
          <p:cNvCxnSpPr>
            <a:stCxn id="1058" idx="6"/>
            <a:endCxn id="1062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5" name="Google Shape;1065;p63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066" name="Google Shape;1066;p63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67" name="Google Shape;1067;p63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68" name="Google Shape;1068;p63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69" name="Google Shape;1069;p63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070" name="Google Shape;1070;p63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071" name="Google Shape;1071;p63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2" name="Google Shape;1072;p63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3" name="Google Shape;1073;p63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4" name="Google Shape;1074;p63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5" name="Google Shape;1075;p63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sp>
        <p:nvSpPr>
          <p:cNvPr id="1076" name="Google Shape;1076;p63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77" name="Google Shape;1077;p63"/>
          <p:cNvCxnSpPr/>
          <p:nvPr/>
        </p:nvCxnSpPr>
        <p:spPr>
          <a:xfrm rot="10800000">
            <a:off x="3451050" y="14632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63"/>
          <p:cNvCxnSpPr/>
          <p:nvPr/>
        </p:nvCxnSpPr>
        <p:spPr>
          <a:xfrm flipH="1">
            <a:off x="3451050" y="35865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9" name="Google Shape;1079;p63"/>
          <p:cNvSpPr txBox="1"/>
          <p:nvPr/>
        </p:nvSpPr>
        <p:spPr>
          <a:xfrm>
            <a:off x="4068000" y="133902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0,2 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-0,092 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0,54 * (1 - 0,54)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-0,02385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0" name="Google Shape;1080;p63"/>
          <p:cNvSpPr txBox="1"/>
          <p:nvPr/>
        </p:nvSpPr>
        <p:spPr>
          <a:xfrm>
            <a:off x="4068000" y="419407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0,1 = -0,046 * 0,54 * (1 - 0,54) = 0,01341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1" name="Google Shape;1081;p63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2" name="Google Shape;1082;p63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3" name="Google Shape;1083;p63"/>
          <p:cNvSpPr/>
          <p:nvPr/>
        </p:nvSpPr>
        <p:spPr>
          <a:xfrm>
            <a:off x="4531550" y="2811550"/>
            <a:ext cx="4776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4" name="Google Shape;1084;p63"/>
          <p:cNvSpPr/>
          <p:nvPr/>
        </p:nvSpPr>
        <p:spPr>
          <a:xfrm>
            <a:off x="5826175" y="138402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5" name="Google Shape;1085;p63"/>
          <p:cNvSpPr/>
          <p:nvPr/>
        </p:nvSpPr>
        <p:spPr>
          <a:xfrm>
            <a:off x="6664050" y="138402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6" name="Google Shape;1086;p63"/>
          <p:cNvSpPr/>
          <p:nvPr/>
        </p:nvSpPr>
        <p:spPr>
          <a:xfrm>
            <a:off x="5826175" y="423347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7" name="Google Shape;1087;p63"/>
          <p:cNvSpPr/>
          <p:nvPr/>
        </p:nvSpPr>
        <p:spPr>
          <a:xfrm>
            <a:off x="6664050" y="423347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088" name="Google Shape;1088;p63"/>
          <p:cNvGrpSpPr/>
          <p:nvPr/>
        </p:nvGrpSpPr>
        <p:grpSpPr>
          <a:xfrm>
            <a:off x="6921935" y="2383221"/>
            <a:ext cx="1957170" cy="740977"/>
            <a:chOff x="670850" y="1514100"/>
            <a:chExt cx="2273400" cy="860700"/>
          </a:xfrm>
        </p:grpSpPr>
        <p:sp>
          <p:nvSpPr>
            <p:cNvPr id="1089" name="Google Shape;1089;p63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rgbClr val="FFFFFF"/>
            </a:solidFill>
            <a:ln cap="flat" cmpd="sng" w="76200">
              <a:solidFill>
                <a:srgbClr val="359E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090" name="Google Shape;1090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1" name="Google Shape;1091;p63"/>
          <p:cNvSpPr/>
          <p:nvPr/>
        </p:nvSpPr>
        <p:spPr>
          <a:xfrm>
            <a:off x="5794675" y="1351825"/>
            <a:ext cx="1309500" cy="400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92" name="Google Shape;1092;p63"/>
          <p:cNvCxnSpPr>
            <a:stCxn id="1089" idx="0"/>
            <a:endCxn id="1091" idx="2"/>
          </p:cNvCxnSpPr>
          <p:nvPr/>
        </p:nvCxnSpPr>
        <p:spPr>
          <a:xfrm rot="10800000">
            <a:off x="6449420" y="1752021"/>
            <a:ext cx="1451100" cy="631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4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8" name="Google Shape;1098;p64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99" name="Google Shape;1099;p64"/>
          <p:cNvCxnSpPr>
            <a:stCxn id="1097" idx="6"/>
            <a:endCxn id="1100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64"/>
          <p:cNvCxnSpPr>
            <a:stCxn id="1098" idx="6"/>
            <a:endCxn id="1102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4"/>
          <p:cNvCxnSpPr>
            <a:stCxn id="1097" idx="5"/>
            <a:endCxn id="1102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4"/>
          <p:cNvCxnSpPr>
            <a:stCxn id="1098" idx="7"/>
            <a:endCxn id="1100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5" name="Google Shape;1105;p64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2" name="Google Shape;1102;p64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0" name="Google Shape;1100;p64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6" name="Google Shape;1106;p64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07" name="Google Shape;1107;p64"/>
          <p:cNvCxnSpPr>
            <a:stCxn id="1100" idx="6"/>
            <a:endCxn id="1106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64"/>
          <p:cNvCxnSpPr>
            <a:stCxn id="1102" idx="6"/>
            <a:endCxn id="1106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64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110" name="Google Shape;1110;p64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11" name="Google Shape;1111;p64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12" name="Google Shape;1112;p64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13" name="Google Shape;1113;p64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114" name="Google Shape;1114;p64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15" name="Google Shape;1115;p64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6" name="Google Shape;1116;p64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7" name="Google Shape;1117;p64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8" name="Google Shape;1118;p64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9" name="Google Shape;1119;p64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Agora podemos calcular os gradientes!</a:t>
            </a:r>
            <a:endParaRPr/>
          </a:p>
        </p:txBody>
      </p:sp>
      <p:sp>
        <p:nvSpPr>
          <p:cNvPr id="1120" name="Google Shape;1120;p64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21" name="Google Shape;1121;p64"/>
          <p:cNvCxnSpPr/>
          <p:nvPr/>
        </p:nvCxnSpPr>
        <p:spPr>
          <a:xfrm flipH="1">
            <a:off x="4314650" y="1477075"/>
            <a:ext cx="585900" cy="33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2" name="Google Shape;1122;p64"/>
          <p:cNvSpPr txBox="1"/>
          <p:nvPr/>
        </p:nvSpPr>
        <p:spPr>
          <a:xfrm>
            <a:off x="4969575" y="1271325"/>
            <a:ext cx="4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. 0,54 = -0.2484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3" name="Google Shape;1123;p64"/>
          <p:cNvSpPr txBox="1"/>
          <p:nvPr/>
        </p:nvSpPr>
        <p:spPr>
          <a:xfrm>
            <a:off x="4969575" y="4261775"/>
            <a:ext cx="4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. 0,52 = -0.2392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24" name="Google Shape;1124;p64"/>
          <p:cNvCxnSpPr/>
          <p:nvPr/>
        </p:nvCxnSpPr>
        <p:spPr>
          <a:xfrm rot="10800000">
            <a:off x="4279038" y="4117825"/>
            <a:ext cx="585900" cy="33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5" name="Google Shape;1125;p64"/>
          <p:cNvSpPr/>
          <p:nvPr/>
        </p:nvSpPr>
        <p:spPr>
          <a:xfrm>
            <a:off x="5058175" y="1334350"/>
            <a:ext cx="442200" cy="299700"/>
          </a:xfrm>
          <a:prstGeom prst="rect">
            <a:avLst/>
          </a:prstGeom>
          <a:solidFill>
            <a:srgbClr val="D75BCD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6" name="Google Shape;1126;p64"/>
          <p:cNvSpPr/>
          <p:nvPr/>
        </p:nvSpPr>
        <p:spPr>
          <a:xfrm>
            <a:off x="2461425" y="1861500"/>
            <a:ext cx="546000" cy="2997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7" name="Google Shape;1127;p64"/>
          <p:cNvSpPr/>
          <p:nvPr/>
        </p:nvSpPr>
        <p:spPr>
          <a:xfrm>
            <a:off x="5572350" y="1321575"/>
            <a:ext cx="408900" cy="2997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8" name="Google Shape;1128;p64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9" name="Google Shape;1129;p64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5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5" name="Google Shape;1135;p65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36" name="Google Shape;1136;p65"/>
          <p:cNvCxnSpPr>
            <a:stCxn id="1134" idx="6"/>
            <a:endCxn id="1137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8" name="Google Shape;1138;p65"/>
          <p:cNvCxnSpPr>
            <a:stCxn id="1135" idx="6"/>
            <a:endCxn id="1139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65"/>
          <p:cNvCxnSpPr>
            <a:stCxn id="1134" idx="5"/>
            <a:endCxn id="1139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65"/>
          <p:cNvCxnSpPr>
            <a:stCxn id="1135" idx="7"/>
            <a:endCxn id="1137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2" name="Google Shape;1142;p65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9" name="Google Shape;1139;p65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7" name="Google Shape;1137;p65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3" name="Google Shape;1143;p65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44" name="Google Shape;1144;p65"/>
          <p:cNvCxnSpPr>
            <a:stCxn id="1137" idx="6"/>
            <a:endCxn id="1143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5" name="Google Shape;1145;p65"/>
          <p:cNvCxnSpPr>
            <a:stCxn id="1139" idx="6"/>
            <a:endCxn id="1143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6" name="Google Shape;1146;p65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147" name="Google Shape;1147;p65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48" name="Google Shape;1148;p65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49" name="Google Shape;1149;p65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50" name="Google Shape;1150;p65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151" name="Google Shape;1151;p65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52" name="Google Shape;1152;p65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3" name="Google Shape;1153;p65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4" name="Google Shape;1154;p65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5" name="Google Shape;1155;p65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6" name="Google Shape;1156;p65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Atualizando os pesos</a:t>
            </a:r>
            <a:endParaRPr/>
          </a:p>
        </p:txBody>
      </p:sp>
      <p:sp>
        <p:nvSpPr>
          <p:cNvPr id="1157" name="Google Shape;1157;p65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58" name="Google Shape;1158;p65"/>
          <p:cNvCxnSpPr/>
          <p:nvPr/>
        </p:nvCxnSpPr>
        <p:spPr>
          <a:xfrm flipH="1">
            <a:off x="4314650" y="1477075"/>
            <a:ext cx="585900" cy="33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9" name="Google Shape;1159;p65"/>
          <p:cNvSpPr txBox="1"/>
          <p:nvPr/>
        </p:nvSpPr>
        <p:spPr>
          <a:xfrm>
            <a:off x="4969575" y="1271325"/>
            <a:ext cx="4113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-0,46 . 0,54 = -0.2484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 = 0,2 - 1 . (-0,2484)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 = 0,2 + 0,2484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    = 0,4484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4969575" y="4261775"/>
            <a:ext cx="41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. 0,52 = -0.2392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61" name="Google Shape;1161;p65"/>
          <p:cNvCxnSpPr/>
          <p:nvPr/>
        </p:nvCxnSpPr>
        <p:spPr>
          <a:xfrm rot="10800000">
            <a:off x="4279038" y="4117825"/>
            <a:ext cx="585900" cy="33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2" name="Google Shape;1162;p65"/>
          <p:cNvSpPr txBox="1"/>
          <p:nvPr>
            <p:ph idx="4294967295" type="title"/>
          </p:nvPr>
        </p:nvSpPr>
        <p:spPr>
          <a:xfrm>
            <a:off x="5185400" y="3764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Taxa aprendizado = 1</a:t>
            </a:r>
            <a:endParaRPr sz="2400"/>
          </a:p>
        </p:txBody>
      </p:sp>
      <p:sp>
        <p:nvSpPr>
          <p:cNvPr id="1163" name="Google Shape;1163;p65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4" name="Google Shape;1164;p65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6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0" name="Google Shape;1170;p66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71" name="Google Shape;1171;p66"/>
          <p:cNvCxnSpPr>
            <a:stCxn id="1169" idx="6"/>
            <a:endCxn id="1172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66"/>
          <p:cNvCxnSpPr>
            <a:stCxn id="1170" idx="6"/>
            <a:endCxn id="1174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66"/>
          <p:cNvCxnSpPr>
            <a:stCxn id="1169" idx="5"/>
            <a:endCxn id="1174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66"/>
          <p:cNvCxnSpPr>
            <a:stCxn id="1170" idx="7"/>
            <a:endCxn id="1172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7" name="Google Shape;1177;p66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4" name="Google Shape;1174;p66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2" name="Google Shape;1172;p66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8" name="Google Shape;1178;p66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79" name="Google Shape;1179;p66"/>
          <p:cNvCxnSpPr>
            <a:stCxn id="1172" idx="6"/>
            <a:endCxn id="1178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0" name="Google Shape;1180;p66"/>
          <p:cNvCxnSpPr>
            <a:stCxn id="1174" idx="6"/>
            <a:endCxn id="1178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1" name="Google Shape;1181;p66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182" name="Google Shape;1182;p66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83" name="Google Shape;1183;p66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84" name="Google Shape;1184;p66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85" name="Google Shape;1185;p66"/>
          <p:cNvSpPr txBox="1"/>
          <p:nvPr/>
        </p:nvSpPr>
        <p:spPr>
          <a:xfrm>
            <a:off x="3661725" y="19048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0,4484</a:t>
            </a:r>
            <a:endParaRPr/>
          </a:p>
        </p:txBody>
      </p:sp>
      <p:sp>
        <p:nvSpPr>
          <p:cNvPr id="1186" name="Google Shape;1186;p66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187" name="Google Shape;1187;p66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8" name="Google Shape;1188;p66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9" name="Google Shape;1189;p66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0" name="Google Shape;1190;p66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Atualizando os pesos</a:t>
            </a:r>
            <a:endParaRPr/>
          </a:p>
        </p:txBody>
      </p:sp>
      <p:sp>
        <p:nvSpPr>
          <p:cNvPr id="1191" name="Google Shape;1191;p66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2" name="Google Shape;1192;p66"/>
          <p:cNvSpPr txBox="1"/>
          <p:nvPr/>
        </p:nvSpPr>
        <p:spPr>
          <a:xfrm>
            <a:off x="4969575" y="4261775"/>
            <a:ext cx="411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-0,46 . 0,52 = -0.2392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0,1 - (-0,2392) = 0,3392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93" name="Google Shape;1193;p66"/>
          <p:cNvCxnSpPr/>
          <p:nvPr/>
        </p:nvCxnSpPr>
        <p:spPr>
          <a:xfrm rot="10800000">
            <a:off x="4279038" y="4117825"/>
            <a:ext cx="585900" cy="33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4" name="Google Shape;1194;p66"/>
          <p:cNvSpPr txBox="1"/>
          <p:nvPr>
            <p:ph idx="4294967295" type="title"/>
          </p:nvPr>
        </p:nvSpPr>
        <p:spPr>
          <a:xfrm>
            <a:off x="5185400" y="3764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Taxa aprendizado = 1</a:t>
            </a:r>
            <a:endParaRPr sz="2400"/>
          </a:p>
        </p:txBody>
      </p:sp>
      <p:sp>
        <p:nvSpPr>
          <p:cNvPr id="1195" name="Google Shape;1195;p66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6" name="Google Shape;1196;p66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67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2" name="Google Shape;1202;p67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03" name="Google Shape;1203;p67"/>
          <p:cNvCxnSpPr>
            <a:stCxn id="1201" idx="6"/>
            <a:endCxn id="1204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67"/>
          <p:cNvCxnSpPr>
            <a:stCxn id="1202" idx="6"/>
            <a:endCxn id="1206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67"/>
          <p:cNvCxnSpPr>
            <a:stCxn id="1201" idx="5"/>
            <a:endCxn id="1206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67"/>
          <p:cNvCxnSpPr>
            <a:stCxn id="1202" idx="7"/>
            <a:endCxn id="1204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9" name="Google Shape;1209;p67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6" name="Google Shape;1206;p67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4" name="Google Shape;1204;p67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0" name="Google Shape;1210;p67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11" name="Google Shape;1211;p67"/>
          <p:cNvCxnSpPr>
            <a:stCxn id="1204" idx="6"/>
            <a:endCxn id="1210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67"/>
          <p:cNvCxnSpPr>
            <a:stCxn id="1206" idx="6"/>
            <a:endCxn id="1210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3" name="Google Shape;1213;p67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214" name="Google Shape;1214;p67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215" name="Google Shape;1215;p67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216" name="Google Shape;1216;p67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217" name="Google Shape;1217;p67"/>
          <p:cNvSpPr txBox="1"/>
          <p:nvPr/>
        </p:nvSpPr>
        <p:spPr>
          <a:xfrm>
            <a:off x="3661725" y="19048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0,4484</a:t>
            </a:r>
            <a:endParaRPr/>
          </a:p>
        </p:txBody>
      </p:sp>
      <p:sp>
        <p:nvSpPr>
          <p:cNvPr id="1218" name="Google Shape;1218;p67"/>
          <p:cNvSpPr txBox="1"/>
          <p:nvPr/>
        </p:nvSpPr>
        <p:spPr>
          <a:xfrm>
            <a:off x="3661725" y="35765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0,3392</a:t>
            </a:r>
            <a:endParaRPr/>
          </a:p>
        </p:txBody>
      </p:sp>
      <p:sp>
        <p:nvSpPr>
          <p:cNvPr id="1219" name="Google Shape;1219;p67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0" name="Google Shape;1220;p67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1" name="Google Shape;1221;p67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2" name="Google Shape;1222;p67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Atualizando os pesos</a:t>
            </a:r>
            <a:endParaRPr/>
          </a:p>
        </p:txBody>
      </p:sp>
      <p:sp>
        <p:nvSpPr>
          <p:cNvPr id="1223" name="Google Shape;1223;p67"/>
          <p:cNvSpPr txBox="1"/>
          <p:nvPr>
            <p:ph idx="4294967295" type="title"/>
          </p:nvPr>
        </p:nvSpPr>
        <p:spPr>
          <a:xfrm>
            <a:off x="5185400" y="3764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Taxa aprendizado = 1</a:t>
            </a:r>
            <a:endParaRPr sz="2400"/>
          </a:p>
        </p:txBody>
      </p:sp>
      <p:sp>
        <p:nvSpPr>
          <p:cNvPr id="1224" name="Google Shape;1224;p67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5" name="Google Shape;1225;p67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8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gradientes camada 1</a:t>
            </a:r>
            <a:endParaRPr/>
          </a:p>
        </p:txBody>
      </p:sp>
      <p:sp>
        <p:nvSpPr>
          <p:cNvPr id="1231" name="Google Shape;1231;p68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2" name="Google Shape;1232;p68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cxnSp>
        <p:nvCxnSpPr>
          <p:cNvPr id="1233" name="Google Shape;1233;p68"/>
          <p:cNvCxnSpPr>
            <a:stCxn id="1234" idx="6"/>
            <a:endCxn id="1235" idx="2"/>
          </p:cNvCxnSpPr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68"/>
          <p:cNvCxnSpPr>
            <a:stCxn id="1237" idx="5"/>
            <a:endCxn id="1235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8" name="Google Shape;1238;p68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5" name="Google Shape;1235;p68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9" name="Google Shape;1239;p68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240" name="Google Shape;1240;p68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241" name="Google Shape;1241;p68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42" name="Google Shape;1242;p68"/>
          <p:cNvCxnSpPr>
            <a:stCxn id="1234" idx="7"/>
            <a:endCxn id="1243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4" name="Google Shape;1244;p68"/>
          <p:cNvCxnSpPr>
            <a:stCxn id="1245" idx="6"/>
            <a:endCxn id="1246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7" name="Google Shape;1247;p68"/>
          <p:cNvSpPr txBox="1"/>
          <p:nvPr/>
        </p:nvSpPr>
        <p:spPr>
          <a:xfrm>
            <a:off x="4407000" y="1491525"/>
            <a:ext cx="433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Grad = 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. 0,7 = -0,01670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Peso = 0,2 - (-0,01670) = 0,2167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8" name="Google Shape;1248;p68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9" name="Google Shape;1249;p68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0" name="Google Shape;1250;p68"/>
          <p:cNvSpPr/>
          <p:nvPr/>
        </p:nvSpPr>
        <p:spPr>
          <a:xfrm>
            <a:off x="358925" y="2043050"/>
            <a:ext cx="3119700" cy="28989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5" name="Google Shape;1245;p68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6" name="Google Shape;1246;p68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1" name="Google Shape;1251;p68"/>
          <p:cNvSpPr txBox="1"/>
          <p:nvPr/>
        </p:nvSpPr>
        <p:spPr>
          <a:xfrm>
            <a:off x="1510375" y="1567650"/>
            <a:ext cx="83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252" name="Google Shape;1252;p68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69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gradientes camada 1</a:t>
            </a:r>
            <a:endParaRPr/>
          </a:p>
        </p:txBody>
      </p:sp>
      <p:cxnSp>
        <p:nvCxnSpPr>
          <p:cNvPr id="1258" name="Google Shape;1258;p69"/>
          <p:cNvCxnSpPr>
            <a:stCxn id="1259" idx="6"/>
            <a:endCxn id="1260" idx="2"/>
          </p:cNvCxnSpPr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69"/>
          <p:cNvCxnSpPr>
            <a:stCxn id="1262" idx="5"/>
            <a:endCxn id="1260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69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0" name="Google Shape;1260;p69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4" name="Google Shape;1264;p69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265" name="Google Shape;1265;p69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266" name="Google Shape;1266;p69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7" name="Google Shape;1267;p69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8" name="Google Shape;1268;p69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9" name="Google Shape;1269;p69"/>
          <p:cNvSpPr txBox="1"/>
          <p:nvPr/>
        </p:nvSpPr>
        <p:spPr>
          <a:xfrm>
            <a:off x="1324650" y="1567650"/>
            <a:ext cx="1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0,2167</a:t>
            </a:r>
            <a:endParaRPr/>
          </a:p>
        </p:txBody>
      </p:sp>
      <p:cxnSp>
        <p:nvCxnSpPr>
          <p:cNvPr id="1270" name="Google Shape;1270;p69"/>
          <p:cNvCxnSpPr>
            <a:stCxn id="1267" idx="6"/>
            <a:endCxn id="1271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2" name="Google Shape;1272;p69"/>
          <p:cNvSpPr/>
          <p:nvPr/>
        </p:nvSpPr>
        <p:spPr>
          <a:xfrm>
            <a:off x="276075" y="1394250"/>
            <a:ext cx="3078300" cy="36444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3" name="Google Shape;1273;p69"/>
          <p:cNvSpPr txBox="1"/>
          <p:nvPr/>
        </p:nvSpPr>
        <p:spPr>
          <a:xfrm>
            <a:off x="1270675" y="2278125"/>
            <a:ext cx="13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274" name="Google Shape;1274;p69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75" name="Google Shape;1275;p69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6" name="Google Shape;1276;p69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7" name="Google Shape;1277;p69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8" name="Google Shape;1278;p69"/>
          <p:cNvSpPr txBox="1"/>
          <p:nvPr/>
        </p:nvSpPr>
        <p:spPr>
          <a:xfrm>
            <a:off x="4407000" y="1491525"/>
            <a:ext cx="433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Grad = </a:t>
            </a: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-0,02385</a:t>
            </a: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. 0,2 = -0,00477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Peso = 0,1 - (-0,00477) = 0,10477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9" name="Google Shape;1279;p69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70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gradientes camada 1</a:t>
            </a:r>
            <a:endParaRPr/>
          </a:p>
        </p:txBody>
      </p:sp>
      <p:cxnSp>
        <p:nvCxnSpPr>
          <p:cNvPr id="1285" name="Google Shape;1285;p70"/>
          <p:cNvCxnSpPr>
            <a:stCxn id="1286" idx="6"/>
            <a:endCxn id="1287" idx="2"/>
          </p:cNvCxnSpPr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70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cxnSp>
        <p:nvCxnSpPr>
          <p:cNvPr id="1289" name="Google Shape;1289;p70"/>
          <p:cNvCxnSpPr>
            <a:stCxn id="1290" idx="6"/>
            <a:endCxn id="1291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2" name="Google Shape;1292;p70"/>
          <p:cNvSpPr txBox="1"/>
          <p:nvPr/>
        </p:nvSpPr>
        <p:spPr>
          <a:xfrm>
            <a:off x="1324650" y="1567650"/>
            <a:ext cx="1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0,2167</a:t>
            </a:r>
            <a:endParaRPr/>
          </a:p>
        </p:txBody>
      </p:sp>
      <p:sp>
        <p:nvSpPr>
          <p:cNvPr id="1293" name="Google Shape;1293;p70"/>
          <p:cNvSpPr txBox="1"/>
          <p:nvPr/>
        </p:nvSpPr>
        <p:spPr>
          <a:xfrm>
            <a:off x="1118827" y="2278125"/>
            <a:ext cx="13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0,10477</a:t>
            </a:r>
            <a:endParaRPr/>
          </a:p>
        </p:txBody>
      </p:sp>
      <p:sp>
        <p:nvSpPr>
          <p:cNvPr id="1294" name="Google Shape;1294;p70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5" name="Google Shape;1295;p70"/>
          <p:cNvSpPr/>
          <p:nvPr/>
        </p:nvSpPr>
        <p:spPr>
          <a:xfrm>
            <a:off x="2212725" y="1091325"/>
            <a:ext cx="10845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6" name="Google Shape;1296;p70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97" name="Google Shape;1297;p70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8" name="Google Shape;1298;p70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9" name="Google Shape;1299;p70"/>
          <p:cNvSpPr txBox="1"/>
          <p:nvPr/>
        </p:nvSpPr>
        <p:spPr>
          <a:xfrm>
            <a:off x="4407000" y="1491525"/>
            <a:ext cx="4693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Grad = -0,01341 . 0,2 = -0,002682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Peso = 0,2 - (-0,002682) = 0,20268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0" name="Google Shape;1300;p70"/>
          <p:cNvSpPr/>
          <p:nvPr/>
        </p:nvSpPr>
        <p:spPr>
          <a:xfrm>
            <a:off x="262275" y="1021525"/>
            <a:ext cx="3147300" cy="32994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01" name="Google Shape;1301;p70"/>
          <p:cNvCxnSpPr>
            <a:endCxn id="1302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2" name="Google Shape;1302;p70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3" name="Google Shape;1303;p70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304" name="Google Shape;1304;p70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5" name="Google Shape;1305;p70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1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gradientes camada 1</a:t>
            </a:r>
            <a:endParaRPr/>
          </a:p>
        </p:txBody>
      </p:sp>
      <p:cxnSp>
        <p:nvCxnSpPr>
          <p:cNvPr id="1311" name="Google Shape;1311;p71"/>
          <p:cNvCxnSpPr>
            <a:stCxn id="1312" idx="6"/>
            <a:endCxn id="1313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4" name="Google Shape;1314;p71"/>
          <p:cNvSpPr txBox="1"/>
          <p:nvPr/>
        </p:nvSpPr>
        <p:spPr>
          <a:xfrm>
            <a:off x="1324650" y="1567650"/>
            <a:ext cx="1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0,2167</a:t>
            </a:r>
            <a:endParaRPr/>
          </a:p>
        </p:txBody>
      </p:sp>
      <p:sp>
        <p:nvSpPr>
          <p:cNvPr id="1315" name="Google Shape;1315;p71"/>
          <p:cNvSpPr txBox="1"/>
          <p:nvPr/>
        </p:nvSpPr>
        <p:spPr>
          <a:xfrm>
            <a:off x="1118827" y="2278125"/>
            <a:ext cx="13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0,10477</a:t>
            </a:r>
            <a:endParaRPr/>
          </a:p>
        </p:txBody>
      </p:sp>
      <p:sp>
        <p:nvSpPr>
          <p:cNvPr id="1316" name="Google Shape;1316;p71"/>
          <p:cNvSpPr/>
          <p:nvPr/>
        </p:nvSpPr>
        <p:spPr>
          <a:xfrm>
            <a:off x="2212675" y="1091325"/>
            <a:ext cx="10845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7" name="Google Shape;1317;p71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18" name="Google Shape;1318;p71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9" name="Google Shape;1319;p71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0" name="Google Shape;1320;p71"/>
          <p:cNvSpPr txBox="1"/>
          <p:nvPr/>
        </p:nvSpPr>
        <p:spPr>
          <a:xfrm>
            <a:off x="4407000" y="1491525"/>
            <a:ext cx="456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Grad = -0,01341 . 0,1 = -0,001341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Peso = 0,1 - (-0,001341) = 0,10134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1" name="Google Shape;1321;p71"/>
          <p:cNvCxnSpPr>
            <a:endCxn id="1322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3" name="Google Shape;1323;p71"/>
          <p:cNvSpPr/>
          <p:nvPr/>
        </p:nvSpPr>
        <p:spPr>
          <a:xfrm>
            <a:off x="207075" y="924900"/>
            <a:ext cx="3257700" cy="3009300"/>
          </a:xfrm>
          <a:prstGeom prst="rect">
            <a:avLst/>
          </a:prstGeom>
          <a:solidFill>
            <a:srgbClr val="212121">
              <a:alpha val="77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4" name="Google Shape;1324;p71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25" name="Google Shape;1325;p71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6" name="Google Shape;1326;p71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327" name="Google Shape;1327;p71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8" name="Google Shape;1328;p71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9" name="Google Shape;1329;p71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0" name="Google Shape;1330;p71"/>
          <p:cNvSpPr/>
          <p:nvPr/>
        </p:nvSpPr>
        <p:spPr>
          <a:xfrm>
            <a:off x="2212675" y="4442450"/>
            <a:ext cx="10845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1" name="Google Shape;1331;p71"/>
          <p:cNvSpPr txBox="1"/>
          <p:nvPr/>
        </p:nvSpPr>
        <p:spPr>
          <a:xfrm>
            <a:off x="1199076" y="3202450"/>
            <a:ext cx="114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0,20268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2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novamente</a:t>
            </a:r>
            <a:endParaRPr/>
          </a:p>
        </p:txBody>
      </p:sp>
      <p:cxnSp>
        <p:nvCxnSpPr>
          <p:cNvPr id="1337" name="Google Shape;1337;p72"/>
          <p:cNvCxnSpPr>
            <a:stCxn id="1338" idx="6"/>
            <a:endCxn id="1339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0" name="Google Shape;1340;p72"/>
          <p:cNvSpPr txBox="1"/>
          <p:nvPr/>
        </p:nvSpPr>
        <p:spPr>
          <a:xfrm>
            <a:off x="1324650" y="1567650"/>
            <a:ext cx="1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0,2167</a:t>
            </a:r>
            <a:endParaRPr/>
          </a:p>
        </p:txBody>
      </p:sp>
      <p:sp>
        <p:nvSpPr>
          <p:cNvPr id="1341" name="Google Shape;1341;p72"/>
          <p:cNvSpPr txBox="1"/>
          <p:nvPr/>
        </p:nvSpPr>
        <p:spPr>
          <a:xfrm>
            <a:off x="1118827" y="2278125"/>
            <a:ext cx="13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0,10477</a:t>
            </a:r>
            <a:endParaRPr/>
          </a:p>
        </p:txBody>
      </p:sp>
      <p:sp>
        <p:nvSpPr>
          <p:cNvPr id="1342" name="Google Shape;1342;p72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43" name="Google Shape;1343;p72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4" name="Google Shape;1344;p72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45" name="Google Shape;1345;p72"/>
          <p:cNvCxnSpPr>
            <a:endCxn id="1346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7" name="Google Shape;1347;p72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48" name="Google Shape;1348;p72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9" name="Google Shape;1349;p72"/>
          <p:cNvSpPr txBox="1"/>
          <p:nvPr/>
        </p:nvSpPr>
        <p:spPr>
          <a:xfrm>
            <a:off x="1291950" y="3874450"/>
            <a:ext cx="98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0,10134</a:t>
            </a:r>
            <a:endParaRPr/>
          </a:p>
        </p:txBody>
      </p:sp>
      <p:sp>
        <p:nvSpPr>
          <p:cNvPr id="1350" name="Google Shape;1350;p72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1" name="Google Shape;1351;p72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2" name="Google Shape;1352;p72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3" name="Google Shape;1353;p72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54" name="Google Shape;1354;p72"/>
          <p:cNvCxnSpPr>
            <a:endCxn id="1353" idx="1"/>
          </p:cNvCxnSpPr>
          <p:nvPr/>
        </p:nvCxnSpPr>
        <p:spPr>
          <a:xfrm>
            <a:off x="3097395" y="201399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5" name="Google Shape;1355;p72"/>
          <p:cNvCxnSpPr>
            <a:endCxn id="1353" idx="3"/>
          </p:cNvCxnSpPr>
          <p:nvPr/>
        </p:nvCxnSpPr>
        <p:spPr>
          <a:xfrm flipH="1" rot="10800000">
            <a:off x="3097695" y="320890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6" name="Google Shape;1356;p72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7" name="Google Shape;1357;p72"/>
          <p:cNvSpPr txBox="1"/>
          <p:nvPr/>
        </p:nvSpPr>
        <p:spPr>
          <a:xfrm>
            <a:off x="3661725" y="19048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0,4484</a:t>
            </a:r>
            <a:endParaRPr/>
          </a:p>
        </p:txBody>
      </p:sp>
      <p:sp>
        <p:nvSpPr>
          <p:cNvPr id="1358" name="Google Shape;1358;p72"/>
          <p:cNvSpPr txBox="1"/>
          <p:nvPr/>
        </p:nvSpPr>
        <p:spPr>
          <a:xfrm>
            <a:off x="3661725" y="35765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0,3392</a:t>
            </a:r>
            <a:endParaRPr/>
          </a:p>
        </p:txBody>
      </p:sp>
      <p:sp>
        <p:nvSpPr>
          <p:cNvPr id="1359" name="Google Shape;1359;p72"/>
          <p:cNvSpPr txBox="1"/>
          <p:nvPr/>
        </p:nvSpPr>
        <p:spPr>
          <a:xfrm>
            <a:off x="1199076" y="3202450"/>
            <a:ext cx="114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0,20268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73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novamente</a:t>
            </a:r>
            <a:endParaRPr/>
          </a:p>
        </p:txBody>
      </p:sp>
      <p:cxnSp>
        <p:nvCxnSpPr>
          <p:cNvPr id="1365" name="Google Shape;1365;p73"/>
          <p:cNvCxnSpPr>
            <a:stCxn id="1366" idx="6"/>
            <a:endCxn id="1367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8" name="Google Shape;1368;p73"/>
          <p:cNvSpPr txBox="1"/>
          <p:nvPr/>
        </p:nvSpPr>
        <p:spPr>
          <a:xfrm>
            <a:off x="1324650" y="1567650"/>
            <a:ext cx="1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0,2167</a:t>
            </a:r>
            <a:endParaRPr/>
          </a:p>
        </p:txBody>
      </p:sp>
      <p:sp>
        <p:nvSpPr>
          <p:cNvPr id="1369" name="Google Shape;1369;p73"/>
          <p:cNvSpPr txBox="1"/>
          <p:nvPr/>
        </p:nvSpPr>
        <p:spPr>
          <a:xfrm>
            <a:off x="1118827" y="2278125"/>
            <a:ext cx="13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0,10477</a:t>
            </a:r>
            <a:endParaRPr/>
          </a:p>
        </p:txBody>
      </p:sp>
      <p:sp>
        <p:nvSpPr>
          <p:cNvPr id="1370" name="Google Shape;1370;p73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71" name="Google Shape;1371;p73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2" name="Google Shape;1372;p73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0,547909</a:t>
            </a:r>
            <a:endParaRPr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73" name="Google Shape;1373;p73"/>
          <p:cNvCxnSpPr>
            <a:endCxn id="1374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5" name="Google Shape;1375;p73"/>
          <p:cNvSpPr txBox="1"/>
          <p:nvPr/>
        </p:nvSpPr>
        <p:spPr>
          <a:xfrm>
            <a:off x="1199076" y="3202450"/>
            <a:ext cx="114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0,20268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6" name="Google Shape;1376;p73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77" name="Google Shape;1377;p73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8" name="Google Shape;1378;p73"/>
          <p:cNvSpPr txBox="1"/>
          <p:nvPr/>
        </p:nvSpPr>
        <p:spPr>
          <a:xfrm>
            <a:off x="1291950" y="3874450"/>
            <a:ext cx="98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0,10134</a:t>
            </a:r>
            <a:endParaRPr/>
          </a:p>
        </p:txBody>
      </p:sp>
      <p:sp>
        <p:nvSpPr>
          <p:cNvPr id="1379" name="Google Shape;1379;p73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0" name="Google Shape;1380;p73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1" name="Google Shape;1381;p73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0,523384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2" name="Google Shape;1382;p73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83" name="Google Shape;1383;p73"/>
          <p:cNvCxnSpPr>
            <a:endCxn id="1382" idx="1"/>
          </p:cNvCxnSpPr>
          <p:nvPr/>
        </p:nvCxnSpPr>
        <p:spPr>
          <a:xfrm>
            <a:off x="3097395" y="201399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4" name="Google Shape;1384;p73"/>
          <p:cNvCxnSpPr>
            <a:endCxn id="1382" idx="3"/>
          </p:cNvCxnSpPr>
          <p:nvPr/>
        </p:nvCxnSpPr>
        <p:spPr>
          <a:xfrm flipH="1" rot="10800000">
            <a:off x="3097695" y="320890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5" name="Google Shape;1385;p73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0.60425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6" name="Google Shape;1386;p73"/>
          <p:cNvSpPr txBox="1"/>
          <p:nvPr/>
        </p:nvSpPr>
        <p:spPr>
          <a:xfrm>
            <a:off x="3661725" y="19048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0,4484</a:t>
            </a:r>
            <a:endParaRPr/>
          </a:p>
        </p:txBody>
      </p:sp>
      <p:sp>
        <p:nvSpPr>
          <p:cNvPr id="1387" name="Google Shape;1387;p73"/>
          <p:cNvSpPr txBox="1"/>
          <p:nvPr/>
        </p:nvSpPr>
        <p:spPr>
          <a:xfrm>
            <a:off x="3661725" y="35765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0,3392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74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novamente</a:t>
            </a:r>
            <a:endParaRPr/>
          </a:p>
        </p:txBody>
      </p:sp>
      <p:cxnSp>
        <p:nvCxnSpPr>
          <p:cNvPr id="1393" name="Google Shape;1393;p74"/>
          <p:cNvCxnSpPr>
            <a:stCxn id="1394" idx="6"/>
            <a:endCxn id="1395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6" name="Google Shape;1396;p74"/>
          <p:cNvSpPr txBox="1"/>
          <p:nvPr/>
        </p:nvSpPr>
        <p:spPr>
          <a:xfrm>
            <a:off x="1324650" y="1567650"/>
            <a:ext cx="1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0,2167</a:t>
            </a:r>
            <a:endParaRPr/>
          </a:p>
        </p:txBody>
      </p:sp>
      <p:sp>
        <p:nvSpPr>
          <p:cNvPr id="1397" name="Google Shape;1397;p74"/>
          <p:cNvSpPr txBox="1"/>
          <p:nvPr/>
        </p:nvSpPr>
        <p:spPr>
          <a:xfrm>
            <a:off x="1118827" y="2278125"/>
            <a:ext cx="130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0,10477</a:t>
            </a:r>
            <a:endParaRPr/>
          </a:p>
        </p:txBody>
      </p:sp>
      <p:sp>
        <p:nvSpPr>
          <p:cNvPr id="1398" name="Google Shape;1398;p74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99" name="Google Shape;1399;p74"/>
          <p:cNvCxnSpPr/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0" name="Google Shape;1400;p74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0,547909</a:t>
            </a:r>
            <a:endParaRPr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1" name="Google Shape;1401;p74"/>
          <p:cNvCxnSpPr>
            <a:endCxn id="1402" idx="1"/>
          </p:cNvCxnSpPr>
          <p:nvPr/>
        </p:nvCxnSpPr>
        <p:spPr>
          <a:xfrm>
            <a:off x="1002520" y="2251020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3" name="Google Shape;1403;p74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4" name="Google Shape;1404;p74"/>
          <p:cNvCxnSpPr/>
          <p:nvPr/>
        </p:nvCxnSpPr>
        <p:spPr>
          <a:xfrm>
            <a:off x="1102875" y="3919175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5" name="Google Shape;1405;p74"/>
          <p:cNvSpPr txBox="1"/>
          <p:nvPr/>
        </p:nvSpPr>
        <p:spPr>
          <a:xfrm>
            <a:off x="1291950" y="3874450"/>
            <a:ext cx="98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0,10134</a:t>
            </a:r>
            <a:endParaRPr/>
          </a:p>
        </p:txBody>
      </p:sp>
      <p:sp>
        <p:nvSpPr>
          <p:cNvPr id="1406" name="Google Shape;1406;p74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7" name="Google Shape;1407;p74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8" name="Google Shape;1408;p74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0,523384</a:t>
            </a:r>
            <a:endParaRPr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9" name="Google Shape;1409;p74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10" name="Google Shape;1410;p74"/>
          <p:cNvCxnSpPr>
            <a:endCxn id="1409" idx="1"/>
          </p:cNvCxnSpPr>
          <p:nvPr/>
        </p:nvCxnSpPr>
        <p:spPr>
          <a:xfrm>
            <a:off x="3097395" y="201399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74"/>
          <p:cNvCxnSpPr>
            <a:endCxn id="1409" idx="3"/>
          </p:cNvCxnSpPr>
          <p:nvPr/>
        </p:nvCxnSpPr>
        <p:spPr>
          <a:xfrm flipH="1" rot="10800000">
            <a:off x="3097695" y="320890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2" name="Google Shape;1412;p74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0.60425</a:t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3" name="Google Shape;1413;p74"/>
          <p:cNvSpPr txBox="1"/>
          <p:nvPr/>
        </p:nvSpPr>
        <p:spPr>
          <a:xfrm>
            <a:off x="3661725" y="19048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0,4484</a:t>
            </a:r>
            <a:endParaRPr/>
          </a:p>
        </p:txBody>
      </p:sp>
      <p:sp>
        <p:nvSpPr>
          <p:cNvPr id="1414" name="Google Shape;1414;p74"/>
          <p:cNvSpPr txBox="1"/>
          <p:nvPr/>
        </p:nvSpPr>
        <p:spPr>
          <a:xfrm>
            <a:off x="3661725" y="3576550"/>
            <a:ext cx="9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0,3392</a:t>
            </a:r>
            <a:endParaRPr/>
          </a:p>
        </p:txBody>
      </p:sp>
      <p:sp>
        <p:nvSpPr>
          <p:cNvPr id="1415" name="Google Shape;1415;p74"/>
          <p:cNvSpPr txBox="1"/>
          <p:nvPr/>
        </p:nvSpPr>
        <p:spPr>
          <a:xfrm>
            <a:off x="5585700" y="25945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erro = 0,60425 - 1 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= -0,39575</a:t>
            </a:r>
            <a:endParaRPr/>
          </a:p>
        </p:txBody>
      </p:sp>
      <p:sp>
        <p:nvSpPr>
          <p:cNvPr id="1416" name="Google Shape;1416;p74"/>
          <p:cNvSpPr txBox="1"/>
          <p:nvPr/>
        </p:nvSpPr>
        <p:spPr>
          <a:xfrm>
            <a:off x="1199076" y="3202450"/>
            <a:ext cx="114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0,20268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75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Comparando antes</a:t>
            </a:r>
            <a:endParaRPr/>
          </a:p>
        </p:txBody>
      </p:sp>
      <p:sp>
        <p:nvSpPr>
          <p:cNvPr id="1422" name="Google Shape;1422;p75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3" name="Google Shape;1423;p75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24" name="Google Shape;1424;p75"/>
          <p:cNvCxnSpPr>
            <a:stCxn id="1422" idx="6"/>
            <a:endCxn id="1425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6" name="Google Shape;1426;p75"/>
          <p:cNvCxnSpPr>
            <a:stCxn id="1423" idx="6"/>
            <a:endCxn id="1427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8" name="Google Shape;1428;p75"/>
          <p:cNvCxnSpPr>
            <a:stCxn id="1422" idx="5"/>
            <a:endCxn id="1427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9" name="Google Shape;1429;p75"/>
          <p:cNvCxnSpPr>
            <a:stCxn id="1423" idx="7"/>
            <a:endCxn id="1425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0" name="Google Shape;1430;p75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7" name="Google Shape;1427;p75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5" name="Google Shape;1425;p75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1" name="Google Shape;1431;p75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32" name="Google Shape;1432;p75"/>
          <p:cNvCxnSpPr>
            <a:stCxn id="1425" idx="6"/>
            <a:endCxn id="1431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75"/>
          <p:cNvCxnSpPr>
            <a:stCxn id="1427" idx="6"/>
            <a:endCxn id="1431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4" name="Google Shape;1434;p75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435" name="Google Shape;1435;p75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36" name="Google Shape;1436;p75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37" name="Google Shape;1437;p75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38" name="Google Shape;1438;p75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439" name="Google Shape;1439;p75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40" name="Google Shape;1440;p75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1" name="Google Shape;1441;p75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2" name="Google Shape;1442;p75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3" name="Google Shape;1443;p75"/>
          <p:cNvSpPr txBox="1"/>
          <p:nvPr/>
        </p:nvSpPr>
        <p:spPr>
          <a:xfrm>
            <a:off x="5715000" y="27331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erro = 0,54 - 1 </a:t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= -0,46</a:t>
            </a:r>
            <a:endParaRPr/>
          </a:p>
        </p:txBody>
      </p:sp>
      <p:sp>
        <p:nvSpPr>
          <p:cNvPr id="1444" name="Google Shape;1444;p75"/>
          <p:cNvSpPr txBox="1"/>
          <p:nvPr/>
        </p:nvSpPr>
        <p:spPr>
          <a:xfrm>
            <a:off x="5715000" y="39804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erro_novo = -0,39575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76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Facilitando os c</a:t>
            </a:r>
            <a:r>
              <a:rPr lang="en"/>
              <a:t>álculos: usando a função de ativação ReLU</a:t>
            </a:r>
            <a:endParaRPr/>
          </a:p>
        </p:txBody>
      </p:sp>
      <p:sp>
        <p:nvSpPr>
          <p:cNvPr id="1450" name="Google Shape;1450;p76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1" name="Google Shape;145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950" y="86450"/>
            <a:ext cx="4745720" cy="1908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7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ReLU: evita exponencial (“pesado” para calcular)</a:t>
            </a:r>
            <a:endParaRPr/>
          </a:p>
        </p:txBody>
      </p:sp>
      <p:sp>
        <p:nvSpPr>
          <p:cNvPr id="1457" name="Google Shape;1457;p77"/>
          <p:cNvSpPr txBox="1"/>
          <p:nvPr>
            <p:ph idx="1" type="body"/>
          </p:nvPr>
        </p:nvSpPr>
        <p:spPr>
          <a:xfrm>
            <a:off x="3552650" y="1369625"/>
            <a:ext cx="49905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Essa funç</a:t>
            </a:r>
            <a:r>
              <a:rPr lang="en"/>
              <a:t>ão apenas retorna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 z &lt;= 0: 0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 z &gt; 0: z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Sua derivada também é bem mais fácil: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 z &lt;= 0: 0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 z &gt; 0: 1</a:t>
            </a:r>
            <a:endParaRPr/>
          </a:p>
        </p:txBody>
      </p:sp>
      <p:pic>
        <p:nvPicPr>
          <p:cNvPr id="1458" name="Google Shape;1458;p77"/>
          <p:cNvPicPr preferRelativeResize="0"/>
          <p:nvPr/>
        </p:nvPicPr>
        <p:blipFill rotWithShape="1">
          <a:blip r:embed="rId3">
            <a:alphaModFix/>
          </a:blip>
          <a:srcRect b="0" l="50112" r="0" t="0"/>
          <a:stretch/>
        </p:blipFill>
        <p:spPr>
          <a:xfrm>
            <a:off x="725373" y="1369625"/>
            <a:ext cx="2367575" cy="19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78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4" name="Google Shape;1464;p78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65" name="Google Shape;1465;p78"/>
          <p:cNvCxnSpPr>
            <a:stCxn id="1463" idx="6"/>
            <a:endCxn id="1466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78"/>
          <p:cNvCxnSpPr>
            <a:stCxn id="1464" idx="6"/>
            <a:endCxn id="1468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9" name="Google Shape;1469;p78"/>
          <p:cNvCxnSpPr>
            <a:stCxn id="1463" idx="5"/>
            <a:endCxn id="1468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0" name="Google Shape;1470;p78"/>
          <p:cNvCxnSpPr>
            <a:stCxn id="1464" idx="7"/>
            <a:endCxn id="1466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1" name="Google Shape;1471;p78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8" name="Google Shape;1468;p78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6" name="Google Shape;1466;p78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2" name="Google Shape;1472;p78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73" name="Google Shape;1473;p78"/>
          <p:cNvCxnSpPr>
            <a:stCxn id="1466" idx="6"/>
            <a:endCxn id="1472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4" name="Google Shape;1474;p78"/>
          <p:cNvCxnSpPr>
            <a:stCxn id="1468" idx="6"/>
            <a:endCxn id="1472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5" name="Google Shape;1475;p78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476" name="Google Shape;1476;p78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77" name="Google Shape;1477;p78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78" name="Google Shape;1478;p78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79" name="Google Shape;1479;p78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480" name="Google Shape;1480;p78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481" name="Google Shape;1481;p78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2" name="Google Shape;1482;p78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3" name="Google Shape;1483;p78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4" name="Google Shape;1484;p78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5" name="Google Shape;1485;p78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sp>
        <p:nvSpPr>
          <p:cNvPr id="1486" name="Google Shape;1486;p78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87" name="Google Shape;1487;p78"/>
          <p:cNvCxnSpPr/>
          <p:nvPr/>
        </p:nvCxnSpPr>
        <p:spPr>
          <a:xfrm rot="10800000">
            <a:off x="3451050" y="14632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8" name="Google Shape;1488;p78"/>
          <p:cNvCxnSpPr/>
          <p:nvPr/>
        </p:nvCxnSpPr>
        <p:spPr>
          <a:xfrm flipH="1">
            <a:off x="3451050" y="35865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9" name="Google Shape;1489;p78"/>
          <p:cNvSpPr txBox="1"/>
          <p:nvPr/>
        </p:nvSpPr>
        <p:spPr>
          <a:xfrm>
            <a:off x="4068000" y="133902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0,2 = -0,092 * 0,54 * (1 - 0,54) = -0,02385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0" name="Google Shape;1490;p78"/>
          <p:cNvSpPr txBox="1"/>
          <p:nvPr/>
        </p:nvSpPr>
        <p:spPr>
          <a:xfrm>
            <a:off x="4068000" y="419407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0,1 = -0,046 * 0,54 * (1 - 0,54) = 0,01341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1" name="Google Shape;1491;p78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2" name="Google Shape;1492;p78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3" name="Google Shape;1493;p78"/>
          <p:cNvSpPr/>
          <p:nvPr/>
        </p:nvSpPr>
        <p:spPr>
          <a:xfrm>
            <a:off x="4531550" y="2811550"/>
            <a:ext cx="4776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4" name="Google Shape;1494;p78"/>
          <p:cNvSpPr/>
          <p:nvPr/>
        </p:nvSpPr>
        <p:spPr>
          <a:xfrm>
            <a:off x="5826175" y="138402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5" name="Google Shape;1495;p78"/>
          <p:cNvSpPr/>
          <p:nvPr/>
        </p:nvSpPr>
        <p:spPr>
          <a:xfrm>
            <a:off x="6664050" y="138402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6" name="Google Shape;1496;p78"/>
          <p:cNvSpPr/>
          <p:nvPr/>
        </p:nvSpPr>
        <p:spPr>
          <a:xfrm>
            <a:off x="5826175" y="423347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7" name="Google Shape;1497;p78"/>
          <p:cNvSpPr/>
          <p:nvPr/>
        </p:nvSpPr>
        <p:spPr>
          <a:xfrm>
            <a:off x="6664050" y="423347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498" name="Google Shape;1498;p78"/>
          <p:cNvGrpSpPr/>
          <p:nvPr/>
        </p:nvGrpSpPr>
        <p:grpSpPr>
          <a:xfrm>
            <a:off x="6921935" y="2383221"/>
            <a:ext cx="1957170" cy="740977"/>
            <a:chOff x="670850" y="1514100"/>
            <a:chExt cx="2273400" cy="860700"/>
          </a:xfrm>
        </p:grpSpPr>
        <p:sp>
          <p:nvSpPr>
            <p:cNvPr id="1499" name="Google Shape;1499;p78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rgbClr val="FFFFFF"/>
            </a:solidFill>
            <a:ln cap="flat" cmpd="sng" w="76200">
              <a:solidFill>
                <a:srgbClr val="359E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500" name="Google Shape;1500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1" name="Google Shape;1501;p78"/>
          <p:cNvSpPr/>
          <p:nvPr/>
        </p:nvSpPr>
        <p:spPr>
          <a:xfrm>
            <a:off x="5794675" y="1351825"/>
            <a:ext cx="1309500" cy="400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02" name="Google Shape;1502;p78"/>
          <p:cNvCxnSpPr>
            <a:stCxn id="1499" idx="0"/>
            <a:endCxn id="1501" idx="2"/>
          </p:cNvCxnSpPr>
          <p:nvPr/>
        </p:nvCxnSpPr>
        <p:spPr>
          <a:xfrm rot="10800000">
            <a:off x="6449420" y="1752021"/>
            <a:ext cx="1451100" cy="631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79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8" name="Google Shape;1508;p79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09" name="Google Shape;1509;p79"/>
          <p:cNvCxnSpPr>
            <a:stCxn id="1507" idx="6"/>
            <a:endCxn id="1510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1" name="Google Shape;1511;p79"/>
          <p:cNvCxnSpPr>
            <a:stCxn id="1508" idx="6"/>
            <a:endCxn id="1512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3" name="Google Shape;1513;p79"/>
          <p:cNvCxnSpPr>
            <a:stCxn id="1507" idx="5"/>
            <a:endCxn id="1512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4" name="Google Shape;1514;p79"/>
          <p:cNvCxnSpPr>
            <a:stCxn id="1508" idx="7"/>
            <a:endCxn id="1510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5" name="Google Shape;1515;p79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2" name="Google Shape;1512;p79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0" name="Google Shape;1510;p79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6" name="Google Shape;1516;p79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17" name="Google Shape;1517;p79"/>
          <p:cNvCxnSpPr>
            <a:stCxn id="1510" idx="6"/>
            <a:endCxn id="1516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8" name="Google Shape;1518;p79"/>
          <p:cNvCxnSpPr>
            <a:stCxn id="1512" idx="6"/>
            <a:endCxn id="1516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9" name="Google Shape;1519;p79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520" name="Google Shape;1520;p79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21" name="Google Shape;1521;p79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22" name="Google Shape;1522;p79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23" name="Google Shape;1523;p79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524" name="Google Shape;1524;p79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25" name="Google Shape;1525;p79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6" name="Google Shape;1526;p79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7" name="Google Shape;1527;p79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8" name="Google Shape;1528;p79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9" name="Google Shape;1529;p79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sp>
        <p:nvSpPr>
          <p:cNvPr id="1530" name="Google Shape;1530;p79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31" name="Google Shape;1531;p79"/>
          <p:cNvCxnSpPr/>
          <p:nvPr/>
        </p:nvCxnSpPr>
        <p:spPr>
          <a:xfrm rot="10800000">
            <a:off x="3451050" y="14632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2" name="Google Shape;1532;p79"/>
          <p:cNvCxnSpPr/>
          <p:nvPr/>
        </p:nvCxnSpPr>
        <p:spPr>
          <a:xfrm flipH="1">
            <a:off x="3451050" y="35865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3" name="Google Shape;1533;p79"/>
          <p:cNvSpPr txBox="1"/>
          <p:nvPr/>
        </p:nvSpPr>
        <p:spPr>
          <a:xfrm>
            <a:off x="4068000" y="133902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0,2 = -0,092 * 0,54 * (1 - 0,54) = -0,02385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4" name="Google Shape;1534;p79"/>
          <p:cNvSpPr txBox="1"/>
          <p:nvPr/>
        </p:nvSpPr>
        <p:spPr>
          <a:xfrm>
            <a:off x="4068000" y="419407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0,1 = -0,046 * 0,54 * (1 - 0,54) = 0,01341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5" name="Google Shape;1535;p79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-0,01341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6" name="Google Shape;1536;p79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-0,02385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7" name="Google Shape;1537;p79"/>
          <p:cNvSpPr/>
          <p:nvPr/>
        </p:nvSpPr>
        <p:spPr>
          <a:xfrm>
            <a:off x="4531550" y="2811550"/>
            <a:ext cx="4776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8" name="Google Shape;1538;p79"/>
          <p:cNvSpPr/>
          <p:nvPr/>
        </p:nvSpPr>
        <p:spPr>
          <a:xfrm>
            <a:off x="5826175" y="138402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9" name="Google Shape;1539;p79"/>
          <p:cNvSpPr/>
          <p:nvPr/>
        </p:nvSpPr>
        <p:spPr>
          <a:xfrm>
            <a:off x="6664050" y="138402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0" name="Google Shape;1540;p79"/>
          <p:cNvSpPr/>
          <p:nvPr/>
        </p:nvSpPr>
        <p:spPr>
          <a:xfrm>
            <a:off x="5826175" y="423347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1" name="Google Shape;1541;p79"/>
          <p:cNvSpPr/>
          <p:nvPr/>
        </p:nvSpPr>
        <p:spPr>
          <a:xfrm>
            <a:off x="6664050" y="4233475"/>
            <a:ext cx="4035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542" name="Google Shape;1542;p79"/>
          <p:cNvGrpSpPr/>
          <p:nvPr/>
        </p:nvGrpSpPr>
        <p:grpSpPr>
          <a:xfrm>
            <a:off x="6921935" y="2383221"/>
            <a:ext cx="1957170" cy="740977"/>
            <a:chOff x="670850" y="1514100"/>
            <a:chExt cx="2273400" cy="860700"/>
          </a:xfrm>
        </p:grpSpPr>
        <p:sp>
          <p:nvSpPr>
            <p:cNvPr id="1543" name="Google Shape;1543;p79"/>
            <p:cNvSpPr/>
            <p:nvPr/>
          </p:nvSpPr>
          <p:spPr>
            <a:xfrm>
              <a:off x="670850" y="1514100"/>
              <a:ext cx="2273400" cy="860700"/>
            </a:xfrm>
            <a:prstGeom prst="rect">
              <a:avLst/>
            </a:prstGeom>
            <a:solidFill>
              <a:srgbClr val="FFFFFF"/>
            </a:solidFill>
            <a:ln cap="flat" cmpd="sng" w="76200">
              <a:solidFill>
                <a:srgbClr val="359E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544" name="Google Shape;1544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0392" y="1624482"/>
              <a:ext cx="1771050" cy="629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5" name="Google Shape;1545;p79"/>
          <p:cNvSpPr/>
          <p:nvPr/>
        </p:nvSpPr>
        <p:spPr>
          <a:xfrm>
            <a:off x="5794675" y="1351825"/>
            <a:ext cx="1309500" cy="400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46" name="Google Shape;1546;p79"/>
          <p:cNvCxnSpPr>
            <a:stCxn id="1543" idx="0"/>
            <a:endCxn id="1545" idx="2"/>
          </p:cNvCxnSpPr>
          <p:nvPr/>
        </p:nvCxnSpPr>
        <p:spPr>
          <a:xfrm rot="10800000">
            <a:off x="6449420" y="1752021"/>
            <a:ext cx="1451100" cy="631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7" name="Google Shape;1547;p79"/>
          <p:cNvCxnSpPr/>
          <p:nvPr/>
        </p:nvCxnSpPr>
        <p:spPr>
          <a:xfrm>
            <a:off x="5934800" y="1104525"/>
            <a:ext cx="981000" cy="9810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79"/>
          <p:cNvCxnSpPr/>
          <p:nvPr/>
        </p:nvCxnSpPr>
        <p:spPr>
          <a:xfrm flipH="1">
            <a:off x="5934800" y="1104532"/>
            <a:ext cx="981000" cy="9810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79"/>
          <p:cNvCxnSpPr/>
          <p:nvPr/>
        </p:nvCxnSpPr>
        <p:spPr>
          <a:xfrm>
            <a:off x="7467950" y="2263213"/>
            <a:ext cx="981000" cy="9810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79"/>
          <p:cNvCxnSpPr/>
          <p:nvPr/>
        </p:nvCxnSpPr>
        <p:spPr>
          <a:xfrm flipH="1">
            <a:off x="7467950" y="2263220"/>
            <a:ext cx="981000" cy="9810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80"/>
          <p:cNvSpPr/>
          <p:nvPr/>
        </p:nvSpPr>
        <p:spPr>
          <a:xfrm>
            <a:off x="417650" y="1666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0,7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6" name="Google Shape;1556;p80"/>
          <p:cNvSpPr/>
          <p:nvPr/>
        </p:nvSpPr>
        <p:spPr>
          <a:xfrm>
            <a:off x="417650" y="35765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57" name="Google Shape;1557;p80"/>
          <p:cNvCxnSpPr>
            <a:stCxn id="1555" idx="6"/>
            <a:endCxn id="1558" idx="2"/>
          </p:cNvCxnSpPr>
          <p:nvPr/>
        </p:nvCxnSpPr>
        <p:spPr>
          <a:xfrm>
            <a:off x="1102850" y="2008650"/>
            <a:ext cx="1309500" cy="5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80"/>
          <p:cNvCxnSpPr>
            <a:stCxn id="1556" idx="6"/>
            <a:endCxn id="1560" idx="2"/>
          </p:cNvCxnSpPr>
          <p:nvPr/>
        </p:nvCxnSpPr>
        <p:spPr>
          <a:xfrm>
            <a:off x="1102850" y="3919150"/>
            <a:ext cx="1309500" cy="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1" name="Google Shape;1561;p80"/>
          <p:cNvCxnSpPr>
            <a:stCxn id="1555" idx="5"/>
            <a:endCxn id="1560" idx="1"/>
          </p:cNvCxnSpPr>
          <p:nvPr/>
        </p:nvCxnSpPr>
        <p:spPr>
          <a:xfrm>
            <a:off x="1002505" y="2250905"/>
            <a:ext cx="1510200" cy="1425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2" name="Google Shape;1562;p80"/>
          <p:cNvCxnSpPr>
            <a:stCxn id="1556" idx="7"/>
            <a:endCxn id="1558" idx="3"/>
          </p:cNvCxnSpPr>
          <p:nvPr/>
        </p:nvCxnSpPr>
        <p:spPr>
          <a:xfrm flipH="1" rot="10800000">
            <a:off x="1002505" y="2256395"/>
            <a:ext cx="1510200" cy="14205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3" name="Google Shape;1563;p80"/>
          <p:cNvSpPr txBox="1"/>
          <p:nvPr/>
        </p:nvSpPr>
        <p:spPr>
          <a:xfrm>
            <a:off x="1934900" y="3358900"/>
            <a:ext cx="4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0" name="Google Shape;1560;p80"/>
          <p:cNvSpPr/>
          <p:nvPr/>
        </p:nvSpPr>
        <p:spPr>
          <a:xfrm>
            <a:off x="2412375" y="357657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8" name="Google Shape;1558;p80"/>
          <p:cNvSpPr/>
          <p:nvPr/>
        </p:nvSpPr>
        <p:spPr>
          <a:xfrm>
            <a:off x="2412325" y="1671525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4" name="Google Shape;1564;p80"/>
          <p:cNvSpPr/>
          <p:nvPr/>
        </p:nvSpPr>
        <p:spPr>
          <a:xfrm>
            <a:off x="4427750" y="2624050"/>
            <a:ext cx="685200" cy="6852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65" name="Google Shape;1565;p80"/>
          <p:cNvCxnSpPr>
            <a:stCxn id="1558" idx="6"/>
            <a:endCxn id="1564" idx="1"/>
          </p:cNvCxnSpPr>
          <p:nvPr/>
        </p:nvCxnSpPr>
        <p:spPr>
          <a:xfrm>
            <a:off x="3097525" y="2014125"/>
            <a:ext cx="14307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6" name="Google Shape;1566;p80"/>
          <p:cNvCxnSpPr>
            <a:stCxn id="1560" idx="6"/>
            <a:endCxn id="1564" idx="3"/>
          </p:cNvCxnSpPr>
          <p:nvPr/>
        </p:nvCxnSpPr>
        <p:spPr>
          <a:xfrm flipH="1" rot="10800000">
            <a:off x="3097575" y="3208775"/>
            <a:ext cx="1430400" cy="710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7" name="Google Shape;1567;p80"/>
          <p:cNvSpPr txBox="1"/>
          <p:nvPr/>
        </p:nvSpPr>
        <p:spPr>
          <a:xfrm>
            <a:off x="1652425" y="15676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568" name="Google Shape;1568;p80"/>
          <p:cNvSpPr txBox="1"/>
          <p:nvPr/>
        </p:nvSpPr>
        <p:spPr>
          <a:xfrm>
            <a:off x="1652425" y="2278125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69" name="Google Shape;1569;p80"/>
          <p:cNvSpPr txBox="1"/>
          <p:nvPr/>
        </p:nvSpPr>
        <p:spPr>
          <a:xfrm>
            <a:off x="1652425" y="31748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70" name="Google Shape;1570;p80"/>
          <p:cNvSpPr txBox="1"/>
          <p:nvPr/>
        </p:nvSpPr>
        <p:spPr>
          <a:xfrm>
            <a:off x="1652425" y="3874438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71" name="Google Shape;1571;p80"/>
          <p:cNvSpPr txBox="1"/>
          <p:nvPr/>
        </p:nvSpPr>
        <p:spPr>
          <a:xfrm>
            <a:off x="3661725" y="19048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0,2</a:t>
            </a:r>
            <a:endParaRPr/>
          </a:p>
        </p:txBody>
      </p:sp>
      <p:sp>
        <p:nvSpPr>
          <p:cNvPr id="1572" name="Google Shape;1572;p80"/>
          <p:cNvSpPr txBox="1"/>
          <p:nvPr/>
        </p:nvSpPr>
        <p:spPr>
          <a:xfrm>
            <a:off x="3661725" y="3576550"/>
            <a:ext cx="5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0,1</a:t>
            </a:r>
            <a:endParaRPr/>
          </a:p>
        </p:txBody>
      </p:sp>
      <p:sp>
        <p:nvSpPr>
          <p:cNvPr id="1573" name="Google Shape;1573;p80"/>
          <p:cNvSpPr txBox="1"/>
          <p:nvPr/>
        </p:nvSpPr>
        <p:spPr>
          <a:xfrm>
            <a:off x="5740850" y="1838625"/>
            <a:ext cx="34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4" name="Google Shape;1574;p80"/>
          <p:cNvSpPr/>
          <p:nvPr/>
        </p:nvSpPr>
        <p:spPr>
          <a:xfrm>
            <a:off x="2339875" y="353907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5" name="Google Shape;1575;p80"/>
          <p:cNvSpPr/>
          <p:nvPr/>
        </p:nvSpPr>
        <p:spPr>
          <a:xfrm>
            <a:off x="2339875" y="1634025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6" name="Google Shape;1576;p80"/>
          <p:cNvSpPr/>
          <p:nvPr/>
        </p:nvSpPr>
        <p:spPr>
          <a:xfrm>
            <a:off x="4355300" y="2586550"/>
            <a:ext cx="83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0,54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7" name="Google Shape;1577;p80"/>
          <p:cNvSpPr txBox="1"/>
          <p:nvPr>
            <p:ph idx="4294967295" type="title"/>
          </p:nvPr>
        </p:nvSpPr>
        <p:spPr>
          <a:xfrm>
            <a:off x="607500" y="311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fazer a retropropagação do erro!</a:t>
            </a:r>
            <a:endParaRPr/>
          </a:p>
        </p:txBody>
      </p:sp>
      <p:sp>
        <p:nvSpPr>
          <p:cNvPr id="1578" name="Google Shape;1578;p80"/>
          <p:cNvSpPr/>
          <p:nvPr/>
        </p:nvSpPr>
        <p:spPr>
          <a:xfrm>
            <a:off x="5185400" y="2763750"/>
            <a:ext cx="8301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79" name="Google Shape;1579;p80"/>
          <p:cNvCxnSpPr/>
          <p:nvPr/>
        </p:nvCxnSpPr>
        <p:spPr>
          <a:xfrm rot="10800000">
            <a:off x="3451050" y="14632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0" name="Google Shape;1580;p80"/>
          <p:cNvCxnSpPr/>
          <p:nvPr/>
        </p:nvCxnSpPr>
        <p:spPr>
          <a:xfrm flipH="1">
            <a:off x="3451050" y="3586550"/>
            <a:ext cx="1794600" cy="883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1" name="Google Shape;1581;p80"/>
          <p:cNvSpPr txBox="1"/>
          <p:nvPr/>
        </p:nvSpPr>
        <p:spPr>
          <a:xfrm>
            <a:off x="4068000" y="133902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0,2 = -0,092 * 1                        = -0,092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2" name="Google Shape;1582;p80"/>
          <p:cNvSpPr txBox="1"/>
          <p:nvPr/>
        </p:nvSpPr>
        <p:spPr>
          <a:xfrm>
            <a:off x="4068000" y="419407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-0,46 * 0,1 = -0,046 * 1                        = 0,046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3" name="Google Shape;1583;p80"/>
          <p:cNvSpPr/>
          <p:nvPr/>
        </p:nvSpPr>
        <p:spPr>
          <a:xfrm>
            <a:off x="2167525" y="4470050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-0,046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4" name="Google Shape;1584;p80"/>
          <p:cNvSpPr/>
          <p:nvPr/>
        </p:nvSpPr>
        <p:spPr>
          <a:xfrm>
            <a:off x="2167525" y="799375"/>
            <a:ext cx="1167000" cy="400200"/>
          </a:xfrm>
          <a:prstGeom prst="rect">
            <a:avLst/>
          </a:prstGeom>
          <a:solidFill>
            <a:srgbClr val="D75BCD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-0,092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5" name="Google Shape;1585;p80"/>
          <p:cNvSpPr/>
          <p:nvPr/>
        </p:nvSpPr>
        <p:spPr>
          <a:xfrm>
            <a:off x="4531550" y="2811550"/>
            <a:ext cx="4776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586" name="Google Shape;1586;p80"/>
          <p:cNvCxnSpPr>
            <a:stCxn id="1587" idx="0"/>
            <a:endCxn id="1588" idx="2"/>
          </p:cNvCxnSpPr>
          <p:nvPr/>
        </p:nvCxnSpPr>
        <p:spPr>
          <a:xfrm rot="10800000">
            <a:off x="6449420" y="1752021"/>
            <a:ext cx="1451100" cy="631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89" name="Google Shape;158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715" y="2473996"/>
            <a:ext cx="2189213" cy="6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80"/>
          <p:cNvSpPr/>
          <p:nvPr/>
        </p:nvSpPr>
        <p:spPr>
          <a:xfrm>
            <a:off x="5839714" y="1384025"/>
            <a:ext cx="1593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1" name="Google Shape;1591;p80"/>
          <p:cNvSpPr/>
          <p:nvPr/>
        </p:nvSpPr>
        <p:spPr>
          <a:xfrm>
            <a:off x="5831472" y="4233475"/>
            <a:ext cx="159300" cy="310200"/>
          </a:xfrm>
          <a:prstGeom prst="rect">
            <a:avLst/>
          </a:prstGeom>
          <a:solidFill>
            <a:srgbClr val="359E45">
              <a:alpha val="3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8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Melhorias</a:t>
            </a:r>
            <a:endParaRPr/>
          </a:p>
        </p:txBody>
      </p:sp>
      <p:sp>
        <p:nvSpPr>
          <p:cNvPr id="1597" name="Google Shape;1597;p81"/>
          <p:cNvSpPr txBox="1"/>
          <p:nvPr>
            <p:ph idx="1" type="body"/>
          </p:nvPr>
        </p:nvSpPr>
        <p:spPr>
          <a:xfrm>
            <a:off x="614025" y="1369625"/>
            <a:ext cx="7929000" cy="366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Evita o c</a:t>
            </a:r>
            <a:r>
              <a:rPr lang="en"/>
              <a:t>álculo exponencial que é “pesado” para o computador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Desaparecimento do gradiente: na sigm</a:t>
            </a:r>
            <a:r>
              <a:rPr lang="en"/>
              <a:t>óide a derivada z * (1 - z), faz com que quanto menor o erro, menos ele vai ser propagado para trás (ele vai sumir se tivermos muitas camadas)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Isso não acontece com ReLU, pois ele vai voltar cheio para trás (1, caso a ativação seja &gt; 0)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8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1603" name="Google Shape;1603;p82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 a ativaç</a:t>
            </a:r>
            <a:r>
              <a:rPr lang="en"/>
              <a:t>ão do neurônio for &lt; 0, ele não vai aprender (o erro propagado vai ser 0): “morte do neurônio”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Solução: Leaky ReLU</a:t>
            </a:r>
            <a:endParaRPr/>
          </a:p>
        </p:txBody>
      </p:sp>
      <p:pic>
        <p:nvPicPr>
          <p:cNvPr id="1604" name="Google Shape;160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621" y="2080446"/>
            <a:ext cx="3526075" cy="28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8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Leaky ReLU</a:t>
            </a:r>
            <a:endParaRPr/>
          </a:p>
        </p:txBody>
      </p:sp>
      <p:sp>
        <p:nvSpPr>
          <p:cNvPr id="1610" name="Google Shape;1610;p83"/>
          <p:cNvSpPr txBox="1"/>
          <p:nvPr>
            <p:ph idx="1" type="body"/>
          </p:nvPr>
        </p:nvSpPr>
        <p:spPr>
          <a:xfrm>
            <a:off x="614025" y="1369625"/>
            <a:ext cx="7929000" cy="344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Os valores negativos agora s</a:t>
            </a:r>
            <a:r>
              <a:rPr lang="en"/>
              <a:t>ão utilizados e aceitos pela rede neural 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derivada quando for &lt;= 0 não é mais 0, mas sim </a:t>
            </a:r>
            <a:r>
              <a:rPr lang="en" sz="1500">
                <a:solidFill>
                  <a:srgbClr val="E8E8E8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α</a:t>
            </a:r>
            <a:r>
              <a:rPr lang="en"/>
              <a:t> (fator de vazamento)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Permite que neurônios com valores negativo continuem aprendendo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8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Prática</a:t>
            </a:r>
            <a:endParaRPr/>
          </a:p>
        </p:txBody>
      </p:sp>
      <p:sp>
        <p:nvSpPr>
          <p:cNvPr id="1616" name="Google Shape;1616;p84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https://colab.research.google.com/drive/1Vxu6gAre102fyz0kAMM3j4SgkMZiGAfV?usp=sharing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https://www.kaggle.com/datasets/johnsmith88/heart-disease-dataset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8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1622" name="Google Shape;1622;p85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https://timeline.historyofdatascience.com/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https://github.com/fastai/fastbook/blob/master/01_intro.ipynb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https://nerdyelectronics.com/a-quick-history-of-ai-ml-and-dl/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