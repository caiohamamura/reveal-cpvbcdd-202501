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Roboto"/>
      <p:regular r:id="rId29"/>
      <p:bold r:id="rId30"/>
      <p:italic r:id="rId31"/>
      <p:boldItalic r:id="rId32"/>
    </p:embeddedFont>
    <p:embeddedFont>
      <p:font typeface="EB Garamond"/>
      <p:regular r:id="rId33"/>
      <p:bold r:id="rId34"/>
      <p:italic r:id="rId35"/>
      <p:boldItalic r:id="rId36"/>
    </p:embeddedFont>
    <p:embeddedFont>
      <p:font typeface="Century Gothic"/>
      <p:regular r:id="rId37"/>
      <p:bold r:id="rId38"/>
      <p:italic r:id="rId39"/>
      <p:boldItalic r:id="rId40"/>
    </p:embeddedFont>
    <p:embeddedFont>
      <p:font typeface="Open Sans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enturyGothic-boldItalic.fntdata"/><Relationship Id="rId20" Type="http://schemas.openxmlformats.org/officeDocument/2006/relationships/slide" Target="slides/slide15.xml"/><Relationship Id="rId42" Type="http://schemas.openxmlformats.org/officeDocument/2006/relationships/font" Target="fonts/OpenSans-bold.fntdata"/><Relationship Id="rId41" Type="http://schemas.openxmlformats.org/officeDocument/2006/relationships/font" Target="fonts/OpenSans-regular.fntdata"/><Relationship Id="rId22" Type="http://schemas.openxmlformats.org/officeDocument/2006/relationships/slide" Target="slides/slide17.xml"/><Relationship Id="rId44" Type="http://schemas.openxmlformats.org/officeDocument/2006/relationships/font" Target="fonts/OpenSans-boldItalic.fntdata"/><Relationship Id="rId21" Type="http://schemas.openxmlformats.org/officeDocument/2006/relationships/slide" Target="slides/slide16.xml"/><Relationship Id="rId43" Type="http://schemas.openxmlformats.org/officeDocument/2006/relationships/font" Target="fonts/OpenSans-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italic.fntdata"/><Relationship Id="rId30" Type="http://schemas.openxmlformats.org/officeDocument/2006/relationships/font" Target="fonts/Roboto-bold.fntdata"/><Relationship Id="rId11" Type="http://schemas.openxmlformats.org/officeDocument/2006/relationships/slide" Target="slides/slide6.xml"/><Relationship Id="rId33" Type="http://schemas.openxmlformats.org/officeDocument/2006/relationships/font" Target="fonts/EBGaramond-regular.fntdata"/><Relationship Id="rId10" Type="http://schemas.openxmlformats.org/officeDocument/2006/relationships/slide" Target="slides/slide5.xml"/><Relationship Id="rId32" Type="http://schemas.openxmlformats.org/officeDocument/2006/relationships/font" Target="fonts/Roboto-boldItalic.fntdata"/><Relationship Id="rId13" Type="http://schemas.openxmlformats.org/officeDocument/2006/relationships/slide" Target="slides/slide8.xml"/><Relationship Id="rId35" Type="http://schemas.openxmlformats.org/officeDocument/2006/relationships/font" Target="fonts/EBGaramond-italic.fntdata"/><Relationship Id="rId12" Type="http://schemas.openxmlformats.org/officeDocument/2006/relationships/slide" Target="slides/slide7.xml"/><Relationship Id="rId34" Type="http://schemas.openxmlformats.org/officeDocument/2006/relationships/font" Target="fonts/EBGaramond-bold.fntdata"/><Relationship Id="rId15" Type="http://schemas.openxmlformats.org/officeDocument/2006/relationships/slide" Target="slides/slide10.xml"/><Relationship Id="rId37" Type="http://schemas.openxmlformats.org/officeDocument/2006/relationships/font" Target="fonts/CenturyGothic-regular.fntdata"/><Relationship Id="rId14" Type="http://schemas.openxmlformats.org/officeDocument/2006/relationships/slide" Target="slides/slide9.xml"/><Relationship Id="rId36" Type="http://schemas.openxmlformats.org/officeDocument/2006/relationships/font" Target="fonts/EBGaramond-boldItalic.fntdata"/><Relationship Id="rId17" Type="http://schemas.openxmlformats.org/officeDocument/2006/relationships/slide" Target="slides/slide12.xml"/><Relationship Id="rId39" Type="http://schemas.openxmlformats.org/officeDocument/2006/relationships/font" Target="fonts/CenturyGothic-italic.fntdata"/><Relationship Id="rId16" Type="http://schemas.openxmlformats.org/officeDocument/2006/relationships/slide" Target="slides/slide11.xml"/><Relationship Id="rId38" Type="http://schemas.openxmlformats.org/officeDocument/2006/relationships/font" Target="fonts/CenturyGothic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0deab8ac5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0deab8ac5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d600c5893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d600c5893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1a73d1058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1a73d1058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1a73d1058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1a73d1058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1a73d1058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1a73d1058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1a73d1058f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1a73d1058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1a73d1058f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1a73d1058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1a73d1058f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1a73d1058f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d63d8b48e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d63d8b48e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d63d8b48ef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d63d8b48ef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d63d8b48ef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d63d8b48ef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d63d8b48ef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d63d8b48ef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d63d8b48ef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d63d8b48ef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88f01b37a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88f01b37a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d63d8b48ef_1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d63d8b48ef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d6460bebe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d6460bebe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d6460bebe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d6460bebe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d6460bebe6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d6460bebe6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88eb7ac8b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88eb7ac8b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88eb7ac8b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88eb7ac8b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d6460bebe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2d6460bebe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d48dcc5c9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2d48dcc5c9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/>
          <p:nvPr/>
        </p:nvSpPr>
        <p:spPr>
          <a:xfrm>
            <a:off x="0" y="-2381"/>
            <a:ext cx="9144000" cy="3902869"/>
          </a:xfrm>
          <a:custGeom>
            <a:rect b="b" l="l" r="r" t="t"/>
            <a:pathLst>
              <a:path extrusionOk="0" h="3278" w="5760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99996" ty="0" sy="99996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2"/>
          <p:cNvSpPr txBox="1"/>
          <p:nvPr>
            <p:ph type="ctrTitle"/>
          </p:nvPr>
        </p:nvSpPr>
        <p:spPr>
          <a:xfrm>
            <a:off x="607501" y="1086860"/>
            <a:ext cx="7929000" cy="22284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100"/>
              <a:buFont typeface="Roboto"/>
              <a:buNone/>
              <a:defRPr b="0" sz="41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607501" y="3960635"/>
            <a:ext cx="7929000" cy="326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9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7000970" y="4531022"/>
            <a:ext cx="1007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>
            <a:off x="338635" y="4531022"/>
            <a:ext cx="6483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008748" y="4436916"/>
            <a:ext cx="7965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b" bIns="8100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95225" y="3843125"/>
            <a:ext cx="3110024" cy="111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1282294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900"/>
              <a:buFont typeface="Impact"/>
              <a:buNone/>
              <a:defRPr b="0" sz="2900">
                <a:latin typeface="Impact"/>
                <a:ea typeface="Impact"/>
                <a:cs typeface="Impact"/>
                <a:sym typeface="Impac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614025" y="1369625"/>
            <a:ext cx="7929000" cy="37803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Font typeface="EB Garamond"/>
              <a:buChar char="●"/>
              <a:defRPr sz="2100">
                <a:latin typeface="EB Garamond"/>
                <a:ea typeface="EB Garamond"/>
                <a:cs typeface="EB Garamond"/>
                <a:sym typeface="EB Garamond"/>
              </a:defRPr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EB Garamond"/>
              <a:buChar char="○"/>
              <a:defRPr sz="1800">
                <a:latin typeface="EB Garamond"/>
                <a:ea typeface="EB Garamond"/>
                <a:cs typeface="EB Garamond"/>
                <a:sym typeface="EB Garamond"/>
              </a:defRPr>
            </a:lvl2pPr>
            <a:lvl3pPr indent="-32385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Font typeface="EB Garamond"/>
              <a:buChar char="■"/>
              <a:defRPr sz="1500">
                <a:latin typeface="EB Garamond"/>
                <a:ea typeface="EB Garamond"/>
                <a:cs typeface="EB Garamond"/>
                <a:sym typeface="EB Garamond"/>
              </a:defRPr>
            </a:lvl3pPr>
            <a:lvl4pPr indent="-3175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EB Garamond"/>
              <a:buChar char="●"/>
              <a:defRPr sz="1400">
                <a:latin typeface="EB Garamond"/>
                <a:ea typeface="EB Garamond"/>
                <a:cs typeface="EB Garamond"/>
                <a:sym typeface="EB Garamond"/>
              </a:defRPr>
            </a:lvl4pPr>
            <a:lvl5pPr indent="-3175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EB Garamond"/>
              <a:buChar char="○"/>
              <a:defRPr sz="1400">
                <a:latin typeface="EB Garamond"/>
                <a:ea typeface="EB Garamond"/>
                <a:cs typeface="EB Garamond"/>
                <a:sym typeface="EB Garamond"/>
              </a:defRPr>
            </a:lvl5pPr>
            <a:lvl6pPr indent="-3175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EB Garamond"/>
              <a:buChar char="■"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indent="-3175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EB Garamond"/>
              <a:buChar char="●"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indent="-3175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EB Garamond"/>
              <a:buChar char="○"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indent="-3175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EB Garamond"/>
              <a:buChar char="■"/>
              <a:defRPr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a numerada">
  <p:cSld name="OBJECT_1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1282294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 txBox="1"/>
          <p:nvPr>
            <p:ph type="title"/>
          </p:nvPr>
        </p:nvSpPr>
        <p:spPr>
          <a:xfrm>
            <a:off x="607500" y="167975"/>
            <a:ext cx="7929000" cy="72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900"/>
              <a:buFont typeface="Impact"/>
              <a:buNone/>
              <a:defRPr b="0" sz="2900">
                <a:latin typeface="Impact"/>
                <a:ea typeface="Impact"/>
                <a:cs typeface="Impact"/>
                <a:sym typeface="Impac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mpact"/>
              <a:buNone/>
              <a:defRPr>
                <a:latin typeface="Impact"/>
                <a:ea typeface="Impact"/>
                <a:cs typeface="Impact"/>
                <a:sym typeface="Impact"/>
              </a:defRPr>
            </a:lvl9pPr>
          </a:lstStyle>
          <a:p/>
        </p:txBody>
      </p:sp>
      <p:sp>
        <p:nvSpPr>
          <p:cNvPr id="26" name="Google Shape;26;p4"/>
          <p:cNvSpPr/>
          <p:nvPr/>
        </p:nvSpPr>
        <p:spPr>
          <a:xfrm>
            <a:off x="607500" y="1555104"/>
            <a:ext cx="421500" cy="412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1</a:t>
            </a:r>
            <a:endParaRPr sz="19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607500" y="2258791"/>
            <a:ext cx="421500" cy="412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2</a:t>
            </a:r>
            <a:endParaRPr sz="19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607500" y="2962479"/>
            <a:ext cx="421500" cy="412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3</a:t>
            </a:r>
            <a:endParaRPr sz="19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607500" y="3666166"/>
            <a:ext cx="421500" cy="412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4</a:t>
            </a:r>
            <a:endParaRPr sz="19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607500" y="4369854"/>
            <a:ext cx="421500" cy="412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5</a:t>
            </a:r>
            <a:endParaRPr sz="19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1" name="Google Shape;31;p4"/>
          <p:cNvSpPr txBox="1"/>
          <p:nvPr/>
        </p:nvSpPr>
        <p:spPr>
          <a:xfrm>
            <a:off x="1275175" y="1555099"/>
            <a:ext cx="19128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Digite algo</a:t>
            </a:r>
            <a:endParaRPr sz="2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2" name="Google Shape;32;p4"/>
          <p:cNvSpPr txBox="1"/>
          <p:nvPr/>
        </p:nvSpPr>
        <p:spPr>
          <a:xfrm>
            <a:off x="1275175" y="2258799"/>
            <a:ext cx="19128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Digite algo</a:t>
            </a:r>
            <a:endParaRPr sz="2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3" name="Google Shape;33;p4"/>
          <p:cNvSpPr txBox="1"/>
          <p:nvPr/>
        </p:nvSpPr>
        <p:spPr>
          <a:xfrm>
            <a:off x="1275175" y="2962499"/>
            <a:ext cx="19128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Digite algo</a:t>
            </a:r>
            <a:endParaRPr sz="2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4" name="Google Shape;34;p4"/>
          <p:cNvSpPr txBox="1"/>
          <p:nvPr/>
        </p:nvSpPr>
        <p:spPr>
          <a:xfrm>
            <a:off x="1275175" y="3666199"/>
            <a:ext cx="19128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Digite algo</a:t>
            </a:r>
            <a:endParaRPr sz="2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5" name="Google Shape;35;p4"/>
          <p:cNvSpPr txBox="1"/>
          <p:nvPr/>
        </p:nvSpPr>
        <p:spPr>
          <a:xfrm>
            <a:off x="1275175" y="4369899"/>
            <a:ext cx="1912800" cy="41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Digite algo</a:t>
            </a:r>
            <a:endParaRPr sz="2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/>
          <p:nvPr/>
        </p:nvSpPr>
        <p:spPr>
          <a:xfrm>
            <a:off x="0" y="1"/>
            <a:ext cx="9144000" cy="3902869"/>
          </a:xfrm>
          <a:custGeom>
            <a:rect b="b" l="l" r="r" t="t"/>
            <a:pathLst>
              <a:path extrusionOk="0" h="3278" w="5760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99996" ty="0" sy="99996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5"/>
          <p:cNvSpPr txBox="1"/>
          <p:nvPr>
            <p:ph type="title"/>
          </p:nvPr>
        </p:nvSpPr>
        <p:spPr>
          <a:xfrm>
            <a:off x="607500" y="2213547"/>
            <a:ext cx="7921200" cy="1101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600"/>
              <a:buFont typeface="Roboto"/>
              <a:buNone/>
              <a:defRPr b="0" sz="3600" cap="none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607500" y="3960901"/>
            <a:ext cx="7921200" cy="325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Roboto"/>
              <a:buNone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Roboto"/>
              <a:buNone/>
              <a:def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Roboto"/>
              <a:buNone/>
              <a:def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Roboto"/>
              <a:buNone/>
              <a:def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Roboto"/>
              <a:buNone/>
              <a:def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Roboto"/>
              <a:buNone/>
              <a:def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100"/>
              <a:buFont typeface="Roboto"/>
              <a:buNone/>
              <a:defRPr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10" type="dt"/>
          </p:nvPr>
        </p:nvSpPr>
        <p:spPr>
          <a:xfrm>
            <a:off x="7000970" y="4531022"/>
            <a:ext cx="1007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1" type="ftr"/>
          </p:nvPr>
        </p:nvSpPr>
        <p:spPr>
          <a:xfrm>
            <a:off x="338635" y="4531022"/>
            <a:ext cx="6483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008748" y="4436916"/>
            <a:ext cx="7965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b" bIns="8100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25" y="5281"/>
            <a:ext cx="9144000" cy="1388037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/>
          <p:nvPr>
            <p:ph type="title"/>
          </p:nvPr>
        </p:nvSpPr>
        <p:spPr>
          <a:xfrm>
            <a:off x="607500" y="335391"/>
            <a:ext cx="7929000" cy="72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" type="body"/>
          </p:nvPr>
        </p:nvSpPr>
        <p:spPr>
          <a:xfrm>
            <a:off x="409450" y="2729548"/>
            <a:ext cx="3889500" cy="2306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AutoNum type="arabicPeriod"/>
              <a:defRPr sz="1800"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AutoNum type="alphaLcPeriod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indent="-2984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AutoNum type="romanLcPeriod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AutoNum type="arabicPeriod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AutoNum type="alphaLcPeriod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body"/>
          </p:nvPr>
        </p:nvSpPr>
        <p:spPr>
          <a:xfrm>
            <a:off x="4794225" y="2729548"/>
            <a:ext cx="3889500" cy="2306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AutoNum type="arabicPeriod"/>
              <a:defRPr sz="1800"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AutoNum type="alphaLcPeriod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indent="-2984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AutoNum type="romanLcPeriod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AutoNum type="arabicPeriod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AutoNum type="alphaLcPeriod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AutoNum type="romanLcPeriod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artes de Conteúdo" type="twoObj">
  <p:cSld name="TWO_OBJECT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25" y="5281"/>
            <a:ext cx="9144000" cy="1388037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8"/>
          <p:cNvSpPr txBox="1"/>
          <p:nvPr>
            <p:ph type="title"/>
          </p:nvPr>
        </p:nvSpPr>
        <p:spPr>
          <a:xfrm>
            <a:off x="607500" y="335391"/>
            <a:ext cx="7929000" cy="72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" type="body"/>
          </p:nvPr>
        </p:nvSpPr>
        <p:spPr>
          <a:xfrm>
            <a:off x="220850" y="2729550"/>
            <a:ext cx="2617800" cy="2306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rabicPeriod"/>
              <a:defRPr sz="1500"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AutoNum type="alphaLcPeriod"/>
              <a:defRPr sz="900"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AutoNum type="romanLcPeriod"/>
              <a:defRPr sz="800">
                <a:latin typeface="Open Sans"/>
                <a:ea typeface="Open Sans"/>
                <a:cs typeface="Open Sans"/>
                <a:sym typeface="Open Sans"/>
              </a:defRPr>
            </a:lvl3pPr>
            <a:lvl4pPr indent="-2667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AutoNum type="arabicPeriod"/>
              <a:defRPr sz="600">
                <a:latin typeface="Open Sans"/>
                <a:ea typeface="Open Sans"/>
                <a:cs typeface="Open Sans"/>
                <a:sym typeface="Open Sans"/>
              </a:defRPr>
            </a:lvl4pPr>
            <a:lvl5pPr indent="-2667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AutoNum type="alphaLcPeriod"/>
              <a:defRPr sz="600">
                <a:latin typeface="Open Sans"/>
                <a:ea typeface="Open Sans"/>
                <a:cs typeface="Open Sans"/>
                <a:sym typeface="Open Sans"/>
              </a:defRPr>
            </a:lvl5pPr>
            <a:lvl6pPr indent="-29845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romanLcPeriod"/>
              <a:defRPr sz="600"/>
            </a:lvl6pPr>
            <a:lvl7pPr indent="-29845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rabicPeriod"/>
              <a:defRPr sz="600"/>
            </a:lvl7pPr>
            <a:lvl8pPr indent="-29845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lphaLcPeriod"/>
              <a:defRPr sz="600"/>
            </a:lvl8pPr>
            <a:lvl9pPr indent="-298450" lvl="8" marL="4114800" algn="l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SzPts val="1100"/>
              <a:buAutoNum type="romanLcPeriod"/>
              <a:defRPr sz="600"/>
            </a:lvl9pPr>
          </a:lstStyle>
          <a:p/>
        </p:txBody>
      </p:sp>
      <p:sp>
        <p:nvSpPr>
          <p:cNvPr id="53" name="Google Shape;53;p8"/>
          <p:cNvSpPr txBox="1"/>
          <p:nvPr>
            <p:ph idx="2" type="body"/>
          </p:nvPr>
        </p:nvSpPr>
        <p:spPr>
          <a:xfrm>
            <a:off x="3263100" y="2729550"/>
            <a:ext cx="2617800" cy="2306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rabicPeriod"/>
              <a:defRPr sz="1500"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AutoNum type="alphaLcPeriod"/>
              <a:defRPr sz="900"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AutoNum type="romanLcPeriod"/>
              <a:defRPr sz="800">
                <a:latin typeface="Open Sans"/>
                <a:ea typeface="Open Sans"/>
                <a:cs typeface="Open Sans"/>
                <a:sym typeface="Open Sans"/>
              </a:defRPr>
            </a:lvl3pPr>
            <a:lvl4pPr indent="-2667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AutoNum type="arabicPeriod"/>
              <a:defRPr sz="600">
                <a:latin typeface="Open Sans"/>
                <a:ea typeface="Open Sans"/>
                <a:cs typeface="Open Sans"/>
                <a:sym typeface="Open Sans"/>
              </a:defRPr>
            </a:lvl4pPr>
            <a:lvl5pPr indent="-2667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AutoNum type="alphaLcPeriod"/>
              <a:defRPr sz="600">
                <a:latin typeface="Open Sans"/>
                <a:ea typeface="Open Sans"/>
                <a:cs typeface="Open Sans"/>
                <a:sym typeface="Open Sans"/>
              </a:defRPr>
            </a:lvl5pPr>
            <a:lvl6pPr indent="-29845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romanLcPeriod"/>
              <a:defRPr sz="600"/>
            </a:lvl6pPr>
            <a:lvl7pPr indent="-29845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rabicPeriod"/>
              <a:defRPr sz="600"/>
            </a:lvl7pPr>
            <a:lvl8pPr indent="-29845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lphaLcPeriod"/>
              <a:defRPr sz="600"/>
            </a:lvl8pPr>
            <a:lvl9pPr indent="-298450" lvl="8" marL="4114800" algn="l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SzPts val="1100"/>
              <a:buAutoNum type="romanLcPeriod"/>
              <a:defRPr sz="600"/>
            </a:lvl9pPr>
          </a:lstStyle>
          <a:p/>
        </p:txBody>
      </p:sp>
      <p:sp>
        <p:nvSpPr>
          <p:cNvPr id="54" name="Google Shape;54;p8"/>
          <p:cNvSpPr txBox="1"/>
          <p:nvPr>
            <p:ph idx="3" type="body"/>
          </p:nvPr>
        </p:nvSpPr>
        <p:spPr>
          <a:xfrm>
            <a:off x="6265925" y="2729550"/>
            <a:ext cx="2617800" cy="2306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rabicPeriod"/>
              <a:defRPr sz="1500">
                <a:latin typeface="Open Sans"/>
                <a:ea typeface="Open Sans"/>
                <a:cs typeface="Open Sans"/>
                <a:sym typeface="Open Sans"/>
              </a:defRPr>
            </a:lvl1pPr>
            <a:lvl2pPr indent="-28575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AutoNum type="alphaLcPeriod"/>
              <a:defRPr sz="900">
                <a:latin typeface="Open Sans"/>
                <a:ea typeface="Open Sans"/>
                <a:cs typeface="Open Sans"/>
                <a:sym typeface="Open Sans"/>
              </a:defRPr>
            </a:lvl2pPr>
            <a:lvl3pPr indent="-2794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AutoNum type="romanLcPeriod"/>
              <a:defRPr sz="800">
                <a:latin typeface="Open Sans"/>
                <a:ea typeface="Open Sans"/>
                <a:cs typeface="Open Sans"/>
                <a:sym typeface="Open Sans"/>
              </a:defRPr>
            </a:lvl3pPr>
            <a:lvl4pPr indent="-2667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AutoNum type="arabicPeriod"/>
              <a:defRPr sz="600">
                <a:latin typeface="Open Sans"/>
                <a:ea typeface="Open Sans"/>
                <a:cs typeface="Open Sans"/>
                <a:sym typeface="Open Sans"/>
              </a:defRPr>
            </a:lvl4pPr>
            <a:lvl5pPr indent="-2667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AutoNum type="alphaLcPeriod"/>
              <a:defRPr sz="600">
                <a:latin typeface="Open Sans"/>
                <a:ea typeface="Open Sans"/>
                <a:cs typeface="Open Sans"/>
                <a:sym typeface="Open Sans"/>
              </a:defRPr>
            </a:lvl5pPr>
            <a:lvl6pPr indent="-29845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romanLcPeriod"/>
              <a:defRPr sz="600"/>
            </a:lvl6pPr>
            <a:lvl7pPr indent="-29845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rabicPeriod"/>
              <a:defRPr sz="600"/>
            </a:lvl7pPr>
            <a:lvl8pPr indent="-29845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AutoNum type="alphaLcPeriod"/>
              <a:defRPr sz="600"/>
            </a:lvl8pPr>
            <a:lvl9pPr indent="-298450" lvl="8" marL="4114800" algn="l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SzPts val="1100"/>
              <a:buAutoNum type="romanLcPeriod"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25" y="5281"/>
            <a:ext cx="9144000" cy="1388037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9"/>
          <p:cNvSpPr txBox="1"/>
          <p:nvPr>
            <p:ph type="title"/>
          </p:nvPr>
        </p:nvSpPr>
        <p:spPr>
          <a:xfrm>
            <a:off x="607500" y="335391"/>
            <a:ext cx="7929000" cy="72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/>
          <p:nvPr/>
        </p:nvSpPr>
        <p:spPr>
          <a:xfrm>
            <a:off x="804875" y="334571"/>
            <a:ext cx="2660653" cy="862852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99996" ty="0" sy="99996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10"/>
          <p:cNvSpPr txBox="1"/>
          <p:nvPr>
            <p:ph type="title"/>
          </p:nvPr>
        </p:nvSpPr>
        <p:spPr>
          <a:xfrm>
            <a:off x="804875" y="334575"/>
            <a:ext cx="2660700" cy="684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500"/>
              <a:buFont typeface="Open Sans"/>
              <a:buNone/>
              <a:defRPr b="1" sz="1500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0"/>
          <p:cNvSpPr txBox="1"/>
          <p:nvPr>
            <p:ph idx="1" type="body"/>
          </p:nvPr>
        </p:nvSpPr>
        <p:spPr>
          <a:xfrm>
            <a:off x="3641725" y="334566"/>
            <a:ext cx="4689600" cy="4061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indent="-2984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Char char="?"/>
              <a:defRPr/>
            </a:lvl9pPr>
          </a:lstStyle>
          <a:p/>
        </p:txBody>
      </p:sp>
      <p:sp>
        <p:nvSpPr>
          <p:cNvPr id="62" name="Google Shape;62;p10"/>
          <p:cNvSpPr txBox="1"/>
          <p:nvPr>
            <p:ph idx="2" type="body"/>
          </p:nvPr>
        </p:nvSpPr>
        <p:spPr>
          <a:xfrm>
            <a:off x="804863" y="1695553"/>
            <a:ext cx="2660700" cy="27003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 sz="1100"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/>
          <p:nvPr>
            <p:ph type="title"/>
          </p:nvPr>
        </p:nvSpPr>
        <p:spPr>
          <a:xfrm>
            <a:off x="611046" y="545642"/>
            <a:ext cx="3639600" cy="12129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Font typeface="Open Sans"/>
              <a:buNone/>
              <a:defRPr b="0" sz="1800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1"/>
          <p:cNvSpPr/>
          <p:nvPr>
            <p:ph idx="2" type="pic"/>
          </p:nvPr>
        </p:nvSpPr>
        <p:spPr>
          <a:xfrm>
            <a:off x="4573588" y="0"/>
            <a:ext cx="4570500" cy="51435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66" name="Google Shape;66;p11"/>
          <p:cNvSpPr txBox="1"/>
          <p:nvPr>
            <p:ph idx="1" type="body"/>
          </p:nvPr>
        </p:nvSpPr>
        <p:spPr>
          <a:xfrm>
            <a:off x="611046" y="1758513"/>
            <a:ext cx="3639600" cy="26373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 sz="900"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to Panorâmica com Legenda">
  <p:cSld name="Foto Panorâmica com Legenda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/>
          <p:nvPr>
            <p:ph type="title"/>
          </p:nvPr>
        </p:nvSpPr>
        <p:spPr>
          <a:xfrm>
            <a:off x="607500" y="3600450"/>
            <a:ext cx="7921200" cy="425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Font typeface="Open Sans"/>
              <a:buNone/>
              <a:defRPr b="0" sz="1800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2"/>
          <p:cNvSpPr/>
          <p:nvPr>
            <p:ph idx="2" type="pic"/>
          </p:nvPr>
        </p:nvSpPr>
        <p:spPr>
          <a:xfrm>
            <a:off x="0" y="0"/>
            <a:ext cx="9144000" cy="3600600"/>
          </a:xfrm>
          <a:prstGeom prst="rect">
            <a:avLst/>
          </a:prstGeom>
          <a:noFill/>
          <a:ln cap="rnd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607500" y="4025504"/>
            <a:ext cx="7921200" cy="3702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 sz="900"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ção com Legenda">
  <p:cSld name="Citação com Legenda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/>
          <p:nvPr/>
        </p:nvSpPr>
        <p:spPr>
          <a:xfrm>
            <a:off x="473773" y="811092"/>
            <a:ext cx="4749309" cy="2429389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99996" ty="0" sy="99996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13"/>
          <p:cNvSpPr txBox="1"/>
          <p:nvPr>
            <p:ph type="title"/>
          </p:nvPr>
        </p:nvSpPr>
        <p:spPr>
          <a:xfrm>
            <a:off x="638239" y="928876"/>
            <a:ext cx="4420500" cy="1984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Open Sans"/>
              <a:buNone/>
              <a:defRPr b="1" sz="3200" cap="none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1" type="body"/>
          </p:nvPr>
        </p:nvSpPr>
        <p:spPr>
          <a:xfrm>
            <a:off x="639900" y="3332730"/>
            <a:ext cx="4418700" cy="16089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1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100"/>
              <a:buNone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" name="Google Shape;75;p13"/>
          <p:cNvSpPr txBox="1"/>
          <p:nvPr>
            <p:ph idx="2" type="body"/>
          </p:nvPr>
        </p:nvSpPr>
        <p:spPr>
          <a:xfrm>
            <a:off x="5680982" y="811092"/>
            <a:ext cx="2857500" cy="3056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Char char="?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tão de Nome">
  <p:cSld name="Cartão de Nome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/>
          <p:nvPr/>
        </p:nvSpPr>
        <p:spPr>
          <a:xfrm>
            <a:off x="855663" y="1714939"/>
            <a:ext cx="3671335" cy="1877979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99996" ty="0" sy="99996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14"/>
          <p:cNvSpPr txBox="1"/>
          <p:nvPr>
            <p:ph type="title"/>
          </p:nvPr>
        </p:nvSpPr>
        <p:spPr>
          <a:xfrm>
            <a:off x="1017817" y="1826968"/>
            <a:ext cx="3286800" cy="1505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Open Sans"/>
              <a:buNone/>
              <a:defRPr sz="2400"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1" type="body"/>
          </p:nvPr>
        </p:nvSpPr>
        <p:spPr>
          <a:xfrm>
            <a:off x="4617000" y="1714500"/>
            <a:ext cx="3660300" cy="1721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Char char="?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/>
          <p:nvPr/>
        </p:nvSpPr>
        <p:spPr>
          <a:xfrm>
            <a:off x="0" y="0"/>
            <a:ext cx="9144000" cy="1639491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99996" ty="0" sy="99996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15"/>
          <p:cNvSpPr txBox="1"/>
          <p:nvPr>
            <p:ph type="title"/>
          </p:nvPr>
        </p:nvSpPr>
        <p:spPr>
          <a:xfrm>
            <a:off x="607500" y="335391"/>
            <a:ext cx="7929000" cy="72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 rot="5400000">
            <a:off x="3190864" y="-944999"/>
            <a:ext cx="2755800" cy="79224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indent="-2984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Char char="?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/>
          <p:nvPr/>
        </p:nvSpPr>
        <p:spPr>
          <a:xfrm>
            <a:off x="5752238" y="334567"/>
            <a:ext cx="3391764" cy="4061221"/>
          </a:xfrm>
          <a:custGeom>
            <a:rect b="b" l="l" r="r" t="t"/>
            <a:pathLst>
              <a:path extrusionOk="0" h="4320" w="2879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99996" ty="0" sy="99996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6"/>
          <p:cNvSpPr txBox="1"/>
          <p:nvPr>
            <p:ph type="title"/>
          </p:nvPr>
        </p:nvSpPr>
        <p:spPr>
          <a:xfrm rot="5400000">
            <a:off x="5147648" y="1429628"/>
            <a:ext cx="3851100" cy="1871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 rot="5400000">
            <a:off x="1056256" y="-114233"/>
            <a:ext cx="4061100" cy="4958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indent="-3048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indent="-29845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1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indent="-28575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Char char="?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?"/>
              <a:defRPr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400"/>
              <a:buChar char="?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235500" y="140225"/>
            <a:ext cx="8520600" cy="572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159300" y="923875"/>
            <a:ext cx="8821500" cy="3852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Font typeface="EB Garamond"/>
              <a:buChar char="●"/>
              <a:defRPr sz="2100">
                <a:latin typeface="EB Garamond"/>
                <a:ea typeface="EB Garamond"/>
                <a:cs typeface="EB Garamond"/>
                <a:sym typeface="EB Garamond"/>
              </a:defRPr>
            </a:lvl1pPr>
            <a:lvl2pPr indent="-34925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00"/>
              <a:buFont typeface="EB Garamond"/>
              <a:buChar char="○"/>
              <a:defRPr sz="1900">
                <a:latin typeface="EB Garamond"/>
                <a:ea typeface="EB Garamond"/>
                <a:cs typeface="EB Garamond"/>
                <a:sym typeface="EB Garamond"/>
              </a:defRPr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EB Garamond"/>
              <a:buChar char="■"/>
              <a:defRPr sz="1800">
                <a:latin typeface="EB Garamond"/>
                <a:ea typeface="EB Garamond"/>
                <a:cs typeface="EB Garamond"/>
                <a:sym typeface="EB Garamond"/>
              </a:defRPr>
            </a:lvl3pPr>
            <a:lvl4pPr indent="-3302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EB Garamond"/>
              <a:buChar char="●"/>
              <a:defRPr sz="1600">
                <a:latin typeface="EB Garamond"/>
                <a:ea typeface="EB Garamond"/>
                <a:cs typeface="EB Garamond"/>
                <a:sym typeface="EB Garamond"/>
              </a:defRPr>
            </a:lvl4pPr>
            <a:lvl5pPr indent="-3302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EB Garamond"/>
              <a:buChar char="○"/>
              <a:defRPr sz="1600">
                <a:latin typeface="EB Garamond"/>
                <a:ea typeface="EB Garamond"/>
                <a:cs typeface="EB Garamond"/>
                <a:sym typeface="EB Garamond"/>
              </a:defRPr>
            </a:lvl5pPr>
            <a:lvl6pPr indent="-3302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EB Garamond"/>
              <a:buChar char="■"/>
              <a:defRPr sz="1600">
                <a:latin typeface="EB Garamond"/>
                <a:ea typeface="EB Garamond"/>
                <a:cs typeface="EB Garamond"/>
                <a:sym typeface="EB Garamond"/>
              </a:defRPr>
            </a:lvl6pPr>
            <a:lvl7pPr indent="-3302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EB Garamond"/>
              <a:buChar char="●"/>
              <a:defRPr sz="1600">
                <a:latin typeface="EB Garamond"/>
                <a:ea typeface="EB Garamond"/>
                <a:cs typeface="EB Garamond"/>
                <a:sym typeface="EB Garamond"/>
              </a:defRPr>
            </a:lvl7pPr>
            <a:lvl8pPr indent="-3302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EB Garamond"/>
              <a:buChar char="○"/>
              <a:defRPr sz="1600">
                <a:latin typeface="EB Garamond"/>
                <a:ea typeface="EB Garamond"/>
                <a:cs typeface="EB Garamond"/>
                <a:sym typeface="EB Garamond"/>
              </a:defRPr>
            </a:lvl8pPr>
            <a:lvl9pPr indent="-3302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600"/>
              <a:buFont typeface="EB Garamond"/>
              <a:buChar char="■"/>
              <a:defRPr sz="1600"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/>
        </p:txBody>
      </p:sp>
      <p:sp>
        <p:nvSpPr>
          <p:cNvPr id="93" name="Google Shape;93;p18"/>
          <p:cNvSpPr/>
          <p:nvPr/>
        </p:nvSpPr>
        <p:spPr>
          <a:xfrm>
            <a:off x="0" y="5013150"/>
            <a:ext cx="9144000" cy="130200"/>
          </a:xfrm>
          <a:prstGeom prst="rect">
            <a:avLst/>
          </a:prstGeom>
          <a:solidFill>
            <a:srgbClr val="359E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?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?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Pts val="1200"/>
              <a:buChar char="?"/>
              <a:defRPr sz="1200"/>
            </a:lvl9pPr>
          </a:lstStyle>
          <a:p/>
        </p:txBody>
      </p:sp>
      <p:sp>
        <p:nvSpPr>
          <p:cNvPr id="97" name="Google Shape;9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8100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">
  <p:cSld name="Custom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/>
          <p:nvPr/>
        </p:nvSpPr>
        <p:spPr>
          <a:xfrm>
            <a:off x="0" y="5013150"/>
            <a:ext cx="9144000" cy="130200"/>
          </a:xfrm>
          <a:prstGeom prst="rect">
            <a:avLst/>
          </a:prstGeom>
          <a:solidFill>
            <a:srgbClr val="359E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07500" y="335391"/>
            <a:ext cx="7929000" cy="727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000"/>
              <a:buFont typeface="Century Gothic"/>
              <a:buNone/>
              <a:defRPr b="1" i="0" sz="3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07500" y="1638301"/>
            <a:ext cx="7922400" cy="2755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🞆"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8575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🞆"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8575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🞆"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8575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🞆"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8575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🞆"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8575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Noto Sans Symbols"/>
              <a:buChar char="🞆"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8575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SzPts val="900"/>
              <a:buFont typeface="Noto Sans Symbols"/>
              <a:buChar char="🞆"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1" type="ftr"/>
          </p:nvPr>
        </p:nvSpPr>
        <p:spPr>
          <a:xfrm>
            <a:off x="338635" y="4531022"/>
            <a:ext cx="6483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7000970" y="4531022"/>
            <a:ext cx="1007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008748" y="4436916"/>
            <a:ext cx="7965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b" bIns="8100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2.png"/><Relationship Id="rId5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gif"/><Relationship Id="rId4" Type="http://schemas.openxmlformats.org/officeDocument/2006/relationships/image" Target="../media/image15.gif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Relationship Id="rId4" Type="http://schemas.openxmlformats.org/officeDocument/2006/relationships/image" Target="../media/image2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3.png"/><Relationship Id="rId4" Type="http://schemas.openxmlformats.org/officeDocument/2006/relationships/hyperlink" Target="https://www.analyticsvidhya.com/blog/2021/06/face-detection-and-recognition-capable-of-beating-humans-using-facenet/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www.robots.ox.ac.uk/~vgg/publications/2015/Parkhi15/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colab.research.google.com/drive/1W_O2M-tegM4-obIpE1ontlARR-_wtcK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ctrTitle"/>
          </p:nvPr>
        </p:nvSpPr>
        <p:spPr>
          <a:xfrm>
            <a:off x="591985" y="1086860"/>
            <a:ext cx="7929000" cy="22284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Visão computacional para reconhecimento facial</a:t>
            </a:r>
            <a:endParaRPr sz="3900"/>
          </a:p>
        </p:txBody>
      </p:sp>
      <p:sp>
        <p:nvSpPr>
          <p:cNvPr id="105" name="Google Shape;105;p21"/>
          <p:cNvSpPr txBox="1"/>
          <p:nvPr>
            <p:ph idx="1" type="subTitle"/>
          </p:nvPr>
        </p:nvSpPr>
        <p:spPr>
          <a:xfrm>
            <a:off x="607501" y="3960635"/>
            <a:ext cx="7929000" cy="326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/>
              <a:t>Prof. Caio Hamamura</a:t>
            </a:r>
            <a:endParaRPr/>
          </a:p>
        </p:txBody>
      </p:sp>
      <p:sp>
        <p:nvSpPr>
          <p:cNvPr id="106" name="Google Shape;106;p21"/>
          <p:cNvSpPr txBox="1"/>
          <p:nvPr/>
        </p:nvSpPr>
        <p:spPr>
          <a:xfrm>
            <a:off x="7486374" y="170683"/>
            <a:ext cx="137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Aula 09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7" name="Google Shape;10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2052" y="246400"/>
            <a:ext cx="2524475" cy="171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Contexto</a:t>
            </a:r>
            <a:endParaRPr/>
          </a:p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614025" y="1369625"/>
            <a:ext cx="7929000" cy="3509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Vimos na aula passada com mais detalhes as redes neurais convolucionais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Vamos ver agora como poder</a:t>
            </a:r>
            <a:r>
              <a:rPr lang="en"/>
              <a:t>íamos fazer uma aplicação para reconhecimento facial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reconhecimento facial: hist</a:t>
            </a:r>
            <a:r>
              <a:rPr lang="en"/>
              <a:t>órico</a:t>
            </a:r>
            <a:endParaRPr/>
          </a:p>
        </p:txBody>
      </p:sp>
      <p:sp>
        <p:nvSpPr>
          <p:cNvPr id="119" name="Google Shape;119;p23"/>
          <p:cNvSpPr txBox="1"/>
          <p:nvPr>
            <p:ph idx="1" type="body"/>
          </p:nvPr>
        </p:nvSpPr>
        <p:spPr>
          <a:xfrm>
            <a:off x="614025" y="1369625"/>
            <a:ext cx="7929000" cy="3574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J</a:t>
            </a:r>
            <a:r>
              <a:rPr lang="en"/>
              <a:t>á há algum tempo se trabalha com aplicações para tentar realizar o reconhecimento facial em imagens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O que apenas existia em filmes de ficção hoje é uma realidade sólida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Hoje ela é uma aplicação trivial usada até em portarias de condomínios e empresas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idx="1" type="body"/>
          </p:nvPr>
        </p:nvSpPr>
        <p:spPr>
          <a:xfrm>
            <a:off x="614025" y="1369625"/>
            <a:ext cx="7929000" cy="3406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Antes das redes neurais terem o poder que t</a:t>
            </a:r>
            <a:r>
              <a:rPr lang="en"/>
              <a:t>êm hoje utilizava-se muito a extração de feições das imagens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Buscava-se extrair informações como distância e tamanho relativo dos olhos, nariz, boca, e jogar isso em uma tabela (problema tabular)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Utilizava-se filtros e varria-se a imagem</a:t>
            </a:r>
            <a:br>
              <a:rPr lang="en"/>
            </a:br>
            <a:r>
              <a:rPr lang="en"/>
              <a:t>em busca de pontos de referência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Não eram muito eficazes</a:t>
            </a:r>
            <a:endParaRPr/>
          </a:p>
        </p:txBody>
      </p:sp>
      <p:sp>
        <p:nvSpPr>
          <p:cNvPr id="125" name="Google Shape;125;p24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</a:t>
            </a:r>
            <a:r>
              <a:rPr lang="en"/>
              <a:t>istórico: as primeiras aplicações</a:t>
            </a:r>
            <a:endParaRPr/>
          </a:p>
        </p:txBody>
      </p:sp>
      <p:pic>
        <p:nvPicPr>
          <p:cNvPr id="126" name="Google Shape;12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9050" y="3000375"/>
            <a:ext cx="3429000" cy="19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title"/>
          </p:nvPr>
        </p:nvSpPr>
        <p:spPr>
          <a:xfrm>
            <a:off x="607500" y="2213547"/>
            <a:ext cx="7921200" cy="1101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vis</a:t>
            </a:r>
            <a:r>
              <a:rPr lang="en"/>
              <a:t>ão computacional moderna</a:t>
            </a:r>
            <a:endParaRPr/>
          </a:p>
        </p:txBody>
      </p:sp>
      <p:sp>
        <p:nvSpPr>
          <p:cNvPr id="132" name="Google Shape;132;p25"/>
          <p:cNvSpPr txBox="1"/>
          <p:nvPr>
            <p:ph idx="1" type="body"/>
          </p:nvPr>
        </p:nvSpPr>
        <p:spPr>
          <a:xfrm>
            <a:off x="607500" y="3960901"/>
            <a:ext cx="7921200" cy="325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425" y="382000"/>
            <a:ext cx="3383304" cy="19087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64854" y="382000"/>
            <a:ext cx="3336970" cy="19087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Primeiro vamos separar: detecç</a:t>
            </a:r>
            <a:r>
              <a:rPr lang="en"/>
              <a:t>ão facial x reconhecimento facial</a:t>
            </a:r>
            <a:endParaRPr/>
          </a:p>
        </p:txBody>
      </p:sp>
      <p:sp>
        <p:nvSpPr>
          <p:cNvPr id="140" name="Google Shape;140;p26"/>
          <p:cNvSpPr txBox="1"/>
          <p:nvPr>
            <p:ph idx="1" type="body"/>
          </p:nvPr>
        </p:nvSpPr>
        <p:spPr>
          <a:xfrm>
            <a:off x="614025" y="1369625"/>
            <a:ext cx="4912200" cy="3574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Detecç</a:t>
            </a:r>
            <a:r>
              <a:rPr lang="en"/>
              <a:t>ão: é o ato de apenas detectar se uma face está presente e em qual local da imagem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Reconhecimento: distinguir qual pessoa é se ela estiver na base de dados, se não tiver reconhecer que ela não está na base</a:t>
            </a:r>
            <a:endParaRPr/>
          </a:p>
        </p:txBody>
      </p:sp>
      <p:pic>
        <p:nvPicPr>
          <p:cNvPr id="141" name="Google Shape;14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8900" y="1285900"/>
            <a:ext cx="2473751" cy="1546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8625" y="3115770"/>
            <a:ext cx="3094024" cy="18564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Podemos fazer uma CNN de reconhecimento facial com o que j</a:t>
            </a:r>
            <a:r>
              <a:rPr lang="en"/>
              <a:t>á aprendemos?</a:t>
            </a:r>
            <a:endParaRPr/>
          </a:p>
        </p:txBody>
      </p:sp>
      <p:pic>
        <p:nvPicPr>
          <p:cNvPr id="148" name="Google Shape;14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8025" y="1239950"/>
            <a:ext cx="6723149" cy="3781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Podemos fazer uma CNN de reconhecimento facial com o que já aprendemos?</a:t>
            </a:r>
            <a:endParaRPr/>
          </a:p>
        </p:txBody>
      </p:sp>
      <p:pic>
        <p:nvPicPr>
          <p:cNvPr id="154" name="Google Shape;154;p28"/>
          <p:cNvPicPr preferRelativeResize="0"/>
          <p:nvPr/>
        </p:nvPicPr>
        <p:blipFill rotWithShape="1">
          <a:blip r:embed="rId3">
            <a:alphaModFix/>
          </a:blip>
          <a:srcRect b="0" l="38718" r="0" t="0"/>
          <a:stretch/>
        </p:blipFill>
        <p:spPr>
          <a:xfrm>
            <a:off x="3781075" y="1239950"/>
            <a:ext cx="4120099" cy="3781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8"/>
          <p:cNvPicPr preferRelativeResize="0"/>
          <p:nvPr/>
        </p:nvPicPr>
        <p:blipFill rotWithShape="1">
          <a:blip r:embed="rId4">
            <a:alphaModFix/>
          </a:blip>
          <a:srcRect b="53295" l="13091" r="45378" t="0"/>
          <a:stretch/>
        </p:blipFill>
        <p:spPr>
          <a:xfrm>
            <a:off x="1832150" y="1473313"/>
            <a:ext cx="1443775" cy="121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8"/>
          <p:cNvSpPr txBox="1"/>
          <p:nvPr/>
        </p:nvSpPr>
        <p:spPr>
          <a:xfrm>
            <a:off x="990225" y="1800913"/>
            <a:ext cx="881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Caio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57" name="Google Shape;157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97525" y="3152200"/>
            <a:ext cx="1693105" cy="168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8"/>
          <p:cNvSpPr txBox="1"/>
          <p:nvPr/>
        </p:nvSpPr>
        <p:spPr>
          <a:xfrm>
            <a:off x="468150" y="3626000"/>
            <a:ext cx="1693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Albert</a:t>
            </a:r>
            <a:br>
              <a:rPr b="1" lang="e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b="1" lang="en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Einstein</a:t>
            </a:r>
            <a:endParaRPr b="1"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9" name="Google Shape;159;p28"/>
          <p:cNvSpPr txBox="1"/>
          <p:nvPr/>
        </p:nvSpPr>
        <p:spPr>
          <a:xfrm>
            <a:off x="6934525" y="2075638"/>
            <a:ext cx="1132800" cy="17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0">
                <a:solidFill>
                  <a:schemeClr val="accent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  <a:endParaRPr b="1" sz="12000">
              <a:solidFill>
                <a:schemeClr val="accent5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Podemos fazer uma CNN de reconhecimento facial com o que já aprendemos?</a:t>
            </a:r>
            <a:endParaRPr/>
          </a:p>
        </p:txBody>
      </p:sp>
      <p:sp>
        <p:nvSpPr>
          <p:cNvPr id="165" name="Google Shape;165;p29"/>
          <p:cNvSpPr txBox="1"/>
          <p:nvPr>
            <p:ph idx="1" type="body"/>
          </p:nvPr>
        </p:nvSpPr>
        <p:spPr>
          <a:xfrm>
            <a:off x="614025" y="1369625"/>
            <a:ext cx="7929000" cy="378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600"/>
              <a:t>Sim, mas...</a:t>
            </a:r>
            <a:endParaRPr sz="2600"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AutoNum type="arabicPeriod"/>
            </a:pPr>
            <a:r>
              <a:rPr lang="en"/>
              <a:t>Precisamos de muitas imagens de cada pessoa para treinar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AutoNum type="arabicPeriod"/>
            </a:pPr>
            <a:r>
              <a:rPr lang="en"/>
              <a:t>E se quiser incluir uma nova pessoa? Vou retreinar a rede neural inteira novamente?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AutoNum type="arabicPeriod"/>
            </a:pPr>
            <a:r>
              <a:rPr lang="en"/>
              <a:t>E as pessoas que n</a:t>
            </a:r>
            <a:r>
              <a:rPr lang="en"/>
              <a:t>ão estão na base?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0"/>
          <p:cNvSpPr txBox="1"/>
          <p:nvPr>
            <p:ph type="title"/>
          </p:nvPr>
        </p:nvSpPr>
        <p:spPr>
          <a:xfrm>
            <a:off x="607500" y="2213547"/>
            <a:ext cx="7921200" cy="1101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Impact"/>
                <a:ea typeface="Impact"/>
                <a:cs typeface="Impact"/>
                <a:sym typeface="Impact"/>
              </a:rPr>
              <a:t>Embeddings </a:t>
            </a:r>
            <a:r>
              <a:rPr lang="en"/>
              <a:t>(vetor de incorporação): a solução</a:t>
            </a:r>
            <a:endParaRPr/>
          </a:p>
        </p:txBody>
      </p:sp>
      <p:sp>
        <p:nvSpPr>
          <p:cNvPr id="171" name="Google Shape;171;p30"/>
          <p:cNvSpPr/>
          <p:nvPr/>
        </p:nvSpPr>
        <p:spPr>
          <a:xfrm>
            <a:off x="550800" y="325825"/>
            <a:ext cx="4825500" cy="1582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2" name="Google Shape;172;p30"/>
          <p:cNvSpPr txBox="1"/>
          <p:nvPr>
            <p:ph idx="1" type="body"/>
          </p:nvPr>
        </p:nvSpPr>
        <p:spPr>
          <a:xfrm>
            <a:off x="607500" y="3960901"/>
            <a:ext cx="7921200" cy="325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3" name="Google Shape;173;p30"/>
          <p:cNvPicPr preferRelativeResize="0"/>
          <p:nvPr/>
        </p:nvPicPr>
        <p:blipFill rotWithShape="1">
          <a:blip r:embed="rId3">
            <a:alphaModFix/>
          </a:blip>
          <a:srcRect b="0" l="29681" r="0" t="0"/>
          <a:stretch/>
        </p:blipFill>
        <p:spPr>
          <a:xfrm>
            <a:off x="2280825" y="113575"/>
            <a:ext cx="3020399" cy="1954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0"/>
          <p:cNvPicPr preferRelativeResize="0"/>
          <p:nvPr/>
        </p:nvPicPr>
        <p:blipFill rotWithShape="1">
          <a:blip r:embed="rId4">
            <a:alphaModFix/>
          </a:blip>
          <a:srcRect b="53295" l="13091" r="45378" t="0"/>
          <a:stretch/>
        </p:blipFill>
        <p:spPr>
          <a:xfrm>
            <a:off x="762675" y="482188"/>
            <a:ext cx="1443775" cy="121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30"/>
          <p:cNvSpPr txBox="1"/>
          <p:nvPr/>
        </p:nvSpPr>
        <p:spPr>
          <a:xfrm>
            <a:off x="4755600" y="1631932"/>
            <a:ext cx="440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128</a:t>
            </a:r>
            <a:endParaRPr b="1"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1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que é e de onde vem?</a:t>
            </a:r>
            <a:endParaRPr/>
          </a:p>
        </p:txBody>
      </p:sp>
      <p:sp>
        <p:nvSpPr>
          <p:cNvPr id="181" name="Google Shape;181;p31"/>
          <p:cNvSpPr txBox="1"/>
          <p:nvPr>
            <p:ph idx="1" type="body"/>
          </p:nvPr>
        </p:nvSpPr>
        <p:spPr>
          <a:xfrm>
            <a:off x="614025" y="1369625"/>
            <a:ext cx="7929000" cy="363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As camadas intermediárias contém informações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Quanto mais para o final, mais próximo à classificação final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Diferentes classes ativam de forma diferente os neurônios</a:t>
            </a:r>
            <a:endParaRPr/>
          </a:p>
        </p:txBody>
      </p:sp>
      <p:pic>
        <p:nvPicPr>
          <p:cNvPr id="182" name="Google Shape;18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150" y="2896550"/>
            <a:ext cx="3736300" cy="210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6575" y="2903569"/>
            <a:ext cx="3736300" cy="2100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75" y="68999"/>
            <a:ext cx="4279325" cy="241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753" y="2614942"/>
            <a:ext cx="4293610" cy="241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75" y="68999"/>
            <a:ext cx="4279325" cy="241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753" y="2614942"/>
            <a:ext cx="4293610" cy="2413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3"/>
          <p:cNvSpPr/>
          <p:nvPr/>
        </p:nvSpPr>
        <p:spPr>
          <a:xfrm>
            <a:off x="2785100" y="131875"/>
            <a:ext cx="775800" cy="2273100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7" name="Google Shape;197;p33"/>
          <p:cNvSpPr/>
          <p:nvPr/>
        </p:nvSpPr>
        <p:spPr>
          <a:xfrm>
            <a:off x="2814742" y="2693720"/>
            <a:ext cx="775800" cy="2273100"/>
          </a:xfrm>
          <a:prstGeom prst="rect">
            <a:avLst/>
          </a:prstGeom>
          <a:solidFill>
            <a:srgbClr val="000000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8" name="Google Shape;198;p33"/>
          <p:cNvSpPr txBox="1"/>
          <p:nvPr/>
        </p:nvSpPr>
        <p:spPr>
          <a:xfrm>
            <a:off x="4572000" y="1505025"/>
            <a:ext cx="4398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Ao jogar outra imagem de 2:</a:t>
            </a:r>
            <a:endParaRPr sz="2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entury Gothic"/>
              <a:buChar char="●"/>
            </a:pPr>
            <a:r>
              <a:rPr lang="en" sz="1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Ela vai parecer muito mais com o padrão de ativação da penúltima camada da ativação anterior de 2</a:t>
            </a:r>
            <a:endParaRPr sz="16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4"/>
          <p:cNvSpPr txBox="1"/>
          <p:nvPr/>
        </p:nvSpPr>
        <p:spPr>
          <a:xfrm>
            <a:off x="4572000" y="224975"/>
            <a:ext cx="4398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204" name="Google Shape;204;p34"/>
          <p:cNvGrpSpPr/>
          <p:nvPr/>
        </p:nvGrpSpPr>
        <p:grpSpPr>
          <a:xfrm>
            <a:off x="159575" y="1364399"/>
            <a:ext cx="4279325" cy="2413525"/>
            <a:chOff x="83375" y="68999"/>
            <a:chExt cx="4279325" cy="2413525"/>
          </a:xfrm>
        </p:grpSpPr>
        <p:pic>
          <p:nvPicPr>
            <p:cNvPr id="205" name="Google Shape;205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3375" y="68999"/>
              <a:ext cx="4279325" cy="2413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6" name="Google Shape;206;p34"/>
            <p:cNvSpPr/>
            <p:nvPr/>
          </p:nvSpPr>
          <p:spPr>
            <a:xfrm>
              <a:off x="2785100" y="131875"/>
              <a:ext cx="775800" cy="2273100"/>
            </a:xfrm>
            <a:prstGeom prst="rect">
              <a:avLst/>
            </a:prstGeom>
            <a:solidFill>
              <a:srgbClr val="000000">
                <a:alpha val="8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07" name="Google Shape;207;p34"/>
            <p:cNvSpPr/>
            <p:nvPr/>
          </p:nvSpPr>
          <p:spPr>
            <a:xfrm>
              <a:off x="170702" y="139225"/>
              <a:ext cx="2455800" cy="2273100"/>
            </a:xfrm>
            <a:prstGeom prst="rect">
              <a:avLst/>
            </a:prstGeom>
            <a:solidFill>
              <a:srgbClr val="000000">
                <a:alpha val="8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208" name="Google Shape;208;p34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Usamos a penúltima </a:t>
            </a:r>
            <a:r>
              <a:rPr lang="en"/>
              <a:t>camada</a:t>
            </a:r>
            <a:r>
              <a:rPr lang="en"/>
              <a:t> como um padrão de ativação que reflete o objeto</a:t>
            </a:r>
            <a:endParaRPr/>
          </a:p>
        </p:txBody>
      </p:sp>
      <p:sp>
        <p:nvSpPr>
          <p:cNvPr id="209" name="Google Shape;209;p34"/>
          <p:cNvSpPr txBox="1"/>
          <p:nvPr>
            <p:ph idx="1" type="body"/>
          </p:nvPr>
        </p:nvSpPr>
        <p:spPr>
          <a:xfrm>
            <a:off x="4572000" y="1369625"/>
            <a:ext cx="3971100" cy="3618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Esse conjunto de números chamamos de vetor de incorporação (</a:t>
            </a:r>
            <a:r>
              <a:rPr lang="en" sz="1800">
                <a:solidFill>
                  <a:schemeClr val="accent2"/>
                </a:solidFill>
                <a:latin typeface="Impact"/>
                <a:ea typeface="Impact"/>
                <a:cs typeface="Impact"/>
                <a:sym typeface="Impact"/>
              </a:rPr>
              <a:t>embedding</a:t>
            </a:r>
            <a:r>
              <a:rPr lang="en"/>
              <a:t>)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Na prática eles representam características da entrada</a:t>
            </a:r>
            <a:endParaRPr/>
          </a:p>
        </p:txBody>
      </p:sp>
      <p:sp>
        <p:nvSpPr>
          <p:cNvPr id="210" name="Google Shape;210;p34"/>
          <p:cNvSpPr txBox="1"/>
          <p:nvPr/>
        </p:nvSpPr>
        <p:spPr>
          <a:xfrm>
            <a:off x="2909210" y="1397475"/>
            <a:ext cx="708600" cy="2251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0,2116</a:t>
            </a:r>
            <a:endParaRPr sz="1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-0,0267</a:t>
            </a:r>
            <a:endParaRPr sz="1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-0,0185</a:t>
            </a:r>
            <a:endParaRPr sz="1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0,9854</a:t>
            </a:r>
            <a:endParaRPr sz="1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0,7054</a:t>
            </a:r>
            <a:endParaRPr sz="1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0,0323</a:t>
            </a:r>
            <a:endParaRPr sz="1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0,9897</a:t>
            </a:r>
            <a:endParaRPr sz="1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0,0044</a:t>
            </a:r>
            <a:endParaRPr sz="1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0,9930</a:t>
            </a:r>
            <a:endParaRPr sz="1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0,7137</a:t>
            </a:r>
            <a:endParaRPr sz="1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-0,0132</a:t>
            </a:r>
            <a:endParaRPr sz="1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0,0032</a:t>
            </a:r>
            <a:endParaRPr sz="1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0,1910</a:t>
            </a:r>
            <a:endParaRPr sz="1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0,0453</a:t>
            </a:r>
            <a:endParaRPr sz="1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0,9172</a:t>
            </a:r>
            <a:endParaRPr sz="1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0,6299</a:t>
            </a:r>
            <a:endParaRPr sz="1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5"/>
          <p:cNvSpPr/>
          <p:nvPr/>
        </p:nvSpPr>
        <p:spPr>
          <a:xfrm>
            <a:off x="6880925" y="3517875"/>
            <a:ext cx="1995600" cy="1401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Google Shape;216;p35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caso de CNNs a lógica é a mesma</a:t>
            </a:r>
            <a:endParaRPr/>
          </a:p>
        </p:txBody>
      </p:sp>
      <p:sp>
        <p:nvSpPr>
          <p:cNvPr id="217" name="Google Shape;217;p35"/>
          <p:cNvSpPr txBox="1"/>
          <p:nvPr>
            <p:ph idx="1" type="body"/>
          </p:nvPr>
        </p:nvSpPr>
        <p:spPr>
          <a:xfrm>
            <a:off x="614025" y="1369625"/>
            <a:ext cx="7929000" cy="378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8" name="Google Shape;21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7251" y="3552300"/>
            <a:ext cx="2122101" cy="136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35"/>
          <p:cNvPicPr preferRelativeResize="0"/>
          <p:nvPr/>
        </p:nvPicPr>
        <p:blipFill rotWithShape="1">
          <a:blip r:embed="rId4">
            <a:alphaModFix/>
          </a:blip>
          <a:srcRect b="0" l="0" r="34546" t="0"/>
          <a:stretch/>
        </p:blipFill>
        <p:spPr>
          <a:xfrm>
            <a:off x="319575" y="1330475"/>
            <a:ext cx="5985126" cy="325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6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 o que eu faço com esses embeddings?</a:t>
            </a:r>
            <a:endParaRPr/>
          </a:p>
        </p:txBody>
      </p:sp>
      <p:sp>
        <p:nvSpPr>
          <p:cNvPr id="225" name="Google Shape;225;p36"/>
          <p:cNvSpPr txBox="1"/>
          <p:nvPr>
            <p:ph idx="1" type="body"/>
          </p:nvPr>
        </p:nvSpPr>
        <p:spPr>
          <a:xfrm>
            <a:off x="614025" y="1369625"/>
            <a:ext cx="7929000" cy="3680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Criar base de pessoas: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Pegue apenas uma imagem de referência para cada pessoa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Cada pessoa vai ter um </a:t>
            </a:r>
            <a:r>
              <a:rPr lang="en">
                <a:solidFill>
                  <a:schemeClr val="accent2"/>
                </a:solidFill>
                <a:latin typeface="Impact"/>
                <a:ea typeface="Impact"/>
                <a:cs typeface="Impact"/>
                <a:sym typeface="Impact"/>
              </a:rPr>
              <a:t>embedding </a:t>
            </a:r>
            <a:r>
              <a:rPr lang="en"/>
              <a:t>de referência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Verificar pessoa</a:t>
            </a:r>
            <a:r>
              <a:rPr lang="en"/>
              <a:t>: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Calcule o </a:t>
            </a:r>
            <a:r>
              <a:rPr lang="en">
                <a:solidFill>
                  <a:schemeClr val="accent2"/>
                </a:solidFill>
                <a:latin typeface="Impact"/>
                <a:ea typeface="Impact"/>
                <a:cs typeface="Impact"/>
                <a:sym typeface="Impact"/>
              </a:rPr>
              <a:t>embedding</a:t>
            </a:r>
            <a:r>
              <a:rPr lang="en"/>
              <a:t> dessa pessoa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Calcule a diferença dos </a:t>
            </a:r>
            <a:r>
              <a:rPr lang="en">
                <a:solidFill>
                  <a:schemeClr val="accent2"/>
                </a:solidFill>
                <a:latin typeface="Impact"/>
                <a:ea typeface="Impact"/>
                <a:cs typeface="Impact"/>
                <a:sym typeface="Impact"/>
              </a:rPr>
              <a:t>embeddings</a:t>
            </a:r>
            <a:r>
              <a:rPr lang="en"/>
              <a:t> dessa pessoa com as da base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Se a diferença dos </a:t>
            </a:r>
            <a:r>
              <a:rPr lang="en">
                <a:solidFill>
                  <a:schemeClr val="accent2"/>
                </a:solidFill>
                <a:latin typeface="Impact"/>
                <a:ea typeface="Impact"/>
                <a:cs typeface="Impact"/>
                <a:sym typeface="Impact"/>
              </a:rPr>
              <a:t>embeddings</a:t>
            </a:r>
            <a:r>
              <a:rPr lang="en"/>
              <a:t> for menor que </a:t>
            </a:r>
            <a:r>
              <a:rPr lang="en">
                <a:solidFill>
                  <a:schemeClr val="accent6"/>
                </a:solidFill>
                <a:latin typeface="Impact"/>
                <a:ea typeface="Impact"/>
                <a:cs typeface="Impact"/>
                <a:sym typeface="Impact"/>
              </a:rPr>
              <a:t>threshold</a:t>
            </a:r>
            <a:r>
              <a:rPr lang="en"/>
              <a:t> (limiar) considera como a mesma pessoa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7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Calculando a diferença entre os </a:t>
            </a:r>
            <a:r>
              <a:rPr lang="en" sz="3000">
                <a:solidFill>
                  <a:schemeClr val="accent2"/>
                </a:solidFill>
              </a:rPr>
              <a:t>embedding</a:t>
            </a:r>
            <a:r>
              <a:rPr lang="en" sz="18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rPr>
              <a:t> </a:t>
            </a:r>
            <a:endParaRPr/>
          </a:p>
        </p:txBody>
      </p:sp>
      <p:sp>
        <p:nvSpPr>
          <p:cNvPr id="231" name="Google Shape;231;p37"/>
          <p:cNvSpPr txBox="1"/>
          <p:nvPr>
            <p:ph idx="1" type="body"/>
          </p:nvPr>
        </p:nvSpPr>
        <p:spPr>
          <a:xfrm>
            <a:off x="614025" y="1369625"/>
            <a:ext cx="3994200" cy="378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A forma mais comum e simples é a distância euclidiana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Soma a diferença ao quadrado</a:t>
            </a:r>
            <a:endParaRPr/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Tira a raíz</a:t>
            </a:r>
            <a:endParaRPr/>
          </a:p>
        </p:txBody>
      </p:sp>
      <p:pic>
        <p:nvPicPr>
          <p:cNvPr id="232" name="Google Shape;23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1250" y="1247675"/>
            <a:ext cx="3731576" cy="3731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8147" y="3235050"/>
            <a:ext cx="2037275" cy="174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8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Calculando a diferença entre os </a:t>
            </a:r>
            <a:r>
              <a:rPr lang="en" sz="3000">
                <a:solidFill>
                  <a:schemeClr val="accent2"/>
                </a:solidFill>
              </a:rPr>
              <a:t>embedding</a:t>
            </a:r>
            <a:r>
              <a:rPr lang="en" sz="18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rPr>
              <a:t> </a:t>
            </a:r>
            <a:endParaRPr/>
          </a:p>
        </p:txBody>
      </p:sp>
      <p:sp>
        <p:nvSpPr>
          <p:cNvPr id="239" name="Google Shape;239;p38"/>
          <p:cNvSpPr txBox="1"/>
          <p:nvPr>
            <p:ph idx="1" type="body"/>
          </p:nvPr>
        </p:nvSpPr>
        <p:spPr>
          <a:xfrm>
            <a:off x="614025" y="1369625"/>
            <a:ext cx="3994200" cy="378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Outras formas</a:t>
            </a:r>
            <a:endParaRPr/>
          </a:p>
        </p:txBody>
      </p:sp>
      <p:pic>
        <p:nvPicPr>
          <p:cNvPr id="240" name="Google Shape;24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5750" y="1447950"/>
            <a:ext cx="6018250" cy="3385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9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Comparando modelos diferentes</a:t>
            </a:r>
            <a:endParaRPr/>
          </a:p>
        </p:txBody>
      </p:sp>
      <p:pic>
        <p:nvPicPr>
          <p:cNvPr id="246" name="Google Shape;24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3525" y="1180101"/>
            <a:ext cx="4985924" cy="3927374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9"/>
          <p:cNvSpPr txBox="1"/>
          <p:nvPr/>
        </p:nvSpPr>
        <p:spPr>
          <a:xfrm>
            <a:off x="47175" y="792575"/>
            <a:ext cx="875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chemeClr val="lt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https://www.analyticsvidhya.com/blog/2021/06/face-detection-and-recognition-capable-of-beating-humans-using-facenet/</a:t>
            </a:r>
            <a:endParaRPr sz="9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0"/>
          <p:cNvSpPr txBox="1"/>
          <p:nvPr>
            <p:ph type="title"/>
          </p:nvPr>
        </p:nvSpPr>
        <p:spPr>
          <a:xfrm>
            <a:off x="607500" y="2213547"/>
            <a:ext cx="7921200" cy="1101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Como treinar a rede neural?</a:t>
            </a:r>
            <a:endParaRPr/>
          </a:p>
        </p:txBody>
      </p:sp>
      <p:sp>
        <p:nvSpPr>
          <p:cNvPr id="253" name="Google Shape;253;p40"/>
          <p:cNvSpPr txBox="1"/>
          <p:nvPr>
            <p:ph idx="1" type="body"/>
          </p:nvPr>
        </p:nvSpPr>
        <p:spPr>
          <a:xfrm>
            <a:off x="607500" y="3960901"/>
            <a:ext cx="7921200" cy="325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1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CNN pré-treinadas para classificar pessoas diferentes</a:t>
            </a:r>
            <a:endParaRPr/>
          </a:p>
        </p:txBody>
      </p:sp>
      <p:sp>
        <p:nvSpPr>
          <p:cNvPr id="259" name="Google Shape;259;p41"/>
          <p:cNvSpPr txBox="1"/>
          <p:nvPr>
            <p:ph idx="1" type="body"/>
          </p:nvPr>
        </p:nvSpPr>
        <p:spPr>
          <a:xfrm>
            <a:off x="614025" y="1369625"/>
            <a:ext cx="7929000" cy="3662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 sz="1750" u="sng">
                <a:solidFill>
                  <a:srgbClr val="A8C7FA"/>
                </a:solidFill>
                <a:highlight>
                  <a:srgbClr val="383838"/>
                </a:highlight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VGG-Face</a:t>
            </a:r>
            <a:r>
              <a:rPr lang="en"/>
              <a:t>: CNN treinada no conjunto de dados LFW (</a:t>
            </a:r>
            <a:r>
              <a:rPr i="1" lang="en"/>
              <a:t>labelled faces in the wild</a:t>
            </a:r>
            <a:r>
              <a:rPr lang="en"/>
              <a:t>): 13.233 imagens de 5.749 pessoas</a:t>
            </a:r>
            <a:endParaRPr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DeepFace: triplet loss</a:t>
            </a:r>
            <a:endParaRPr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ArcFace: arcface loss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2"/>
          <p:cNvSpPr txBox="1"/>
          <p:nvPr>
            <p:ph type="title"/>
          </p:nvPr>
        </p:nvSpPr>
        <p:spPr>
          <a:xfrm>
            <a:off x="607500" y="2213547"/>
            <a:ext cx="7921200" cy="1101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Prática</a:t>
            </a:r>
            <a:endParaRPr/>
          </a:p>
        </p:txBody>
      </p:sp>
      <p:sp>
        <p:nvSpPr>
          <p:cNvPr id="265" name="Google Shape;265;p42"/>
          <p:cNvSpPr txBox="1"/>
          <p:nvPr>
            <p:ph idx="1" type="body"/>
          </p:nvPr>
        </p:nvSpPr>
        <p:spPr>
          <a:xfrm>
            <a:off x="607500" y="3960901"/>
            <a:ext cx="7921200" cy="325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3"/>
          <p:cNvSpPr txBox="1"/>
          <p:nvPr>
            <p:ph type="title"/>
          </p:nvPr>
        </p:nvSpPr>
        <p:spPr>
          <a:xfrm>
            <a:off x="607500" y="183526"/>
            <a:ext cx="7929000" cy="727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Referências</a:t>
            </a:r>
            <a:endParaRPr/>
          </a:p>
        </p:txBody>
      </p:sp>
      <p:sp>
        <p:nvSpPr>
          <p:cNvPr id="271" name="Google Shape;271;p43"/>
          <p:cNvSpPr txBox="1"/>
          <p:nvPr>
            <p:ph idx="1" type="body"/>
          </p:nvPr>
        </p:nvSpPr>
        <p:spPr>
          <a:xfrm>
            <a:off x="614025" y="1369625"/>
            <a:ext cx="7929000" cy="3780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98450" lvl="0" marL="457200" rtl="0" algn="l">
              <a:spcBef>
                <a:spcPts val="1000"/>
              </a:spcBef>
              <a:spcAft>
                <a:spcPts val="0"/>
              </a:spcAft>
              <a:buSzPts val="1100"/>
              <a:buFont typeface="Arial"/>
              <a:buChar char="-"/>
            </a:pP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https://colab.research.google.com/drive/1W_O2M-tegM4-obIpE1ontlARR-_wtcKt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itável">
  <a:themeElements>
    <a:clrScheme name="Personalizada 1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359E45"/>
      </a:accent1>
      <a:accent2>
        <a:srgbClr val="D75BCD"/>
      </a:accent2>
      <a:accent3>
        <a:srgbClr val="E54D86"/>
      </a:accent3>
      <a:accent4>
        <a:srgbClr val="DE4547"/>
      </a:accent4>
      <a:accent5>
        <a:srgbClr val="F16E40"/>
      </a:accent5>
      <a:accent6>
        <a:srgbClr val="EB9C5A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