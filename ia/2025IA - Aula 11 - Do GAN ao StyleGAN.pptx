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EB Garamond" panose="020F0502020204030204" pitchFamily="2" charset="0"/>
      <p:regular r:id="rId42"/>
      <p:bold r:id="rId43"/>
      <p:italic r:id="rId44"/>
      <p:boldItalic r:id="rId45"/>
    </p:embeddedFont>
    <p:embeddedFont>
      <p:font typeface="Georgia" panose="02040502050405020303" pitchFamily="18" charset="0"/>
      <p:regular r:id="rId46"/>
      <p:bold r:id="rId47"/>
      <p:italic r:id="rId48"/>
      <p:boldItalic r:id="rId49"/>
    </p:embeddedFont>
    <p:embeddedFont>
      <p:font typeface="Impact" panose="020B0806030902050204" pitchFamily="34" charset="0"/>
      <p:regular r:id="rId50"/>
    </p:embeddedFont>
    <p:embeddedFont>
      <p:font typeface="Noto Sans Symbols" pitchFamily="2" charset="0"/>
      <p:regular r:id="rId51"/>
      <p:bold r:id="rId52"/>
    </p:embeddedFont>
    <p:embeddedFont>
      <p:font typeface="Open Sans" panose="020B0606030504020204" pitchFamily="34" charset="0"/>
      <p:regular r:id="rId53"/>
      <p:bold r:id="rId54"/>
      <p:italic r:id="rId55"/>
      <p:boldItalic r:id="rId56"/>
    </p:embeddedFont>
    <p:embeddedFont>
      <p:font typeface="Oswald" panose="020F0502020204030204" pitchFamily="2" charset="0"/>
      <p:regular r:id="rId57"/>
      <p:bold r:id="rId58"/>
    </p:embeddedFont>
    <p:embeddedFont>
      <p:font typeface="Roboto" panose="020F0502020204030204" pitchFamily="2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279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2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font" Target="fonts/font23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df7570a7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df7570a7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f7570a7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df7570a7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df7570a7a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df7570a7a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f7570a7a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df7570a7a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df7570a7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df7570a7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e07eb208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e07eb208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e07eb208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e07eb208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e07eb208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e07eb208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e07eb208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e07eb208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e07eb2082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e07eb2082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e2153609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e2153609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e07eb208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e07eb208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e07eb208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e07eb208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e07eb208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e07eb2082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e07eb2082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e07eb2082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e07eb208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e07eb2082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e07eb2082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e07eb2082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df7570a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8df7570a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e07eb2082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e07eb2082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e07eb2082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e07eb2082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e07eb2082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e07eb2082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e07eb2082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e07eb2082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e07eb2082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e07eb2082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e07eb2082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e07eb2082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e07eb2082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e07eb2082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e07eb2082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e07eb2082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e07eb2082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8e07eb2082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e07eb2082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8e07eb2082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e07eb2082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8e07eb2082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e2153609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8e2153609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e215360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8e215360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e2153609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e2153609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e215360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e215360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14d815e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614d815e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99996" sy="99996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sz="4100" b="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81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sz="2900" b="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lvl="2" indent="-3238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lvl="4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lvl="5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lvl="6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lvl="7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lvl="8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a numerada">
  <p:cSld name="OBJECT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sz="2900" b="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FEFE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FEFE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FEFE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FEFE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FEFE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99996" sy="99996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sz="3600" b="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81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artes de Conteúdo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857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79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667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667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marL="3200400" lvl="6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marL="3657600" lvl="7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marL="4114800" lvl="8" indent="-29845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857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79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667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667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marL="3200400" lvl="6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marL="3657600" lvl="7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marL="4114800" lvl="8" indent="-29845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857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79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667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667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marL="3200400" lvl="6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marL="3657600" lvl="7" indent="-2984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marL="4114800" lvl="8" indent="-29845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99996" sy="99996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sz="15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2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sz="1800" b="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>
            <a:spLocks noGrp="1"/>
          </p:cNvSpPr>
          <p:nvPr>
            <p:ph type="pic" idx="2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Panorâmica com Legenda">
  <p:cSld name="Foto Panorâmica com Legenda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sz="1800" b="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ção com Legenda">
  <p:cSld name="Citação com Legenda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99996" sy="99996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sz="3200" b="1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2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ão de Nome">
  <p:cSld name="Cartão de Nom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99996" sy="99996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marL="1828800" lvl="3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marL="2286000" lvl="4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99996" sy="99996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99996" sy="99996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lvl="1" indent="-3492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lvl="5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lvl="6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lvl="7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lvl="8" indent="-3302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81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sz="3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81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PDq6E60HYb9ugoFcV8lRtCq_fhBOci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QuJJg5Jo2QbHeM2MX2rVgM5FjYw_6Hhh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06.2661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learn/computer-vision-course/en/unit5/generative-models/gans" TargetMode="External"/><Relationship Id="rId4" Type="http://schemas.openxmlformats.org/officeDocument/2006/relationships/hyperlink" Target="https://www.tensorflow.org/tutorials/generative/dcg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IAs Generativas: GAN ao StyleGAN</a:t>
            </a:r>
            <a:endParaRPr sz="3900" dirty="0"/>
          </a:p>
        </p:txBody>
      </p:sp>
      <p:sp>
        <p:nvSpPr>
          <p:cNvPr id="105" name="Google Shape;105;p21"/>
          <p:cNvSpPr txBox="1"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11</a:t>
            </a:r>
            <a:endParaRPr sz="1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025" y="26527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125" y="262400"/>
            <a:ext cx="2857498" cy="16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passada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Convolução transposta para aumentar matrizes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00" y="1093401"/>
            <a:ext cx="7854748" cy="3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650" y="1995425"/>
            <a:ext cx="5523540" cy="190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mais sobre GAN?</a:t>
            </a:r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paper da GAN (Fev/2014)</a:t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600" y="1356201"/>
            <a:ext cx="52768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043" y="3276450"/>
            <a:ext cx="5126811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paper da GAN (Fev/2014)</a:t>
            </a:r>
            <a:endParaRPr/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625" y="57425"/>
            <a:ext cx="2934924" cy="98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>
            <a:spLocks noGrp="1"/>
          </p:cNvSpPr>
          <p:nvPr>
            <p:ph type="body" idx="1"/>
          </p:nvPr>
        </p:nvSpPr>
        <p:spPr>
          <a:xfrm>
            <a:off x="614025" y="1369625"/>
            <a:ext cx="7929000" cy="3558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Nas conclusões: possibilidade de gerar imagens condicionalmente adicionando o vetor de classificação (MNIST: qual dígito quer que gere)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Adicionar ao gerador: para ele saber qual gerar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Adiciona ao discriminante: ele precisa saber se a saída é real, dado que deveria ser gerado o dígito específico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condicional: Nov/2014</a:t>
            </a: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225" y="1345151"/>
            <a:ext cx="52863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condicional: Nov/2014</a:t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450" y="-20237"/>
            <a:ext cx="2316551" cy="113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200" y="1276088"/>
            <a:ext cx="7391289" cy="3723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estabilizar o treinamento (2016)</a:t>
            </a:r>
            <a:endParaRPr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00" y="1115326"/>
            <a:ext cx="7830752" cy="3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estabilizar o treinamento (2016)</a:t>
            </a:r>
            <a:endParaRPr/>
          </a:p>
        </p:txBody>
      </p:sp>
      <p:pic>
        <p:nvPicPr>
          <p:cNvPr id="171" name="Google Shape;1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0001" y="146113"/>
            <a:ext cx="1600325" cy="80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025" y="1141126"/>
            <a:ext cx="7811725" cy="3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estabilizar o treinamento (2016)</a:t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2331" y="1"/>
            <a:ext cx="2262601" cy="113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32750"/>
            <a:ext cx="8839201" cy="2198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estabilizar o treinamento (2016)</a:t>
            </a:r>
            <a:endParaRPr/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2331" y="1"/>
            <a:ext cx="2262601" cy="113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726" y="1369625"/>
            <a:ext cx="3495449" cy="8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>
            <a:spLocks noGrp="1"/>
          </p:cNvSpPr>
          <p:nvPr>
            <p:ph type="body" idx="1"/>
          </p:nvPr>
        </p:nvSpPr>
        <p:spPr>
          <a:xfrm>
            <a:off x="614025" y="2442724"/>
            <a:ext cx="7929000" cy="2698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Guia para fazer CNN com GAN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Trocar camadas de pool por convolução com stride (pulando células)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Usar normalização do batch: normaliza (média 0, desvio 1) o conjunto de entrada antes de continuar, evita assim os gradientes explosivos ou muito baixos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Remover camadas totalmente conectadas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Usar ReLU no gerador, exceto para saída que deve ser Tanh (-1, 1)</a:t>
            </a:r>
            <a:endParaRPr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Usar LeakyReLU para as camadas do discriminador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/>
        </p:nvSpPr>
        <p:spPr>
          <a:xfrm>
            <a:off x="1333200" y="2156100"/>
            <a:ext cx="7233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https://colab.research.google.com/drive/1cPDq6E60HYb9ugoFcV8lRtCq_fhBOcia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4"/>
          <p:cNvSpPr txBox="1"/>
          <p:nvPr/>
        </p:nvSpPr>
        <p:spPr>
          <a:xfrm>
            <a:off x="705300" y="326850"/>
            <a:ext cx="5117700" cy="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CNN GAN condicional com regularizações propostas por Radford et al. (2016)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Progressive Growing of GAN: crescimento progressivo do GAN  (2018)</a:t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5201"/>
            <a:ext cx="8839200" cy="235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Progressive Growing of GAN: crescimento progressivo do GAN  (2018)</a:t>
            </a:r>
            <a:endParaRPr/>
          </a:p>
        </p:txBody>
      </p:sp>
      <p:pic>
        <p:nvPicPr>
          <p:cNvPr id="205" name="Google Shape;2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425" y="1216126"/>
            <a:ext cx="7815929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1925" y="515275"/>
            <a:ext cx="2392075" cy="6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Progressive Growing of GAN: crescimento progressivo do GAN  (2018)</a:t>
            </a:r>
            <a:endParaRPr/>
          </a:p>
        </p:txBody>
      </p:sp>
      <p:pic>
        <p:nvPicPr>
          <p:cNvPr id="212" name="Google Shape;212;p37" title="im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975" y="1392225"/>
            <a:ext cx="5980225" cy="338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>
            <a:spLocks noGrp="1"/>
          </p:cNvSpPr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StyleGAN (2020)</a:t>
            </a:r>
            <a:endParaRPr/>
          </a:p>
        </p:txBody>
      </p:sp>
      <p:sp>
        <p:nvSpPr>
          <p:cNvPr id="218" name="Google Shape;218;p38"/>
          <p:cNvSpPr txBox="1">
            <a:spLocks noGrp="1"/>
          </p:cNvSpPr>
          <p:nvPr>
            <p:ph type="body" idx="1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500" y="1737425"/>
            <a:ext cx="2523575" cy="33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525" y="87851"/>
            <a:ext cx="721042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StyleGAN (2020)</a:t>
            </a:r>
            <a:endParaRPr/>
          </a:p>
        </p:txBody>
      </p:sp>
      <p:sp>
        <p:nvSpPr>
          <p:cNvPr id="226" name="Google Shape;226;p39"/>
          <p:cNvSpPr txBox="1">
            <a:spLocks noGrp="1"/>
          </p:cNvSpPr>
          <p:nvPr>
            <p:ph type="body" idx="1"/>
          </p:nvPr>
        </p:nvSpPr>
        <p:spPr>
          <a:xfrm>
            <a:off x="614025" y="3320050"/>
            <a:ext cx="7929000" cy="1830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Obtendo um vetor de “estilo”: atributos latentes</a:t>
            </a:r>
            <a:endParaRPr/>
          </a:p>
        </p:txBody>
      </p:sp>
      <p:pic>
        <p:nvPicPr>
          <p:cNvPr id="227" name="Google Shape;2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725" y="1567251"/>
            <a:ext cx="721042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950" y="152400"/>
            <a:ext cx="420062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0"/>
          <p:cNvSpPr txBox="1"/>
          <p:nvPr/>
        </p:nvSpPr>
        <p:spPr>
          <a:xfrm flipH="1">
            <a:off x="558925" y="619300"/>
            <a:ext cx="3122400" cy="7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Misturando estilos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225" y="152400"/>
            <a:ext cx="554318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225" y="152400"/>
            <a:ext cx="554318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2"/>
          <p:cNvSpPr/>
          <p:nvPr/>
        </p:nvSpPr>
        <p:spPr>
          <a:xfrm>
            <a:off x="3388850" y="232225"/>
            <a:ext cx="1183200" cy="232200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" name="Google Shape;245;p42"/>
          <p:cNvSpPr txBox="1"/>
          <p:nvPr/>
        </p:nvSpPr>
        <p:spPr>
          <a:xfrm>
            <a:off x="129025" y="129025"/>
            <a:ext cx="274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Modo tradicional</a:t>
            </a:r>
            <a:endParaRPr sz="2500" b="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6" name="Google Shape;246;p42"/>
          <p:cNvSpPr txBox="1"/>
          <p:nvPr/>
        </p:nvSpPr>
        <p:spPr>
          <a:xfrm>
            <a:off x="213225" y="1447025"/>
            <a:ext cx="207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 = rúido aleatório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7" name="Google Shape;247;p42"/>
          <p:cNvSpPr/>
          <p:nvPr/>
        </p:nvSpPr>
        <p:spPr>
          <a:xfrm>
            <a:off x="4790850" y="77400"/>
            <a:ext cx="3992700" cy="4924800"/>
          </a:xfrm>
          <a:prstGeom prst="rect">
            <a:avLst/>
          </a:prstGeom>
          <a:solidFill>
            <a:srgbClr val="000000">
              <a:alpha val="89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p42"/>
          <p:cNvSpPr/>
          <p:nvPr/>
        </p:nvSpPr>
        <p:spPr>
          <a:xfrm>
            <a:off x="2294825" y="361250"/>
            <a:ext cx="1085425" cy="2571739"/>
          </a:xfrm>
          <a:custGeom>
            <a:avLst/>
            <a:gdLst/>
            <a:ahLst/>
            <a:cxnLst/>
            <a:rect l="l" t="t" r="r" b="b"/>
            <a:pathLst>
              <a:path w="43417" h="86700" extrusionOk="0">
                <a:moveTo>
                  <a:pt x="43417" y="0"/>
                </a:moveTo>
                <a:cubicBezTo>
                  <a:pt x="36192" y="3039"/>
                  <a:pt x="1157" y="3784"/>
                  <a:pt x="68" y="18234"/>
                </a:cubicBezTo>
                <a:cubicBezTo>
                  <a:pt x="-1021" y="32684"/>
                  <a:pt x="30746" y="75289"/>
                  <a:pt x="36881" y="86700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9" name="Google Shape;249;p42"/>
          <p:cNvSpPr/>
          <p:nvPr/>
        </p:nvSpPr>
        <p:spPr>
          <a:xfrm>
            <a:off x="3388850" y="627875"/>
            <a:ext cx="1183200" cy="4042500"/>
          </a:xfrm>
          <a:prstGeom prst="rect">
            <a:avLst/>
          </a:prstGeom>
          <a:solidFill>
            <a:srgbClr val="D75BCD">
              <a:alpha val="3393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225" y="152400"/>
            <a:ext cx="554318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3"/>
          <p:cNvSpPr/>
          <p:nvPr/>
        </p:nvSpPr>
        <p:spPr>
          <a:xfrm>
            <a:off x="4919850" y="223625"/>
            <a:ext cx="1183200" cy="232200"/>
          </a:xfrm>
          <a:prstGeom prst="rect">
            <a:avLst/>
          </a:prstGeom>
          <a:solidFill>
            <a:srgbClr val="FFFF00">
              <a:alpha val="2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p43"/>
          <p:cNvSpPr txBox="1"/>
          <p:nvPr/>
        </p:nvSpPr>
        <p:spPr>
          <a:xfrm>
            <a:off x="129025" y="129025"/>
            <a:ext cx="274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Modo StyleGAN</a:t>
            </a:r>
            <a:endParaRPr sz="2500" b="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7" name="Google Shape;257;p43"/>
          <p:cNvSpPr txBox="1"/>
          <p:nvPr/>
        </p:nvSpPr>
        <p:spPr>
          <a:xfrm>
            <a:off x="256225" y="922350"/>
            <a:ext cx="207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 = rúido aleatório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43"/>
          <p:cNvSpPr/>
          <p:nvPr/>
        </p:nvSpPr>
        <p:spPr>
          <a:xfrm>
            <a:off x="3240225" y="109350"/>
            <a:ext cx="1569600" cy="4924800"/>
          </a:xfrm>
          <a:prstGeom prst="rect">
            <a:avLst/>
          </a:prstGeom>
          <a:solidFill>
            <a:srgbClr val="000000">
              <a:alpha val="89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p43"/>
          <p:cNvSpPr/>
          <p:nvPr/>
        </p:nvSpPr>
        <p:spPr>
          <a:xfrm>
            <a:off x="4919850" y="550500"/>
            <a:ext cx="1183200" cy="3904800"/>
          </a:xfrm>
          <a:prstGeom prst="rect">
            <a:avLst/>
          </a:prstGeom>
          <a:solidFill>
            <a:srgbClr val="D75BCD">
              <a:alpha val="3393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225" y="152400"/>
            <a:ext cx="554318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4"/>
          <p:cNvSpPr/>
          <p:nvPr/>
        </p:nvSpPr>
        <p:spPr>
          <a:xfrm>
            <a:off x="4945650" y="3535075"/>
            <a:ext cx="1118100" cy="8514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p44"/>
          <p:cNvSpPr txBox="1"/>
          <p:nvPr/>
        </p:nvSpPr>
        <p:spPr>
          <a:xfrm>
            <a:off x="129025" y="129025"/>
            <a:ext cx="274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Modo StyleGAN</a:t>
            </a:r>
            <a:endParaRPr sz="2500" b="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67" name="Google Shape;267;p44"/>
          <p:cNvSpPr txBox="1"/>
          <p:nvPr/>
        </p:nvSpPr>
        <p:spPr>
          <a:xfrm>
            <a:off x="256225" y="922350"/>
            <a:ext cx="2984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 = rúido aleatório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W: segredo, é o vetor latente que vai guiar como a imagem deve ficar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8" name="Google Shape;268;p44"/>
          <p:cNvSpPr/>
          <p:nvPr/>
        </p:nvSpPr>
        <p:spPr>
          <a:xfrm>
            <a:off x="3240225" y="109350"/>
            <a:ext cx="1569600" cy="4924800"/>
          </a:xfrm>
          <a:prstGeom prst="rect">
            <a:avLst/>
          </a:prstGeom>
          <a:solidFill>
            <a:srgbClr val="000000">
              <a:alpha val="89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225" y="152400"/>
            <a:ext cx="554318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5"/>
          <p:cNvSpPr/>
          <p:nvPr/>
        </p:nvSpPr>
        <p:spPr>
          <a:xfrm>
            <a:off x="4945650" y="3535075"/>
            <a:ext cx="1118100" cy="8514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45"/>
          <p:cNvSpPr txBox="1"/>
          <p:nvPr/>
        </p:nvSpPr>
        <p:spPr>
          <a:xfrm>
            <a:off x="129025" y="129025"/>
            <a:ext cx="274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Modo StyleGAN</a:t>
            </a:r>
            <a:endParaRPr sz="2500" b="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76" name="Google Shape;276;p45"/>
          <p:cNvSpPr txBox="1"/>
          <p:nvPr/>
        </p:nvSpPr>
        <p:spPr>
          <a:xfrm>
            <a:off x="256225" y="922350"/>
            <a:ext cx="2984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vetor W: é passado por uma outra rede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A: calcula uma escala e viés para cada camada (aprendida pela rede neural)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45"/>
          <p:cNvSpPr/>
          <p:nvPr/>
        </p:nvSpPr>
        <p:spPr>
          <a:xfrm>
            <a:off x="3240225" y="109350"/>
            <a:ext cx="1569600" cy="4924800"/>
          </a:xfrm>
          <a:prstGeom prst="rect">
            <a:avLst/>
          </a:prstGeom>
          <a:solidFill>
            <a:srgbClr val="000000">
              <a:alpha val="89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45"/>
          <p:cNvSpPr/>
          <p:nvPr/>
        </p:nvSpPr>
        <p:spPr>
          <a:xfrm>
            <a:off x="25263" y="1247175"/>
            <a:ext cx="284375" cy="490250"/>
          </a:xfrm>
          <a:custGeom>
            <a:avLst/>
            <a:gdLst/>
            <a:ahLst/>
            <a:cxnLst/>
            <a:rect l="l" t="t" r="r" b="b"/>
            <a:pathLst>
              <a:path w="11375" h="19610" extrusionOk="0">
                <a:moveTo>
                  <a:pt x="10344" y="0"/>
                </a:moveTo>
                <a:cubicBezTo>
                  <a:pt x="8624" y="1090"/>
                  <a:pt x="-150" y="3269"/>
                  <a:pt x="22" y="6537"/>
                </a:cubicBezTo>
                <a:cubicBezTo>
                  <a:pt x="194" y="9805"/>
                  <a:pt x="9484" y="17431"/>
                  <a:pt x="11376" y="19610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79" name="Google Shape;279;p45"/>
          <p:cNvSpPr/>
          <p:nvPr/>
        </p:nvSpPr>
        <p:spPr>
          <a:xfrm>
            <a:off x="6347675" y="1016950"/>
            <a:ext cx="473100" cy="4452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225" y="152400"/>
            <a:ext cx="554318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6"/>
          <p:cNvSpPr txBox="1"/>
          <p:nvPr/>
        </p:nvSpPr>
        <p:spPr>
          <a:xfrm>
            <a:off x="129025" y="129025"/>
            <a:ext cx="274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Modo StyleGAN</a:t>
            </a:r>
            <a:endParaRPr sz="2500" b="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6" name="Google Shape;286;p46"/>
          <p:cNvSpPr txBox="1"/>
          <p:nvPr/>
        </p:nvSpPr>
        <p:spPr>
          <a:xfrm>
            <a:off x="256225" y="922350"/>
            <a:ext cx="29841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vetor W: é passado por uma outra rede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A: calcula uma escala e viés para cada camada (aprendida pela rede neural)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AdaIN: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Canais são normalizados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 seus pixels são normalizados pela escala  (   ) e o viés 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46"/>
          <p:cNvSpPr/>
          <p:nvPr/>
        </p:nvSpPr>
        <p:spPr>
          <a:xfrm>
            <a:off x="3240225" y="109350"/>
            <a:ext cx="1569600" cy="4924800"/>
          </a:xfrm>
          <a:prstGeom prst="rect">
            <a:avLst/>
          </a:prstGeom>
          <a:solidFill>
            <a:srgbClr val="000000">
              <a:alpha val="897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8" name="Google Shape;288;p46"/>
          <p:cNvSpPr/>
          <p:nvPr/>
        </p:nvSpPr>
        <p:spPr>
          <a:xfrm>
            <a:off x="7001375" y="1016950"/>
            <a:ext cx="765600" cy="4452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9" name="Google Shape;28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700" y="3029550"/>
            <a:ext cx="1672066" cy="49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738" y="4543413"/>
            <a:ext cx="25050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676" y="4244454"/>
            <a:ext cx="312250" cy="2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2614" y="4220754"/>
            <a:ext cx="238159" cy="21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950" y="152400"/>
            <a:ext cx="420062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7"/>
          <p:cNvSpPr txBox="1"/>
          <p:nvPr/>
        </p:nvSpPr>
        <p:spPr>
          <a:xfrm flipH="1">
            <a:off x="541725" y="180638"/>
            <a:ext cx="31224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Misturando estilos: 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usando w de duas imagens diferentes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9" name="Google Shape;299;p47"/>
          <p:cNvPicPr preferRelativeResize="0"/>
          <p:nvPr/>
        </p:nvPicPr>
        <p:blipFill rotWithShape="1">
          <a:blip r:embed="rId4">
            <a:alphaModFix/>
          </a:blip>
          <a:srcRect l="30299"/>
          <a:stretch/>
        </p:blipFill>
        <p:spPr>
          <a:xfrm>
            <a:off x="594313" y="1384850"/>
            <a:ext cx="2810826" cy="35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950" y="152400"/>
            <a:ext cx="420062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8"/>
          <p:cNvSpPr txBox="1"/>
          <p:nvPr/>
        </p:nvSpPr>
        <p:spPr>
          <a:xfrm flipH="1">
            <a:off x="541725" y="180638"/>
            <a:ext cx="31224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Misturando estilos: 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Estilo esparso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6" name="Google Shape;306;p48"/>
          <p:cNvPicPr preferRelativeResize="0"/>
          <p:nvPr/>
        </p:nvPicPr>
        <p:blipFill rotWithShape="1">
          <a:blip r:embed="rId4">
            <a:alphaModFix/>
          </a:blip>
          <a:srcRect l="30299"/>
          <a:stretch/>
        </p:blipFill>
        <p:spPr>
          <a:xfrm>
            <a:off x="594313" y="1384850"/>
            <a:ext cx="2810826" cy="35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8"/>
          <p:cNvSpPr/>
          <p:nvPr/>
        </p:nvSpPr>
        <p:spPr>
          <a:xfrm>
            <a:off x="1625600" y="2021250"/>
            <a:ext cx="585000" cy="8085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48"/>
          <p:cNvSpPr/>
          <p:nvPr/>
        </p:nvSpPr>
        <p:spPr>
          <a:xfrm>
            <a:off x="4237950" y="1255750"/>
            <a:ext cx="183000" cy="16857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09" name="Google Shape;309;p48"/>
          <p:cNvCxnSpPr>
            <a:stCxn id="307" idx="3"/>
            <a:endCxn id="308" idx="1"/>
          </p:cNvCxnSpPr>
          <p:nvPr/>
        </p:nvCxnSpPr>
        <p:spPr>
          <a:xfrm rot="10800000" flipH="1">
            <a:off x="2210600" y="2098500"/>
            <a:ext cx="2027400" cy="327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950" y="152400"/>
            <a:ext cx="420062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9"/>
          <p:cNvSpPr txBox="1"/>
          <p:nvPr/>
        </p:nvSpPr>
        <p:spPr>
          <a:xfrm flipH="1">
            <a:off x="541725" y="180638"/>
            <a:ext cx="31224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Misturando estilos: 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Estilo médio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6" name="Google Shape;316;p49"/>
          <p:cNvPicPr preferRelativeResize="0"/>
          <p:nvPr/>
        </p:nvPicPr>
        <p:blipFill rotWithShape="1">
          <a:blip r:embed="rId4">
            <a:alphaModFix/>
          </a:blip>
          <a:srcRect l="30299"/>
          <a:stretch/>
        </p:blipFill>
        <p:spPr>
          <a:xfrm>
            <a:off x="594313" y="1384850"/>
            <a:ext cx="2810826" cy="35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9"/>
          <p:cNvSpPr/>
          <p:nvPr/>
        </p:nvSpPr>
        <p:spPr>
          <a:xfrm>
            <a:off x="1565400" y="3543650"/>
            <a:ext cx="585000" cy="8085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8" name="Google Shape;318;p49"/>
          <p:cNvSpPr/>
          <p:nvPr/>
        </p:nvSpPr>
        <p:spPr>
          <a:xfrm>
            <a:off x="4237950" y="2950200"/>
            <a:ext cx="183000" cy="13587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9" name="Google Shape;319;p49"/>
          <p:cNvCxnSpPr>
            <a:stCxn id="317" idx="3"/>
            <a:endCxn id="318" idx="1"/>
          </p:cNvCxnSpPr>
          <p:nvPr/>
        </p:nvCxnSpPr>
        <p:spPr>
          <a:xfrm rot="10800000" flipH="1">
            <a:off x="2150400" y="3629600"/>
            <a:ext cx="2087700" cy="3183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950" y="152400"/>
            <a:ext cx="420062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50"/>
          <p:cNvSpPr txBox="1"/>
          <p:nvPr/>
        </p:nvSpPr>
        <p:spPr>
          <a:xfrm flipH="1">
            <a:off x="541725" y="180638"/>
            <a:ext cx="31224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Misturando estilos: 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Estilo fino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6" name="Google Shape;326;p50"/>
          <p:cNvPicPr preferRelativeResize="0"/>
          <p:nvPr/>
        </p:nvPicPr>
        <p:blipFill rotWithShape="1">
          <a:blip r:embed="rId4">
            <a:alphaModFix/>
          </a:blip>
          <a:srcRect l="30299"/>
          <a:stretch/>
        </p:blipFill>
        <p:spPr>
          <a:xfrm>
            <a:off x="594313" y="1384850"/>
            <a:ext cx="2810826" cy="35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0"/>
          <p:cNvSpPr/>
          <p:nvPr/>
        </p:nvSpPr>
        <p:spPr>
          <a:xfrm>
            <a:off x="1565400" y="4481175"/>
            <a:ext cx="585000" cy="8085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8" name="Google Shape;328;p50"/>
          <p:cNvSpPr/>
          <p:nvPr/>
        </p:nvSpPr>
        <p:spPr>
          <a:xfrm>
            <a:off x="4237950" y="4300575"/>
            <a:ext cx="183000" cy="690600"/>
          </a:xfrm>
          <a:prstGeom prst="rect">
            <a:avLst/>
          </a:prstGeom>
          <a:solidFill>
            <a:srgbClr val="359E45">
              <a:alpha val="303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29" name="Google Shape;329;p50"/>
          <p:cNvCxnSpPr>
            <a:stCxn id="327" idx="3"/>
            <a:endCxn id="328" idx="1"/>
          </p:cNvCxnSpPr>
          <p:nvPr/>
        </p:nvCxnSpPr>
        <p:spPr>
          <a:xfrm rot="10800000" flipH="1">
            <a:off x="2150400" y="4646025"/>
            <a:ext cx="2087700" cy="239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/>
          <p:nvPr/>
        </p:nvSpPr>
        <p:spPr>
          <a:xfrm>
            <a:off x="2487250" y="1340175"/>
            <a:ext cx="4757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https://colab.research.google.com/drive/1QuJJg5Jo2QbHeM2MX2rVgM5FjYw_6Hhh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>
            <a:spLocks noGrp="1"/>
          </p:cNvSpPr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Difusão estável (stable diffusion): uma outra abordagem</a:t>
            </a:r>
            <a:endParaRPr/>
          </a:p>
        </p:txBody>
      </p:sp>
      <p:sp>
        <p:nvSpPr>
          <p:cNvPr id="340" name="Google Shape;340;p52"/>
          <p:cNvSpPr txBox="1">
            <a:spLocks noGrp="1"/>
          </p:cNvSpPr>
          <p:nvPr>
            <p:ph type="body" idx="1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1" name="Google Shape;34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50" y="610383"/>
            <a:ext cx="4544348" cy="66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2544" y="491094"/>
            <a:ext cx="3198901" cy="9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50" y="465493"/>
            <a:ext cx="8141373" cy="11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3"/>
          <p:cNvSpPr txBox="1"/>
          <p:nvPr/>
        </p:nvSpPr>
        <p:spPr>
          <a:xfrm>
            <a:off x="376975" y="2009000"/>
            <a:ext cx="7761000" cy="11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Vamos começar com ruído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imagem vai passar diversas vezes pela rede neural, cada etapa vai retirar um pouco do ruído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onde vem?</a:t>
            </a:r>
            <a:endParaRPr/>
          </a:p>
        </p:txBody>
      </p:sp>
      <p:sp>
        <p:nvSpPr>
          <p:cNvPr id="354" name="Google Shape;354;p54"/>
          <p:cNvSpPr txBox="1">
            <a:spLocks noGrp="1"/>
          </p:cNvSpPr>
          <p:nvPr>
            <p:ph type="body" idx="1"/>
          </p:nvPr>
        </p:nvSpPr>
        <p:spPr>
          <a:xfrm>
            <a:off x="4165500" y="1369625"/>
            <a:ext cx="4377600" cy="3520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Os autoencoders são determinísticos</a:t>
            </a:r>
            <a:endParaRPr/>
          </a:p>
        </p:txBody>
      </p:sp>
      <p:pic>
        <p:nvPicPr>
          <p:cNvPr id="355" name="Google Shape;35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00" y="1290737"/>
            <a:ext cx="3531111" cy="378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>
            <a:spLocks noGrp="1"/>
          </p:cNvSpPr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361" name="Google Shape;361;p55"/>
          <p:cNvSpPr txBox="1">
            <a:spLocks noGrp="1"/>
          </p:cNvSpPr>
          <p:nvPr>
            <p:ph type="body" idx="1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Artigo Original das GANs  - Goodfellow et al., 2014: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https://arxiv.org/abs/1406.2661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TensorFlow Tutorials 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https://www.tensorflow.org/tutorials/generative/dcgan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HuggingFace GAN: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https://huggingface.co/learn/computer-vision-course/en/unit5/generative-models/gans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Apresentação na tela (16:9)</PresentationFormat>
  <Paragraphs>73</Paragraphs>
  <Slides>35</Slides>
  <Notes>35</Notes>
  <HiddenSlides>3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5" baseType="lpstr">
      <vt:lpstr>Arial</vt:lpstr>
      <vt:lpstr>Georgia</vt:lpstr>
      <vt:lpstr>Roboto</vt:lpstr>
      <vt:lpstr>EB Garamond</vt:lpstr>
      <vt:lpstr>Noto Sans Symbols</vt:lpstr>
      <vt:lpstr>Impact</vt:lpstr>
      <vt:lpstr>Century Gothic</vt:lpstr>
      <vt:lpstr>Oswald</vt:lpstr>
      <vt:lpstr>Open Sans</vt:lpstr>
      <vt:lpstr>Citável</vt:lpstr>
      <vt:lpstr>IAs Generativas: GAN ao StyleGAN</vt:lpstr>
      <vt:lpstr>Na aula passada</vt:lpstr>
      <vt:lpstr>Convolução transposta para aumentar matrizes</vt:lpstr>
      <vt:lpstr>GAN</vt:lpstr>
      <vt:lpstr>O que mais sobre GAN?</vt:lpstr>
      <vt:lpstr>O paper da GAN (Fev/2014)</vt:lpstr>
      <vt:lpstr>O paper da GAN (Fev/2014)</vt:lpstr>
      <vt:lpstr>GAN condicional: Nov/2014</vt:lpstr>
      <vt:lpstr>GAN condicional: Nov/2014</vt:lpstr>
      <vt:lpstr>Como estabilizar o treinamento (2016)</vt:lpstr>
      <vt:lpstr>Como estabilizar o treinamento (2016)</vt:lpstr>
      <vt:lpstr>Como estabilizar o treinamento (2016)</vt:lpstr>
      <vt:lpstr>Como estabilizar o treinamento (2016)</vt:lpstr>
      <vt:lpstr>Apresentação do PowerPoint</vt:lpstr>
      <vt:lpstr>Progressive Growing of GAN: crescimento progressivo do GAN  (2018)</vt:lpstr>
      <vt:lpstr>Progressive Growing of GAN: crescimento progressivo do GAN  (2018)</vt:lpstr>
      <vt:lpstr>Progressive Growing of GAN: crescimento progressivo do GAN  (2018)</vt:lpstr>
      <vt:lpstr>StyleGAN (2020)</vt:lpstr>
      <vt:lpstr>StyleGAN (2020)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Difusão estável (stable diffusion): uma outra abordagem</vt:lpstr>
      <vt:lpstr>Apresentação do PowerPoint</vt:lpstr>
      <vt:lpstr>De onde vem?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Caio Hamamura</cp:lastModifiedBy>
  <cp:revision>1</cp:revision>
  <dcterms:modified xsi:type="dcterms:W3CDTF">2026-07-06T18:48:16Z</dcterms:modified>
</cp:coreProperties>
</file>