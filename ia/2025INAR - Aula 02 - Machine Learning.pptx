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</p:sldIdLst>
  <p:sldSz cy="5143500" cx="9144000"/>
  <p:notesSz cx="6858000" cy="9144000"/>
  <p:embeddedFontLst>
    <p:embeddedFont>
      <p:font typeface="Roboto"/>
      <p:regular r:id="rId106"/>
      <p:bold r:id="rId107"/>
      <p:italic r:id="rId108"/>
      <p:boldItalic r:id="rId109"/>
    </p:embeddedFont>
    <p:embeddedFont>
      <p:font typeface="EB Garamond"/>
      <p:regular r:id="rId110"/>
      <p:bold r:id="rId111"/>
      <p:italic r:id="rId112"/>
      <p:boldItalic r:id="rId113"/>
    </p:embeddedFont>
    <p:embeddedFont>
      <p:font typeface="Century Gothic"/>
      <p:regular r:id="rId114"/>
      <p:bold r:id="rId115"/>
      <p:italic r:id="rId116"/>
      <p:boldItalic r:id="rId117"/>
    </p:embeddedFont>
    <p:embeddedFont>
      <p:font typeface="Open Sans"/>
      <p:regular r:id="rId118"/>
      <p:bold r:id="rId119"/>
      <p:italic r:id="rId120"/>
      <p:boldItalic r:id="rId1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B45FF4-3386-4E7A-84A1-796B9B40FB6F}">
  <a:tblStyle styleId="{40B45FF4-3386-4E7A-84A1-796B9B40FB6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Roboto-bold.fntdata"/><Relationship Id="rId106" Type="http://schemas.openxmlformats.org/officeDocument/2006/relationships/font" Target="fonts/Roboto-regular.fntdata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font" Target="fonts/Roboto-boldItalic.fntdata"/><Relationship Id="rId108" Type="http://schemas.openxmlformats.org/officeDocument/2006/relationships/font" Target="fonts/Roboto-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OpenSans-boldItalic.fntdata"/><Relationship Id="rId25" Type="http://schemas.openxmlformats.org/officeDocument/2006/relationships/slide" Target="slides/slide19.xml"/><Relationship Id="rId120" Type="http://schemas.openxmlformats.org/officeDocument/2006/relationships/font" Target="fonts/Open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OpenSans-regular.fntdata"/><Relationship Id="rId117" Type="http://schemas.openxmlformats.org/officeDocument/2006/relationships/font" Target="fonts/CenturyGothic-boldItalic.fntdata"/><Relationship Id="rId116" Type="http://schemas.openxmlformats.org/officeDocument/2006/relationships/font" Target="fonts/CenturyGothic-italic.fntdata"/><Relationship Id="rId115" Type="http://schemas.openxmlformats.org/officeDocument/2006/relationships/font" Target="fonts/CenturyGothic-bold.fntdata"/><Relationship Id="rId119" Type="http://schemas.openxmlformats.org/officeDocument/2006/relationships/font" Target="fonts/OpenSans-bold.fntdata"/><Relationship Id="rId15" Type="http://schemas.openxmlformats.org/officeDocument/2006/relationships/slide" Target="slides/slide9.xml"/><Relationship Id="rId110" Type="http://schemas.openxmlformats.org/officeDocument/2006/relationships/font" Target="fonts/EBGaramond-regular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CenturyGothic-regular.fntdata"/><Relationship Id="rId18" Type="http://schemas.openxmlformats.org/officeDocument/2006/relationships/slide" Target="slides/slide12.xml"/><Relationship Id="rId113" Type="http://schemas.openxmlformats.org/officeDocument/2006/relationships/font" Target="fonts/EBGaramond-boldItalic.fntdata"/><Relationship Id="rId112" Type="http://schemas.openxmlformats.org/officeDocument/2006/relationships/font" Target="fonts/EBGaramond-italic.fntdata"/><Relationship Id="rId111" Type="http://schemas.openxmlformats.org/officeDocument/2006/relationships/font" Target="fonts/EBGaramond-bold.fntdata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707a1b878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707a1b878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deab8a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deab8a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deab8ac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deab8ac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deab8ac5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deab8ac5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deab8ac5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deab8ac5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4b3e4db4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d4b3e4db4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4b3e4db4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4b3e4db4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4b3e4db4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d4b3e4db4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4b3e4db48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4b3e4db48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4c502f6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d4c502f6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4c502f6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d4c502f6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4c502f6b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4c502f6b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4c502f6b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d4c502f6b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4c502f6b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4c502f6b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4c502f6b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4c502f6b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4c502f6b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d4c502f6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d4c502f6b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d4c502f6b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d4c502f6b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d4c502f6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4c502f6b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4c502f6b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4c502f6b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d4c502f6b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4d07dbd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4d07dbd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0ed9020bf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0ed9020bf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ed9020b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0ed9020b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d4d4f14ce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d4d4f14ce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d4d4f14ce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d4d4f14ce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d4d4f14ce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d4d4f14ce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d4d4f14ce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d4d4f14ce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d4d4f14ce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d4d4f14ce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d4d4f14ce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d4d4f14ce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d4d4f14ce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d4d4f14ce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d4e15ab136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d4e15ab136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d4d4f14ce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d4d4f14ce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d4d4f14ce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d4d4f14ce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d4d4f14ce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d4d4f14ce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d4d4f14ce8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d4d4f14ce8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d4d4f14ce8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d4d4f14ce8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d4d4f14ce8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d4d4f14ce8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d4d4f14ce8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d4d4f14ce8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d4d4f14ce8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d4d4f14ce8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d4d4f14ce8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d4d4f14ce8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d4d4f14ce8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d4d4f14ce8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d4d4f14ce8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d4d4f14ce8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d4d4f14ce8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d4d4f14ce8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d4d4f14ce8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d4d4f14ce8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d4d4f14ce8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d4d4f14ce8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d4d4f14ce8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d4d4f14ce8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d4d4f14ce8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d4d4f14ce8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d4d4f14ce8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d4d4f14ce8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d4d4f14ce8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d4d4f14ce8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d4d4f14ce8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d4d4f14ce8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d4d4f14ce8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d4d4f14ce8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d4d4f14ce8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d4d4f14ce8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2d4d4f14ce8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2d4d4f14ce8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d4d4f14ce8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2d4d4f14ce8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d4d4f14ce8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d4d4f14ce8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d4d4f14ce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d4d4f14ce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d4e15ab136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d4e15ab136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d4e15ab13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d4e15ab13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d4e15ab136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d4e15ab13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d4e15ab136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d4e15ab136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d4d4f14ce8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d4d4f14ce8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d4d4f14ce8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d4d4f14ce8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d4d4f14ce8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d4d4f14ce8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d4d4f14ce8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d4d4f14ce8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d4d4f14ce8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d4d4f14ce8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d4d4f14ce8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d4d4f14ce8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d4d4f14ce8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d4d4f14ce8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d4d4f14ce8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d4d4f14ce8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d4d4f14ce8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d4d4f14ce8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d4d8960e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d4d8960e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d4d8960ed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d4d8960ed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d4d8960ed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d4d8960ed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d4d8960ed3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d4d8960ed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d4d8960ed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d4d8960ed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d4d8960ed3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d4d8960ed3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d4d8960ed3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d4d8960ed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d4d8960ed3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d4d8960ed3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d4d8960ed3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d4d8960ed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d4d8960ed3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d4d8960ed3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d4d8960ed3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d4d8960ed3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d4d8960ed3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d4d8960ed3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d4d8960ed3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d4d8960ed3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d4d8960ed3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d4d8960ed3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d4d8960ed3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d4d8960ed3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d4e15ab13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d4e15ab13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d4e15ab13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d4e15ab13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d4e15ab13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d4e15ab13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d4e15ab13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d4e15ab13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d4e15ab136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d4e15ab136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d4e15ab136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d4e15ab136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d4e15ab136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d4e15ab136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d4e15ab136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d4e15ab136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2d4e15ab136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d4e15ab136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d4e15ab136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d4e15ab136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2d4e15ab136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2d4e15ab136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63e962913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363e96291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d4d4f14ce8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d4d4f14ce8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d48dcc5c9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d48dcc5c9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-2381"/>
            <a:ext cx="9144000" cy="3902869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7501" y="1086860"/>
            <a:ext cx="7929000" cy="222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Roboto"/>
              <a:buNone/>
              <a:defRPr b="0" sz="41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225" y="3843125"/>
            <a:ext cx="3110024" cy="1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EB Garamond"/>
              <a:buChar char="■"/>
              <a:defRPr sz="15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 sz="14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 sz="14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numerada">
  <p:cSld name="OBJECT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607500" y="167975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607500" y="155510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7500" y="2258791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7500" y="2962479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7500" y="3666166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07500" y="436985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75175" y="15550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75175" y="22587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75175" y="29624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75175" y="36661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75175" y="43698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1"/>
            <a:ext cx="9144000" cy="3902869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Roboto"/>
              <a:buNone/>
              <a:defRPr b="0" sz="3600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09450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794225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artes de Conteúdo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22085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26310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265925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04875" y="334571"/>
            <a:ext cx="2660653" cy="86285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04875" y="334575"/>
            <a:ext cx="2660700" cy="684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Font typeface="Open Sans"/>
              <a:buNone/>
              <a:defRPr b="1" sz="15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641725" y="334566"/>
            <a:ext cx="4689600" cy="406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04863" y="1695553"/>
            <a:ext cx="2660700" cy="270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11046" y="545642"/>
            <a:ext cx="3639600" cy="1212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4573588" y="0"/>
            <a:ext cx="4570500" cy="5143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11046" y="1758513"/>
            <a:ext cx="3639600" cy="263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07500" y="3600450"/>
            <a:ext cx="7921200" cy="42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0" y="0"/>
            <a:ext cx="9144000" cy="36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07500" y="4025504"/>
            <a:ext cx="7921200" cy="37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3773" y="811092"/>
            <a:ext cx="4749309" cy="242938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638239" y="928876"/>
            <a:ext cx="4420500" cy="198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Open Sans"/>
              <a:buNone/>
              <a:defRPr b="1" sz="3200" cap="none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39900" y="3332730"/>
            <a:ext cx="4418700" cy="160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5680982" y="811092"/>
            <a:ext cx="2857500" cy="3056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855663" y="1714939"/>
            <a:ext cx="3671335" cy="187797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017817" y="1826968"/>
            <a:ext cx="3286800" cy="150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Open Sans"/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617000" y="1714500"/>
            <a:ext cx="3660300" cy="172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1639491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3190864" y="-944999"/>
            <a:ext cx="2755800" cy="7922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752238" y="334567"/>
            <a:ext cx="3391764" cy="4061221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5147648" y="1429628"/>
            <a:ext cx="3851100" cy="187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1056256" y="-114233"/>
            <a:ext cx="4061100" cy="495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9300" y="923875"/>
            <a:ext cx="8821500" cy="385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EB Garamond"/>
              <a:buChar char="○"/>
              <a:defRPr sz="19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EB Garamond"/>
              <a:buChar char="■"/>
              <a:defRPr sz="18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93" name="Google Shape;93;p18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?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200"/>
              <a:buChar char="?"/>
              <a:defRPr sz="12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Century Gothic"/>
              <a:buNone/>
              <a:defRPr b="1" i="0" sz="3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7500" y="1638301"/>
            <a:ext cx="7922400" cy="27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🞆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49.png"/><Relationship Id="rId6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png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7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/Relationships>
</file>

<file path=ppt/slides/_rels/slide51.xml.rels><?xml version="1.0" encoding="UTF-8" standalone="yes"?><Relationships xmlns="http://schemas.openxmlformats.org/package/2006/relationships"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8.png"/><Relationship Id="rId7" Type="http://schemas.openxmlformats.org/officeDocument/2006/relationships/image" Target="../media/image54.png"/><Relationship Id="rId8" Type="http://schemas.openxmlformats.org/officeDocument/2006/relationships/image" Target="../media/image3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png"/><Relationship Id="rId4" Type="http://schemas.openxmlformats.org/officeDocument/2006/relationships/image" Target="../media/image7.png"/><Relationship Id="rId5" Type="http://schemas.openxmlformats.org/officeDocument/2006/relationships/image" Target="../media/image32.png"/><Relationship Id="rId6" Type="http://schemas.openxmlformats.org/officeDocument/2006/relationships/image" Target="../media/image53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3.png"/><Relationship Id="rId4" Type="http://schemas.openxmlformats.org/officeDocument/2006/relationships/image" Target="../media/image55.png"/><Relationship Id="rId9" Type="http://schemas.openxmlformats.org/officeDocument/2006/relationships/image" Target="../media/image26.png"/><Relationship Id="rId5" Type="http://schemas.openxmlformats.org/officeDocument/2006/relationships/image" Target="../media/image45.png"/><Relationship Id="rId6" Type="http://schemas.openxmlformats.org/officeDocument/2006/relationships/image" Target="../media/image37.png"/><Relationship Id="rId7" Type="http://schemas.openxmlformats.org/officeDocument/2006/relationships/image" Target="../media/image53.png"/><Relationship Id="rId8" Type="http://schemas.openxmlformats.org/officeDocument/2006/relationships/image" Target="../media/image3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40.png"/><Relationship Id="rId8" Type="http://schemas.openxmlformats.org/officeDocument/2006/relationships/image" Target="../media/image4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8.png"/><Relationship Id="rId4" Type="http://schemas.openxmlformats.org/officeDocument/2006/relationships/image" Target="../media/image4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png"/><Relationship Id="rId4" Type="http://schemas.openxmlformats.org/officeDocument/2006/relationships/image" Target="../media/image4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8.png"/><Relationship Id="rId4" Type="http://schemas.openxmlformats.org/officeDocument/2006/relationships/image" Target="../media/image4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Relationship Id="rId9" Type="http://schemas.openxmlformats.org/officeDocument/2006/relationships/image" Target="../media/image56.png"/><Relationship Id="rId5" Type="http://schemas.openxmlformats.org/officeDocument/2006/relationships/image" Target="../media/image61.png"/><Relationship Id="rId6" Type="http://schemas.openxmlformats.org/officeDocument/2006/relationships/image" Target="../media/image47.png"/><Relationship Id="rId7" Type="http://schemas.openxmlformats.org/officeDocument/2006/relationships/image" Target="../media/image62.png"/><Relationship Id="rId8" Type="http://schemas.openxmlformats.org/officeDocument/2006/relationships/image" Target="../media/image5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www.kaggle.com/datasets/johnsmith88/heart-disease-dataset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www.kaggle.com/datasets/johnsmith88/heart-disease-dataset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www.kaggle.com/datasets/johnsmith88/heart-disease-dataset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www.kaggle.com/datasets/johnsmith88/heart-disease-dataset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www.kaggle.com/datasets/johnsmith88/heart-disease-dataset" TargetMode="Externa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hyperlink" Target="https://www.kaggle.com/datasets/johnsmith88/heart-disease-dataset" TargetMode="Externa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hyperlink" Target="https://www.kaggle.com/datasets/johnsmith88/heart-disease-dataset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8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1.png"/><Relationship Id="rId4" Type="http://schemas.openxmlformats.org/officeDocument/2006/relationships/image" Target="../media/image5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1.png"/><Relationship Id="rId4" Type="http://schemas.openxmlformats.org/officeDocument/2006/relationships/image" Target="../media/image5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0.png"/><Relationship Id="rId4" Type="http://schemas.openxmlformats.org/officeDocument/2006/relationships/image" Target="../media/image6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.png"/><Relationship Id="rId4" Type="http://schemas.openxmlformats.org/officeDocument/2006/relationships/image" Target="../media/image65.png"/><Relationship Id="rId5" Type="http://schemas.openxmlformats.org/officeDocument/2006/relationships/image" Target="../media/image7.png"/><Relationship Id="rId6" Type="http://schemas.openxmlformats.org/officeDocument/2006/relationships/image" Target="../media/image67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43.png"/><Relationship Id="rId4" Type="http://schemas.openxmlformats.org/officeDocument/2006/relationships/image" Target="../media/image59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3.png"/><Relationship Id="rId4" Type="http://schemas.openxmlformats.org/officeDocument/2006/relationships/image" Target="../media/image59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3.png"/><Relationship Id="rId4" Type="http://schemas.openxmlformats.org/officeDocument/2006/relationships/image" Target="../media/image70.png"/><Relationship Id="rId5" Type="http://schemas.openxmlformats.org/officeDocument/2006/relationships/image" Target="../media/image69.png"/><Relationship Id="rId6" Type="http://schemas.openxmlformats.org/officeDocument/2006/relationships/image" Target="../media/image66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3.png"/><Relationship Id="rId4" Type="http://schemas.openxmlformats.org/officeDocument/2006/relationships/image" Target="../media/image70.png"/><Relationship Id="rId5" Type="http://schemas.openxmlformats.org/officeDocument/2006/relationships/image" Target="../media/image69.png"/><Relationship Id="rId6" Type="http://schemas.openxmlformats.org/officeDocument/2006/relationships/image" Target="../media/image66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hyperlink" Target="https://colab.research.google.com/drive/1tC__qZFGiXhd1ciCvbrxgyG-Hf3hOzPD#scrollTo=RfzgPu96RuLN" TargetMode="Externa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hyperlink" Target="https://docs.google.com/spreadsheets/d/17YQwqcjT9LXReF5_R630B75kYSxBKl3J9rsS5zxwbCI/edit?gid=2087758509#gid=2087758509" TargetMode="External"/><Relationship Id="rId4" Type="http://schemas.openxmlformats.org/officeDocument/2006/relationships/hyperlink" Target="https://www.kaggle.com/datasets/johnsmith88/heart-disease-dataset" TargetMode="Externa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hyperlink" Target="https://spectrum.ieee.org/dartmouth-ai-workshop" TargetMode="External"/><Relationship Id="rId4" Type="http://schemas.openxmlformats.org/officeDocument/2006/relationships/hyperlink" Target="https://www.cantorsparadise.org/the-birthplace-of-ai-9ab7d4e5fb00/" TargetMode="External"/><Relationship Id="rId5" Type="http://schemas.openxmlformats.org/officeDocument/2006/relationships/hyperlink" Target="https://www.youtube.com/watch?v=a0_lo_GDcFw&amp;t=315s" TargetMode="External"/><Relationship Id="rId6" Type="http://schemas.openxmlformats.org/officeDocument/2006/relationships/hyperlink" Target="https://timeline.historyofdatascience.com/" TargetMode="External"/><Relationship Id="rId7" Type="http://schemas.openxmlformats.org/officeDocument/2006/relationships/hyperlink" Target="https://github.com/fastai/fastbook/blob/master/01_intro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Regressão Logística</a:t>
            </a:r>
            <a:endParaRPr sz="3900"/>
          </a:p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02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125" y="210850"/>
            <a:ext cx="3493651" cy="174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Aprendizado de máquina (</a:t>
            </a:r>
            <a:r>
              <a:rPr i="1" lang="en" sz="3900"/>
              <a:t>machine learning</a:t>
            </a:r>
            <a:r>
              <a:rPr lang="en" sz="3900"/>
              <a:t>)</a:t>
            </a:r>
            <a:endParaRPr sz="3900"/>
          </a:p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02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125" y="210850"/>
            <a:ext cx="3493651" cy="174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aula passada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Inteligência artificial fraca e forte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Diversas aplicações de inteligência artificial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Histórico da inteligência artificial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Aplicação prática com Teachable Machine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Histórico da Inteligência Artificial</a:t>
            </a:r>
            <a:endParaRPr/>
          </a:p>
        </p:txBody>
      </p:sp>
      <p:cxnSp>
        <p:nvCxnSpPr>
          <p:cNvPr id="127" name="Google Shape;127;p24"/>
          <p:cNvCxnSpPr/>
          <p:nvPr/>
        </p:nvCxnSpPr>
        <p:spPr>
          <a:xfrm>
            <a:off x="558600" y="4578750"/>
            <a:ext cx="8171100" cy="3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4"/>
          <p:cNvCxnSpPr/>
          <p:nvPr/>
        </p:nvCxnSpPr>
        <p:spPr>
          <a:xfrm rot="10800000">
            <a:off x="886175" y="4437150"/>
            <a:ext cx="0" cy="14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4"/>
          <p:cNvCxnSpPr>
            <a:endCxn id="130" idx="2"/>
          </p:cNvCxnSpPr>
          <p:nvPr/>
        </p:nvCxnSpPr>
        <p:spPr>
          <a:xfrm rot="10800000">
            <a:off x="1373075" y="3533225"/>
            <a:ext cx="0" cy="1045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4"/>
          <p:cNvCxnSpPr>
            <a:endCxn id="132" idx="2"/>
          </p:cNvCxnSpPr>
          <p:nvPr/>
        </p:nvCxnSpPr>
        <p:spPr>
          <a:xfrm rot="10800000">
            <a:off x="8536500" y="4383100"/>
            <a:ext cx="0" cy="195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4"/>
          <p:cNvSpPr txBox="1"/>
          <p:nvPr/>
        </p:nvSpPr>
        <p:spPr>
          <a:xfrm>
            <a:off x="660625" y="4578750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1956 1957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200075" y="3815625"/>
            <a:ext cx="13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Conferência</a:t>
            </a:r>
            <a:b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Dartmouth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686975" y="3010025"/>
            <a:ext cx="13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 I Perceptron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7850400" y="3859900"/>
            <a:ext cx="13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Redes Neurais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Imagens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8234325" y="4614200"/>
            <a:ext cx="6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2010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Histórico da Inteligência Artificial</a:t>
            </a:r>
            <a:endParaRPr/>
          </a:p>
        </p:txBody>
      </p:sp>
      <p:cxnSp>
        <p:nvCxnSpPr>
          <p:cNvPr id="141" name="Google Shape;141;p25"/>
          <p:cNvCxnSpPr/>
          <p:nvPr/>
        </p:nvCxnSpPr>
        <p:spPr>
          <a:xfrm>
            <a:off x="558600" y="4578750"/>
            <a:ext cx="8171100" cy="3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5"/>
          <p:cNvCxnSpPr/>
          <p:nvPr/>
        </p:nvCxnSpPr>
        <p:spPr>
          <a:xfrm rot="10800000">
            <a:off x="886175" y="4437150"/>
            <a:ext cx="0" cy="14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5"/>
          <p:cNvCxnSpPr>
            <a:endCxn id="144" idx="2"/>
          </p:cNvCxnSpPr>
          <p:nvPr/>
        </p:nvCxnSpPr>
        <p:spPr>
          <a:xfrm rot="10800000">
            <a:off x="1373075" y="3533225"/>
            <a:ext cx="0" cy="1045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5"/>
          <p:cNvCxnSpPr>
            <a:endCxn id="146" idx="2"/>
          </p:cNvCxnSpPr>
          <p:nvPr/>
        </p:nvCxnSpPr>
        <p:spPr>
          <a:xfrm rot="10800000">
            <a:off x="8536500" y="4383100"/>
            <a:ext cx="0" cy="195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5"/>
          <p:cNvSpPr txBox="1"/>
          <p:nvPr/>
        </p:nvSpPr>
        <p:spPr>
          <a:xfrm>
            <a:off x="660625" y="4578750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1956 1957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200075" y="3815625"/>
            <a:ext cx="13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Conferência</a:t>
            </a:r>
            <a:b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Dartmouth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686975" y="3010025"/>
            <a:ext cx="13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 I Perceptron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7850400" y="3859900"/>
            <a:ext cx="13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Redes Neurais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Deep Learning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8234325" y="4614200"/>
            <a:ext cx="6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2010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0" name="Google Shape;150;p25"/>
          <p:cNvCxnSpPr/>
          <p:nvPr/>
        </p:nvCxnSpPr>
        <p:spPr>
          <a:xfrm rot="10800000">
            <a:off x="5969175" y="4383100"/>
            <a:ext cx="0" cy="195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5"/>
          <p:cNvSpPr txBox="1"/>
          <p:nvPr/>
        </p:nvSpPr>
        <p:spPr>
          <a:xfrm>
            <a:off x="5666025" y="4614200"/>
            <a:ext cx="6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1990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5005700" y="3426025"/>
            <a:ext cx="192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Aprendizado de Máquina</a:t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Aprendizado de Máquina (AM)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Subárea da inteligência artificial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Aprender com os dados anteriores para fazer predições ou decisões sem necessidade de </a:t>
            </a:r>
            <a:r>
              <a:rPr lang="en"/>
              <a:t>criar um </a:t>
            </a:r>
            <a:r>
              <a:rPr lang="en"/>
              <a:t>programa específico para isso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Década de 1990 e 2000: os dados na maioria eram em formato de tabela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Exemplo:</a:t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8075" y="3080850"/>
            <a:ext cx="5061050" cy="19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Usos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614025" y="1369625"/>
            <a:ext cx="7929000" cy="364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Detecção de fraude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1000"/>
              </a:spcAft>
              <a:buSzPts val="2100"/>
              <a:buChar char="●"/>
            </a:pPr>
            <a:r>
              <a:rPr lang="en"/>
              <a:t>Detecção de SPAM (e-mail)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614025" y="1369625"/>
            <a:ext cx="7929000" cy="355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Existem dois tipos principais de aprendizado de máquina: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Classificação: ex. baseado em dados do paciente quero prever o risco de ele ter um ataque cardíaco (classe: alto ou baixo)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Regressão: ex. baseado em dados de imóveis, quero prever o preço de mercado (um número: preço)</a:t>
            </a:r>
            <a:endParaRPr/>
          </a:p>
        </p:txBody>
      </p:sp>
      <p:sp>
        <p:nvSpPr>
          <p:cNvPr id="171" name="Google Shape;171;p2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Quando Uso o Aprendizado de Máquina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aprendizado de máquina?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614025" y="1369625"/>
            <a:ext cx="79290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</a:t>
            </a:r>
            <a:r>
              <a:rPr lang="en" sz="2400"/>
              <a:t>Definição do problema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</a:t>
            </a:r>
            <a:r>
              <a:rPr lang="en" sz="2400"/>
              <a:t>Coleta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</a:t>
            </a:r>
            <a:r>
              <a:rPr lang="en" sz="2400"/>
              <a:t>T</a:t>
            </a:r>
            <a:r>
              <a:rPr lang="en" sz="2400"/>
              <a:t>ratamento de</a:t>
            </a:r>
            <a:r>
              <a:rPr lang="en" sz="2400"/>
              <a:t>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</a:t>
            </a:r>
            <a:r>
              <a:rPr lang="en" sz="2400"/>
              <a:t>Seleção de vari</a:t>
            </a:r>
            <a:r>
              <a:rPr lang="en" sz="2400"/>
              <a:t>áveis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🤖Escolha e treinamento do modelo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🎯Validação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👩🏻‍🔬Teste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🤔Definição do problema </a:t>
            </a:r>
            <a:endParaRPr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Qual problema queremos resolver?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Qual a melhor maneira de resolver isso?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Existe alguma forma já bem estabelecida de resolver isso?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Qual a natureza das informações que podemos obter?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Como e onde podemos obter os dados?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1000"/>
              </a:spcAft>
              <a:buSzPts val="2100"/>
              <a:buChar char="●"/>
            </a:pPr>
            <a:r>
              <a:rPr lang="en"/>
              <a:t>Precisamos medir? Fazer experimentos?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⛏️Coleta de dados</a:t>
            </a:r>
            <a:endParaRPr/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É possível coletar dados sobre isso em bases já disponíveis?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Kaggle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Huggingface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IBGE (SIDRA)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INMET (dados climáticos)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Precisa coletar dados você mesmo?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Experimento: delineamento experimental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en"/>
              <a:t>Observação: planejamento da coleta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⛏️Coleta de dados</a:t>
            </a:r>
            <a:endParaRPr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Se for planejar ou delinear experimento para aprendizado de máquina: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Amostrar o máximo todas as diferentes condições possíveis;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Ex: pequeno, médio, grande. Para pessoas: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Várias faixas etárias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Hábitos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Culturas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Crenças religiosas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Etnias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Fotos de dia e noite, ensolarado, diferentes iluminações, etc..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📊Tratamento de dados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Analisar e filtrar/corrigir dados problemáticos: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Tabela com dados faltantes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Dados fora do padrão (erro de digitação? Número fora da realidade?)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O que fazer?A</a:t>
            </a:r>
            <a:r>
              <a:rPr lang="en" sz="1800"/>
              <a:t>dicionar valores padrões [imputar]? Média? Remover linha? Desconsiderar só </a:t>
            </a:r>
            <a:r>
              <a:rPr lang="en"/>
              <a:t>esse dado</a:t>
            </a:r>
            <a:r>
              <a:rPr lang="en" sz="1800"/>
              <a:t>?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Transformação dos dados: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Alguns modelos de aprendizado de máquina precisam que os dados estejam sigam um padrão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AutoNum type="alphaLcPeriod"/>
            </a:pPr>
            <a:r>
              <a:rPr lang="en"/>
              <a:t>Podemos transformar os dados para que sigam os padrões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614025" y="1369625"/>
            <a:ext cx="7929000" cy="362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Podemos ter variáveis que podem não ser úteis para predizer algo, algumas são claras, como número da linha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Mas algumas variáveis podem não ser úteis porque já tem outra que mostra a mesma coisa (correlacionadas):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Temperatura corporal e febre (melhor usar temperatura que é mais exato)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Outra variáveis podem ser válidas, mas não ter nada a ver com o que queremos descobrir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en"/>
              <a:t>Quero predizer preço de venda da casa: variável número da </a:t>
            </a:r>
            <a:r>
              <a:rPr lang="en"/>
              <a:t>casa provavelmente não relação alguma</a:t>
            </a:r>
            <a:endParaRPr/>
          </a:p>
        </p:txBody>
      </p:sp>
      <p:sp>
        <p:nvSpPr>
          <p:cNvPr id="207" name="Google Shape;207;p3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🔎Seleção de variáveis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➗Divisão dos dados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b="1" lang="en">
                <a:solidFill>
                  <a:schemeClr val="accent5"/>
                </a:solidFill>
              </a:rPr>
              <a:t>Treinamento</a:t>
            </a:r>
            <a:r>
              <a:rPr lang="en"/>
              <a:t> (70-80%): dados que vão ser usados para treinar o modelo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b="1" lang="en">
                <a:solidFill>
                  <a:schemeClr val="accent2"/>
                </a:solidFill>
              </a:rPr>
              <a:t>Validação</a:t>
            </a:r>
            <a:r>
              <a:rPr lang="en"/>
              <a:t> (10-15%): dados que vão ser usados para saber quando parar de treinar o modelo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b="1" lang="en">
                <a:solidFill>
                  <a:srgbClr val="4A86E8"/>
                </a:solidFill>
              </a:rPr>
              <a:t>Teste</a:t>
            </a:r>
            <a:r>
              <a:rPr lang="en"/>
              <a:t> (10-15%)</a:t>
            </a:r>
            <a:r>
              <a:rPr lang="en"/>
              <a:t>: dados que vão ser usados para verificar a qualidade do modelo final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Um dado só vai aparecer em um dos três, ele não pode repetir, porque queremos que o modelo saiba identificar as </a:t>
            </a:r>
            <a:r>
              <a:rPr b="1" lang="en"/>
              <a:t>amostras de teste</a:t>
            </a:r>
            <a:r>
              <a:rPr lang="en"/>
              <a:t> (que nunca foram vistas antes) para garantir que ele é bom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🤖Escolha do modelo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Dependendo do que queremos podemos selecionar alguns modelos: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Queremos entender o problema e do que ele depende? (modelos estatísticos,  floresta aleatória e XGBoost mostram com clareza as variáveis mais importantes)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         melhores resultados em dados tabulares: floresta aleatória e </a:t>
            </a:r>
            <a:r>
              <a:rPr lang="en"/>
              <a:t>XGB</a:t>
            </a:r>
            <a:r>
              <a:rPr lang="en"/>
              <a:t>oost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🖼️🎥🔊</a:t>
            </a:r>
            <a:r>
              <a:rPr lang="en"/>
              <a:t>  melhores resultados em dados complexos: aprendizado profundo (redes neurais artificiais)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074" y="2807849"/>
            <a:ext cx="275825" cy="2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🤖Treinamento do modelo</a:t>
            </a:r>
            <a:endParaRPr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Treinar o modelo é mostrar dados de exemplo das amostras de teste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Cada modelo tem um jeito particular de aprender, mas todos estão sujeitos a alguns efeitos podem atrapalhar o resultado final: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Amostragem ruim: não amostrar a diversidade, mostrar conjunto de dados que não representam a realidade. Modelo vai aprender “errado”.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Subajuste: não treinar ou não aprender o suficiente sobre os dados mostrados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Sobreajuste: o modelo </a:t>
            </a:r>
            <a:r>
              <a:rPr lang="en"/>
              <a:t>foi treinado demais nos dados mostrados, fica “viciado” neles e só consegue gerar predições precisas para os dados em que foi treinado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🎯Validação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 validação é justamente para sabermos quando parar de treinar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Toda vez que eu treino o modelo, eu verifico a qualidade do resultado contra o conjunto validação. Quando a validação começar a piorar é hora de parar de treinar.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👩🏻‍🔬Teste</a:t>
            </a:r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 teste é o resultado final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 avaliação pode ser feita de diversas maneiras, dependendo do tipo de predição que queremos fazer: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Classificação: mais usado acurácia geral (porcentagem classificado certo em relação ao total), kappa, F1-score, sensibilidade/especificidade, acurácia do produtor e acurácia do usuário ou erros de inclusão e omissão, etc.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Regressão: erro médio quadrático (RMSE), erro absoluto médio (MAE), R²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</a:t>
            </a:r>
            <a:r>
              <a:rPr lang="en"/>
              <a:t>ão logística: u</a:t>
            </a:r>
            <a:r>
              <a:rPr lang="en"/>
              <a:t>m modelo estatístico utilizado dentro da aprendizagem de m</a:t>
            </a:r>
            <a:r>
              <a:rPr lang="en"/>
              <a:t>áquina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Aplicação prática com modelo de regressão logística</a:t>
            </a:r>
            <a:endParaRPr/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614025" y="1369625"/>
            <a:ext cx="7929000" cy="365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 regressão logística aceita múltiplas variáveis e sua saída são valores entre [0, 1], isto é pode ser interpretada como sim (1) e não (0).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No aprendizado de m</a:t>
            </a:r>
            <a:r>
              <a:rPr lang="en"/>
              <a:t>áquina é usada para classificar entre SIM/NÃO ou descobrir qual a probabilidade de...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Um e-mail ser spam ou não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Paciente ter ou não uma doença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Ela é calculada rapidamente, e tem sido amplamente usada desde meados de 1970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</a:t>
            </a:r>
            <a:r>
              <a:rPr lang="en"/>
              <a:t>ão logística</a:t>
            </a:r>
            <a:endParaRPr/>
          </a:p>
        </p:txBody>
      </p:sp>
      <p:sp>
        <p:nvSpPr>
          <p:cNvPr id="256" name="Google Shape;256;p42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Função sigmóide</a:t>
            </a:r>
            <a:endParaRPr/>
          </a:p>
        </p:txBody>
      </p:sp>
      <p:pic>
        <p:nvPicPr>
          <p:cNvPr id="257" name="Google Shape;25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050" y="1114900"/>
            <a:ext cx="3806550" cy="402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Regressão logística</a:t>
            </a:r>
            <a:endParaRPr/>
          </a:p>
        </p:txBody>
      </p:sp>
      <p:sp>
        <p:nvSpPr>
          <p:cNvPr id="263" name="Google Shape;263;p4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 ideia </a:t>
            </a:r>
            <a:r>
              <a:rPr lang="en"/>
              <a:t>é que em vez de </a:t>
            </a:r>
            <a:r>
              <a:rPr b="1" lang="en"/>
              <a:t>x </a:t>
            </a:r>
            <a:r>
              <a:rPr lang="en"/>
              <a:t>ser uma única variável, vamos somar todas as variáveis  dando um peso (w de </a:t>
            </a:r>
            <a:r>
              <a:rPr i="1" lang="en"/>
              <a:t>weight</a:t>
            </a:r>
            <a:r>
              <a:rPr lang="en"/>
              <a:t> em inglês) para cada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 que a regressão precisa aprender é como escolher os pesos w1, w2, w3... que multiplicam para chegar mais próximo do resultado de 0 a 1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Ou pode ser uma fração se tiver tentando predizer uma porcentagem.</a:t>
            </a:r>
            <a:endParaRPr/>
          </a:p>
        </p:txBody>
      </p:sp>
      <p:grpSp>
        <p:nvGrpSpPr>
          <p:cNvPr id="264" name="Google Shape;264;p43"/>
          <p:cNvGrpSpPr/>
          <p:nvPr/>
        </p:nvGrpSpPr>
        <p:grpSpPr>
          <a:xfrm>
            <a:off x="1596625" y="2502950"/>
            <a:ext cx="5409000" cy="526200"/>
            <a:chOff x="1596625" y="2502950"/>
            <a:chExt cx="5409000" cy="526200"/>
          </a:xfrm>
        </p:grpSpPr>
        <p:sp>
          <p:nvSpPr>
            <p:cNvPr id="265" name="Google Shape;265;p43"/>
            <p:cNvSpPr/>
            <p:nvPr/>
          </p:nvSpPr>
          <p:spPr>
            <a:xfrm>
              <a:off x="1596625" y="2502950"/>
              <a:ext cx="5409000" cy="5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266" name="Google Shape;26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66042" y="2643451"/>
              <a:ext cx="5089524" cy="263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43"/>
          <p:cNvPicPr preferRelativeResize="0"/>
          <p:nvPr/>
        </p:nvPicPr>
        <p:blipFill rotWithShape="1">
          <a:blip r:embed="rId4">
            <a:alphaModFix/>
          </a:blip>
          <a:srcRect b="69480" l="23165" r="26355" t="13391"/>
          <a:stretch/>
        </p:blipFill>
        <p:spPr>
          <a:xfrm>
            <a:off x="6978325" y="183525"/>
            <a:ext cx="1921500" cy="69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</a:t>
            </a:r>
            <a:r>
              <a:rPr lang="en"/>
              <a:t>ão logística</a:t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560900" y="1413050"/>
            <a:ext cx="7929000" cy="358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solidFill>
                  <a:schemeClr val="dk1"/>
                </a:solidFill>
              </a:rPr>
              <a:t>Como a regressão aprende?</a:t>
            </a:r>
            <a:endParaRPr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solidFill>
                  <a:schemeClr val="dk1"/>
                </a:solidFill>
              </a:rPr>
              <a:t>Vamos usar um algoritmo denominado gradiente descendente (</a:t>
            </a:r>
            <a:r>
              <a:rPr i="1" lang="en">
                <a:solidFill>
                  <a:schemeClr val="dk1"/>
                </a:solidFill>
              </a:rPr>
              <a:t>g</a:t>
            </a:r>
            <a:r>
              <a:rPr i="1" lang="en">
                <a:solidFill>
                  <a:schemeClr val="dk1"/>
                </a:solidFill>
              </a:rPr>
              <a:t>radient descent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4" name="Google Shape;2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044" y="2571750"/>
            <a:ext cx="3315625" cy="248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4"/>
          <p:cNvSpPr txBox="1"/>
          <p:nvPr/>
        </p:nvSpPr>
        <p:spPr>
          <a:xfrm>
            <a:off x="6422675" y="2746200"/>
            <a:ext cx="9084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Gradiente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6" name="Google Shape;276;p44"/>
          <p:cNvSpPr txBox="1"/>
          <p:nvPr/>
        </p:nvSpPr>
        <p:spPr>
          <a:xfrm>
            <a:off x="5967725" y="4118400"/>
            <a:ext cx="2672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Gradiente</a:t>
            </a:r>
            <a:endParaRPr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7" name="Google Shape;277;p44"/>
          <p:cNvSpPr txBox="1"/>
          <p:nvPr/>
        </p:nvSpPr>
        <p:spPr>
          <a:xfrm>
            <a:off x="5891500" y="4118400"/>
            <a:ext cx="17229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Perda mínima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8" name="Google Shape;278;p44"/>
          <p:cNvSpPr txBox="1"/>
          <p:nvPr/>
        </p:nvSpPr>
        <p:spPr>
          <a:xfrm>
            <a:off x="2346875" y="2896700"/>
            <a:ext cx="1089000" cy="61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Loss</a:t>
            </a:r>
            <a:b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(quão ruim)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9" name="Google Shape;279;p44"/>
          <p:cNvSpPr txBox="1"/>
          <p:nvPr/>
        </p:nvSpPr>
        <p:spPr>
          <a:xfrm>
            <a:off x="4395712" y="4720406"/>
            <a:ext cx="7383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Peso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0" name="Google Shape;280;p44"/>
          <p:cNvSpPr txBox="1"/>
          <p:nvPr/>
        </p:nvSpPr>
        <p:spPr>
          <a:xfrm>
            <a:off x="4616250" y="2615775"/>
            <a:ext cx="105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Peso inicial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1" name="Google Shape;281;p44"/>
          <p:cNvSpPr txBox="1"/>
          <p:nvPr/>
        </p:nvSpPr>
        <p:spPr>
          <a:xfrm>
            <a:off x="3742151" y="3217223"/>
            <a:ext cx="114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Passos do</a:t>
            </a:r>
            <a:b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treinamento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idx="4294967295" type="body"/>
          </p:nvPr>
        </p:nvSpPr>
        <p:spPr>
          <a:xfrm>
            <a:off x="259900" y="155950"/>
            <a:ext cx="3857700" cy="3582900"/>
          </a:xfrm>
          <a:prstGeom prst="rect">
            <a:avLst/>
          </a:prstGeom>
          <a:noFill/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🞆"/>
            </a:pPr>
            <a:r>
              <a:rPr lang="en" sz="1600"/>
              <a:t>Precisamos definir duas coisas:</a:t>
            </a:r>
            <a:endParaRPr sz="16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🞆"/>
            </a:pPr>
            <a:r>
              <a:rPr lang="en" sz="1400"/>
              <a:t>Função de perda (loss)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87" name="Google Shape;287;p45"/>
          <p:cNvSpPr/>
          <p:nvPr/>
        </p:nvSpPr>
        <p:spPr>
          <a:xfrm>
            <a:off x="4188275" y="-68975"/>
            <a:ext cx="5426700" cy="26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88" name="Google Shape;288;p45"/>
          <p:cNvGrpSpPr/>
          <p:nvPr/>
        </p:nvGrpSpPr>
        <p:grpSpPr>
          <a:xfrm>
            <a:off x="4188275" y="22900"/>
            <a:ext cx="6293550" cy="2548856"/>
            <a:chOff x="2346875" y="2571750"/>
            <a:chExt cx="6293550" cy="2548856"/>
          </a:xfrm>
        </p:grpSpPr>
        <p:pic>
          <p:nvPicPr>
            <p:cNvPr id="289" name="Google Shape;28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7044" y="2571750"/>
              <a:ext cx="3315625" cy="248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45"/>
            <p:cNvSpPr txBox="1"/>
            <p:nvPr/>
          </p:nvSpPr>
          <p:spPr>
            <a:xfrm>
              <a:off x="6422675" y="2746200"/>
              <a:ext cx="9084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91" name="Google Shape;291;p45"/>
            <p:cNvSpPr txBox="1"/>
            <p:nvPr/>
          </p:nvSpPr>
          <p:spPr>
            <a:xfrm>
              <a:off x="5967725" y="4118400"/>
              <a:ext cx="26727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92" name="Google Shape;292;p45"/>
            <p:cNvSpPr txBox="1"/>
            <p:nvPr/>
          </p:nvSpPr>
          <p:spPr>
            <a:xfrm>
              <a:off x="5891500" y="4118400"/>
              <a:ext cx="17229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Perda mínima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93" name="Google Shape;293;p45"/>
            <p:cNvSpPr txBox="1"/>
            <p:nvPr/>
          </p:nvSpPr>
          <p:spPr>
            <a:xfrm>
              <a:off x="2346875" y="2896700"/>
              <a:ext cx="1089000" cy="61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Loss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(quão ruim)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94" name="Google Shape;294;p45"/>
            <p:cNvSpPr txBox="1"/>
            <p:nvPr/>
          </p:nvSpPr>
          <p:spPr>
            <a:xfrm>
              <a:off x="4395712" y="4720406"/>
              <a:ext cx="7383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95" name="Google Shape;295;p45"/>
            <p:cNvSpPr txBox="1"/>
            <p:nvPr/>
          </p:nvSpPr>
          <p:spPr>
            <a:xfrm>
              <a:off x="4616250" y="2615775"/>
              <a:ext cx="105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 inicial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96" name="Google Shape;296;p45"/>
            <p:cNvSpPr txBox="1"/>
            <p:nvPr/>
          </p:nvSpPr>
          <p:spPr>
            <a:xfrm>
              <a:off x="3742151" y="3217223"/>
              <a:ext cx="114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Passos do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treinamento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297" name="Google Shape;297;p45"/>
          <p:cNvSpPr/>
          <p:nvPr/>
        </p:nvSpPr>
        <p:spPr>
          <a:xfrm>
            <a:off x="1196025" y="509650"/>
            <a:ext cx="2106900" cy="2745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45"/>
          <p:cNvSpPr/>
          <p:nvPr/>
        </p:nvSpPr>
        <p:spPr>
          <a:xfrm>
            <a:off x="4329925" y="438825"/>
            <a:ext cx="929400" cy="469200"/>
          </a:xfrm>
          <a:prstGeom prst="rect">
            <a:avLst/>
          </a:prstGeom>
          <a:solidFill>
            <a:srgbClr val="EB9C5A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idx="4294967295" type="body"/>
          </p:nvPr>
        </p:nvSpPr>
        <p:spPr>
          <a:xfrm>
            <a:off x="259900" y="155950"/>
            <a:ext cx="3857700" cy="3582900"/>
          </a:xfrm>
          <a:prstGeom prst="rect">
            <a:avLst/>
          </a:prstGeom>
          <a:noFill/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🞆"/>
            </a:pPr>
            <a:r>
              <a:rPr lang="en" sz="1600"/>
              <a:t>Precisamos definir duas coisas:</a:t>
            </a:r>
            <a:endParaRPr sz="16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🞆"/>
            </a:pPr>
            <a:r>
              <a:rPr lang="en" sz="1400"/>
              <a:t>Função de perda (loss)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🞆"/>
            </a:pPr>
            <a:r>
              <a:rPr lang="en" sz="1400"/>
              <a:t>Gradiente: quanto está mudando?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04" name="Google Shape;304;p46"/>
          <p:cNvSpPr/>
          <p:nvPr/>
        </p:nvSpPr>
        <p:spPr>
          <a:xfrm>
            <a:off x="4188275" y="-68975"/>
            <a:ext cx="5426700" cy="26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05" name="Google Shape;305;p46"/>
          <p:cNvGrpSpPr/>
          <p:nvPr/>
        </p:nvGrpSpPr>
        <p:grpSpPr>
          <a:xfrm>
            <a:off x="4188275" y="22900"/>
            <a:ext cx="6293550" cy="2548856"/>
            <a:chOff x="2346875" y="2571750"/>
            <a:chExt cx="6293550" cy="2548856"/>
          </a:xfrm>
        </p:grpSpPr>
        <p:pic>
          <p:nvPicPr>
            <p:cNvPr id="306" name="Google Shape;306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7044" y="2571750"/>
              <a:ext cx="3315625" cy="248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46"/>
            <p:cNvSpPr txBox="1"/>
            <p:nvPr/>
          </p:nvSpPr>
          <p:spPr>
            <a:xfrm>
              <a:off x="6422675" y="2746200"/>
              <a:ext cx="9084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08" name="Google Shape;308;p46"/>
            <p:cNvSpPr txBox="1"/>
            <p:nvPr/>
          </p:nvSpPr>
          <p:spPr>
            <a:xfrm>
              <a:off x="5967725" y="4118400"/>
              <a:ext cx="26727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09" name="Google Shape;309;p46"/>
            <p:cNvSpPr txBox="1"/>
            <p:nvPr/>
          </p:nvSpPr>
          <p:spPr>
            <a:xfrm>
              <a:off x="5891500" y="4118400"/>
              <a:ext cx="17229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Perda mínima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10" name="Google Shape;310;p46"/>
            <p:cNvSpPr txBox="1"/>
            <p:nvPr/>
          </p:nvSpPr>
          <p:spPr>
            <a:xfrm>
              <a:off x="2346875" y="2896700"/>
              <a:ext cx="1089000" cy="61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Loss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(quão ruim)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11" name="Google Shape;311;p46"/>
            <p:cNvSpPr txBox="1"/>
            <p:nvPr/>
          </p:nvSpPr>
          <p:spPr>
            <a:xfrm>
              <a:off x="4395712" y="4720406"/>
              <a:ext cx="7383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12" name="Google Shape;312;p46"/>
            <p:cNvSpPr txBox="1"/>
            <p:nvPr/>
          </p:nvSpPr>
          <p:spPr>
            <a:xfrm>
              <a:off x="4616250" y="2615775"/>
              <a:ext cx="105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 inicial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13" name="Google Shape;313;p46"/>
            <p:cNvSpPr txBox="1"/>
            <p:nvPr/>
          </p:nvSpPr>
          <p:spPr>
            <a:xfrm>
              <a:off x="3742151" y="3217223"/>
              <a:ext cx="114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Passos do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treinamento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314" name="Google Shape;314;p46"/>
          <p:cNvSpPr/>
          <p:nvPr/>
        </p:nvSpPr>
        <p:spPr>
          <a:xfrm>
            <a:off x="1196025" y="509650"/>
            <a:ext cx="2106900" cy="2745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p46"/>
          <p:cNvSpPr/>
          <p:nvPr/>
        </p:nvSpPr>
        <p:spPr>
          <a:xfrm>
            <a:off x="4329925" y="438825"/>
            <a:ext cx="929400" cy="469200"/>
          </a:xfrm>
          <a:prstGeom prst="rect">
            <a:avLst/>
          </a:prstGeom>
          <a:solidFill>
            <a:srgbClr val="EB9C5A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6" name="Google Shape;316;p46"/>
          <p:cNvSpPr/>
          <p:nvPr/>
        </p:nvSpPr>
        <p:spPr>
          <a:xfrm>
            <a:off x="1196025" y="863750"/>
            <a:ext cx="2106900" cy="4692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7" name="Google Shape;317;p46"/>
          <p:cNvSpPr/>
          <p:nvPr/>
        </p:nvSpPr>
        <p:spPr>
          <a:xfrm>
            <a:off x="8278278" y="261759"/>
            <a:ext cx="805500" cy="2745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função Loss (perda)</a:t>
            </a:r>
            <a:endParaRPr/>
          </a:p>
        </p:txBody>
      </p:sp>
      <p:sp>
        <p:nvSpPr>
          <p:cNvPr id="323" name="Google Shape;323;p47"/>
          <p:cNvSpPr txBox="1"/>
          <p:nvPr>
            <p:ph idx="1" type="body"/>
          </p:nvPr>
        </p:nvSpPr>
        <p:spPr>
          <a:xfrm>
            <a:off x="614025" y="1369625"/>
            <a:ext cx="7929000" cy="368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Exemplo: predizer chance de ataque cardíaco</a:t>
            </a:r>
            <a:endParaRPr/>
          </a:p>
        </p:txBody>
      </p:sp>
      <p:graphicFrame>
        <p:nvGraphicFramePr>
          <p:cNvPr id="324" name="Google Shape;324;p47"/>
          <p:cNvGraphicFramePr/>
          <p:nvPr/>
        </p:nvGraphicFramePr>
        <p:xfrm>
          <a:off x="520075" y="21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idx="4294967295" type="body"/>
          </p:nvPr>
        </p:nvSpPr>
        <p:spPr>
          <a:xfrm>
            <a:off x="428100" y="324975"/>
            <a:ext cx="7929000" cy="368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3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Tratando os dados, mudando sim e não para +1 e 0</a:t>
            </a:r>
            <a:endParaRPr sz="1700"/>
          </a:p>
        </p:txBody>
      </p:sp>
      <p:graphicFrame>
        <p:nvGraphicFramePr>
          <p:cNvPr id="330" name="Google Shape;330;p48"/>
          <p:cNvGraphicFramePr/>
          <p:nvPr/>
        </p:nvGraphicFramePr>
        <p:xfrm>
          <a:off x="520075" y="21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9"/>
          <p:cNvSpPr txBox="1"/>
          <p:nvPr>
            <p:ph idx="4294967295" type="body"/>
          </p:nvPr>
        </p:nvSpPr>
        <p:spPr>
          <a:xfrm>
            <a:off x="428100" y="324975"/>
            <a:ext cx="7929000" cy="368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3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Tratando os dados, mudando sim e não para +1 e 0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Agora supondo que o modelo tenha algumas previsões</a:t>
            </a:r>
            <a:endParaRPr sz="1700"/>
          </a:p>
        </p:txBody>
      </p:sp>
      <p:graphicFrame>
        <p:nvGraphicFramePr>
          <p:cNvPr id="336" name="Google Shape;336;p49"/>
          <p:cNvGraphicFramePr/>
          <p:nvPr/>
        </p:nvGraphicFramePr>
        <p:xfrm>
          <a:off x="520075" y="21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337" name="Google Shape;33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6731" y="2055700"/>
            <a:ext cx="689575" cy="25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idx="4294967295" type="body"/>
          </p:nvPr>
        </p:nvSpPr>
        <p:spPr>
          <a:xfrm>
            <a:off x="428100" y="324975"/>
            <a:ext cx="7929000" cy="368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3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Tratando os dados, mudando sim e não para +1 e 0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Agora supondo que o modelo tenha algumas previsões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Podemos calcular o quão distante ele ficou da previsão real de ataque cardíaco (algo como “Estimado” - “Ataque Cardíaco”)</a:t>
            </a:r>
            <a:endParaRPr sz="1700"/>
          </a:p>
        </p:txBody>
      </p:sp>
      <p:graphicFrame>
        <p:nvGraphicFramePr>
          <p:cNvPr id="343" name="Google Shape;343;p50"/>
          <p:cNvGraphicFramePr/>
          <p:nvPr/>
        </p:nvGraphicFramePr>
        <p:xfrm>
          <a:off x="520075" y="21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344" name="Google Shape;3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6731" y="2055700"/>
            <a:ext cx="689575" cy="25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8647" y="2055697"/>
            <a:ext cx="608786" cy="25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" name="Google Shape;350;p51"/>
          <p:cNvGraphicFramePr/>
          <p:nvPr/>
        </p:nvGraphicFramePr>
        <p:xfrm>
          <a:off x="520075" y="21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351" name="Google Shape;351;p51"/>
          <p:cNvSpPr txBox="1"/>
          <p:nvPr>
            <p:ph idx="4294967295" type="body"/>
          </p:nvPr>
        </p:nvSpPr>
        <p:spPr>
          <a:xfrm>
            <a:off x="428100" y="324975"/>
            <a:ext cx="7929000" cy="368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Ou podemos reescrever para o quão certo está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Se o resultado verdadeiro (   ) for 1 :  Estimado (   )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Se o resultado verdadeiro (   ) for 0 </a:t>
            </a:r>
            <a:r>
              <a:rPr lang="en" sz="1700"/>
              <a:t>=</a:t>
            </a:r>
            <a:r>
              <a:rPr lang="en" sz="1700"/>
              <a:t> 1 - Estimado</a:t>
            </a:r>
            <a:endParaRPr sz="1700"/>
          </a:p>
        </p:txBody>
      </p:sp>
      <p:pic>
        <p:nvPicPr>
          <p:cNvPr id="352" name="Google Shape;35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6731" y="2055700"/>
            <a:ext cx="689575" cy="25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9100" y="2055700"/>
            <a:ext cx="601624" cy="25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2167" y="772375"/>
            <a:ext cx="178996" cy="2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5947" y="772375"/>
            <a:ext cx="144704" cy="2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1"/>
          <p:cNvSpPr/>
          <p:nvPr/>
        </p:nvSpPr>
        <p:spPr>
          <a:xfrm>
            <a:off x="4170575" y="718925"/>
            <a:ext cx="885300" cy="3009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7" name="Google Shape;35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2167" y="1153375"/>
            <a:ext cx="178996" cy="2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2" name="Google Shape;362;p52"/>
          <p:cNvGraphicFramePr/>
          <p:nvPr/>
        </p:nvGraphicFramePr>
        <p:xfrm>
          <a:off x="520075" y="21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363" name="Google Shape;36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6731" y="2055700"/>
            <a:ext cx="689575" cy="25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2"/>
          <p:cNvPicPr preferRelativeResize="0"/>
          <p:nvPr/>
        </p:nvPicPr>
        <p:blipFill rotWithShape="1">
          <a:blip r:embed="rId4">
            <a:alphaModFix/>
          </a:blip>
          <a:srcRect b="0" l="3605" r="0" t="0"/>
          <a:stretch/>
        </p:blipFill>
        <p:spPr>
          <a:xfrm>
            <a:off x="2966575" y="1445175"/>
            <a:ext cx="1605425" cy="4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9100" y="2055700"/>
            <a:ext cx="601624" cy="25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2"/>
          <p:cNvSpPr txBox="1"/>
          <p:nvPr>
            <p:ph idx="4294967295" type="body"/>
          </p:nvPr>
        </p:nvSpPr>
        <p:spPr>
          <a:xfrm>
            <a:off x="428100" y="324975"/>
            <a:ext cx="7929000" cy="368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Ou podemos reescrever para o quão certo está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Se o resultado verdadeiro (   ) for 1 :  Estimado (   )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Se o resultado verdadeiro (   ) for 0 = 1 - Estimado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Ou ainda: </a:t>
            </a:r>
            <a:endParaRPr sz="1700"/>
          </a:p>
        </p:txBody>
      </p:sp>
      <p:pic>
        <p:nvPicPr>
          <p:cNvPr id="367" name="Google Shape;367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2167" y="772375"/>
            <a:ext cx="178996" cy="2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5947" y="772375"/>
            <a:ext cx="144704" cy="2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2"/>
          <p:cNvSpPr/>
          <p:nvPr/>
        </p:nvSpPr>
        <p:spPr>
          <a:xfrm>
            <a:off x="4170575" y="718925"/>
            <a:ext cx="885300" cy="3009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0" name="Google Shape;370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2167" y="1153375"/>
            <a:ext cx="178996" cy="2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/>
          <p:nvPr>
            <p:ph idx="4294967295" type="body"/>
          </p:nvPr>
        </p:nvSpPr>
        <p:spPr>
          <a:xfrm>
            <a:off x="428100" y="324975"/>
            <a:ext cx="7929000" cy="368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Ou podemos reescrever para o quão certo está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Se o resultado verdadeiro (   ) for 1 = Estimado (   )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Se o resultado </a:t>
            </a:r>
            <a:r>
              <a:rPr lang="en" sz="1700"/>
              <a:t>verdadeiro (   ) for 0 = 1 - Estimado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Ou ainda: </a:t>
            </a:r>
            <a:endParaRPr sz="1700"/>
          </a:p>
        </p:txBody>
      </p:sp>
      <p:graphicFrame>
        <p:nvGraphicFramePr>
          <p:cNvPr id="376" name="Google Shape;376;p53"/>
          <p:cNvGraphicFramePr/>
          <p:nvPr/>
        </p:nvGraphicFramePr>
        <p:xfrm>
          <a:off x="520075" y="21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377" name="Google Shape;37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6731" y="2055700"/>
            <a:ext cx="689575" cy="25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53"/>
          <p:cNvPicPr preferRelativeResize="0"/>
          <p:nvPr/>
        </p:nvPicPr>
        <p:blipFill rotWithShape="1">
          <a:blip r:embed="rId4">
            <a:alphaModFix/>
          </a:blip>
          <a:srcRect b="0" l="3605" r="0" t="0"/>
          <a:stretch/>
        </p:blipFill>
        <p:spPr>
          <a:xfrm>
            <a:off x="2966575" y="1445175"/>
            <a:ext cx="1605425" cy="4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2167" y="772375"/>
            <a:ext cx="178996" cy="2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5947" y="772375"/>
            <a:ext cx="144704" cy="2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3"/>
          <p:cNvSpPr/>
          <p:nvPr/>
        </p:nvSpPr>
        <p:spPr>
          <a:xfrm>
            <a:off x="4170575" y="718925"/>
            <a:ext cx="885300" cy="3009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p53"/>
          <p:cNvSpPr/>
          <p:nvPr/>
        </p:nvSpPr>
        <p:spPr>
          <a:xfrm>
            <a:off x="3002000" y="1511475"/>
            <a:ext cx="123900" cy="300900"/>
          </a:xfrm>
          <a:prstGeom prst="rect">
            <a:avLst/>
          </a:prstGeom>
          <a:solidFill>
            <a:srgbClr val="EB9C5A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83" name="Google Shape;383;p53"/>
          <p:cNvGrpSpPr/>
          <p:nvPr/>
        </p:nvGrpSpPr>
        <p:grpSpPr>
          <a:xfrm>
            <a:off x="3426925" y="1506975"/>
            <a:ext cx="1014250" cy="327461"/>
            <a:chOff x="3426925" y="1506975"/>
            <a:chExt cx="1014250" cy="327461"/>
          </a:xfrm>
        </p:grpSpPr>
        <p:cxnSp>
          <p:nvCxnSpPr>
            <p:cNvPr id="384" name="Google Shape;384;p53"/>
            <p:cNvCxnSpPr/>
            <p:nvPr/>
          </p:nvCxnSpPr>
          <p:spPr>
            <a:xfrm>
              <a:off x="3426925" y="1524536"/>
              <a:ext cx="1014000" cy="30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53"/>
            <p:cNvCxnSpPr/>
            <p:nvPr/>
          </p:nvCxnSpPr>
          <p:spPr>
            <a:xfrm flipH="1">
              <a:off x="3427175" y="1506975"/>
              <a:ext cx="1014000" cy="30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86" name="Google Shape;38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2167" y="1153375"/>
            <a:ext cx="178996" cy="2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19100" y="2055700"/>
            <a:ext cx="601624" cy="25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4"/>
          <p:cNvSpPr txBox="1"/>
          <p:nvPr>
            <p:ph idx="4294967295" type="body"/>
          </p:nvPr>
        </p:nvSpPr>
        <p:spPr>
          <a:xfrm>
            <a:off x="428100" y="324975"/>
            <a:ext cx="7929000" cy="368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Ou podemos reescrever para o quão certo está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Se o resultado verdadeiro (   ) for 1 = Estimado (   )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Se o resultado verdadeiro </a:t>
            </a:r>
            <a:r>
              <a:rPr lang="en" sz="1700"/>
              <a:t>(   )</a:t>
            </a:r>
            <a:r>
              <a:rPr lang="en" sz="1700"/>
              <a:t> for 0 = 1 - Estimado</a:t>
            </a:r>
            <a:endParaRPr sz="1700"/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🞆"/>
            </a:pPr>
            <a:r>
              <a:rPr lang="en" sz="1700"/>
              <a:t>Ou ainda: </a:t>
            </a:r>
            <a:endParaRPr sz="1700"/>
          </a:p>
        </p:txBody>
      </p:sp>
      <p:graphicFrame>
        <p:nvGraphicFramePr>
          <p:cNvPr id="393" name="Google Shape;393;p54"/>
          <p:cNvGraphicFramePr/>
          <p:nvPr/>
        </p:nvGraphicFramePr>
        <p:xfrm>
          <a:off x="520075" y="21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394" name="Google Shape;39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6731" y="2055700"/>
            <a:ext cx="689575" cy="25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4"/>
          <p:cNvPicPr preferRelativeResize="0"/>
          <p:nvPr/>
        </p:nvPicPr>
        <p:blipFill rotWithShape="1">
          <a:blip r:embed="rId4">
            <a:alphaModFix/>
          </a:blip>
          <a:srcRect b="0" l="3605" r="0" t="0"/>
          <a:stretch/>
        </p:blipFill>
        <p:spPr>
          <a:xfrm>
            <a:off x="2966575" y="1445175"/>
            <a:ext cx="1605425" cy="4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2167" y="772375"/>
            <a:ext cx="178996" cy="2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2167" y="1153375"/>
            <a:ext cx="178996" cy="2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4"/>
          <p:cNvSpPr/>
          <p:nvPr/>
        </p:nvSpPr>
        <p:spPr>
          <a:xfrm>
            <a:off x="4170575" y="1099925"/>
            <a:ext cx="885300" cy="3009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99" name="Google Shape;39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5947" y="772375"/>
            <a:ext cx="144704" cy="2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4"/>
          <p:cNvSpPr/>
          <p:nvPr/>
        </p:nvSpPr>
        <p:spPr>
          <a:xfrm>
            <a:off x="3397237" y="1511475"/>
            <a:ext cx="738000" cy="3009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01" name="Google Shape;401;p54"/>
          <p:cNvGrpSpPr/>
          <p:nvPr/>
        </p:nvGrpSpPr>
        <p:grpSpPr>
          <a:xfrm>
            <a:off x="2969811" y="1507033"/>
            <a:ext cx="309925" cy="327463"/>
            <a:chOff x="3426925" y="1506963"/>
            <a:chExt cx="1009200" cy="327463"/>
          </a:xfrm>
        </p:grpSpPr>
        <p:cxnSp>
          <p:nvCxnSpPr>
            <p:cNvPr id="402" name="Google Shape;402;p54"/>
            <p:cNvCxnSpPr/>
            <p:nvPr/>
          </p:nvCxnSpPr>
          <p:spPr>
            <a:xfrm>
              <a:off x="3426925" y="1524525"/>
              <a:ext cx="1009200" cy="30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54"/>
            <p:cNvCxnSpPr/>
            <p:nvPr/>
          </p:nvCxnSpPr>
          <p:spPr>
            <a:xfrm flipH="1">
              <a:off x="3426925" y="1506963"/>
              <a:ext cx="1009200" cy="30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404" name="Google Shape;404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19100" y="2055700"/>
            <a:ext cx="601624" cy="25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75" y="488750"/>
            <a:ext cx="601624" cy="25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5"/>
          <p:cNvSpPr txBox="1"/>
          <p:nvPr/>
        </p:nvSpPr>
        <p:spPr>
          <a:xfrm>
            <a:off x="1416450" y="407225"/>
            <a:ext cx="70479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Podemos juntar todas as probabilidades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Obtendo o quão correto está o nosso modelo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Basta fazer a multiplicação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55"/>
          <p:cNvSpPr txBox="1"/>
          <p:nvPr/>
        </p:nvSpPr>
        <p:spPr>
          <a:xfrm>
            <a:off x="532050" y="1461625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2" name="Google Shape;412;p55"/>
          <p:cNvSpPr txBox="1"/>
          <p:nvPr/>
        </p:nvSpPr>
        <p:spPr>
          <a:xfrm>
            <a:off x="532050" y="1763559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p55"/>
          <p:cNvSpPr txBox="1"/>
          <p:nvPr/>
        </p:nvSpPr>
        <p:spPr>
          <a:xfrm>
            <a:off x="532050" y="2126853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4" name="Google Shape;414;p55"/>
          <p:cNvSpPr txBox="1"/>
          <p:nvPr/>
        </p:nvSpPr>
        <p:spPr>
          <a:xfrm>
            <a:off x="532050" y="2449359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5" name="Google Shape;41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75" y="3437075"/>
            <a:ext cx="84772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75" y="488750"/>
            <a:ext cx="601624" cy="25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6"/>
          <p:cNvSpPr txBox="1"/>
          <p:nvPr/>
        </p:nvSpPr>
        <p:spPr>
          <a:xfrm>
            <a:off x="1416450" y="407225"/>
            <a:ext cx="7047900" cy="22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Podemos juntar todas as probabilidades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Obtendo o quão correto está o nosso modelo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Basta fazer a multiplicação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matematiquês isso se chama produtório, e colocando em fórmula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2" name="Google Shape;422;p56"/>
          <p:cNvSpPr txBox="1"/>
          <p:nvPr/>
        </p:nvSpPr>
        <p:spPr>
          <a:xfrm>
            <a:off x="532050" y="1461625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3" name="Google Shape;423;p56"/>
          <p:cNvSpPr txBox="1"/>
          <p:nvPr/>
        </p:nvSpPr>
        <p:spPr>
          <a:xfrm>
            <a:off x="532050" y="1763550"/>
            <a:ext cx="6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p56"/>
          <p:cNvSpPr txBox="1"/>
          <p:nvPr/>
        </p:nvSpPr>
        <p:spPr>
          <a:xfrm>
            <a:off x="532050" y="2126853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56"/>
          <p:cNvSpPr txBox="1"/>
          <p:nvPr/>
        </p:nvSpPr>
        <p:spPr>
          <a:xfrm>
            <a:off x="532050" y="2449359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6" name="Google Shape;42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75" y="3437075"/>
            <a:ext cx="8477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6575" y="2400484"/>
            <a:ext cx="240982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75" y="488750"/>
            <a:ext cx="601624" cy="25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7"/>
          <p:cNvSpPr txBox="1"/>
          <p:nvPr/>
        </p:nvSpPr>
        <p:spPr>
          <a:xfrm>
            <a:off x="1416450" y="407225"/>
            <a:ext cx="7047900" cy="3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Podemos juntar todas as probabilidades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Obtendo o quão correto está o nosso modelo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Basta fazer a multiplicação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matematiquês isso se chama produtório, e colocando em fórmula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Esse fórmula dá o que em estatística chamamos de </a:t>
            </a:r>
            <a:r>
              <a:rPr b="1"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verossimilhança 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(L de </a:t>
            </a:r>
            <a:r>
              <a:rPr b="1"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likelihood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em inglês que significa o quão provável)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57"/>
          <p:cNvSpPr txBox="1"/>
          <p:nvPr/>
        </p:nvSpPr>
        <p:spPr>
          <a:xfrm>
            <a:off x="532050" y="1461625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5" name="Google Shape;435;p57"/>
          <p:cNvSpPr txBox="1"/>
          <p:nvPr/>
        </p:nvSpPr>
        <p:spPr>
          <a:xfrm>
            <a:off x="532050" y="1763550"/>
            <a:ext cx="6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57"/>
          <p:cNvSpPr txBox="1"/>
          <p:nvPr/>
        </p:nvSpPr>
        <p:spPr>
          <a:xfrm>
            <a:off x="532050" y="2126853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7" name="Google Shape;437;p57"/>
          <p:cNvSpPr txBox="1"/>
          <p:nvPr/>
        </p:nvSpPr>
        <p:spPr>
          <a:xfrm>
            <a:off x="532050" y="2449359"/>
            <a:ext cx="50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38" name="Google Shape;43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75" y="3437075"/>
            <a:ext cx="8477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6575" y="2400484"/>
            <a:ext cx="240982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75" y="488750"/>
            <a:ext cx="601624" cy="25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8"/>
          <p:cNvSpPr txBox="1"/>
          <p:nvPr/>
        </p:nvSpPr>
        <p:spPr>
          <a:xfrm>
            <a:off x="1416450" y="407225"/>
            <a:ext cx="70479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Fórmula da verossimilhança (arbitrária, basta que ela avalie o quão bom está o modelo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evitar trabalhar com produtório, costumamos mudar para somatório usando a função log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🞆"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Como o resultado disso normalmente é negativo, invertemos o sinal e obtemos a nossa função de Loss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6" name="Google Shape;44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6400" y="488759"/>
            <a:ext cx="24098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5000" y="2750340"/>
            <a:ext cx="46291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55000" y="4336952"/>
            <a:ext cx="4115747" cy="67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idx="4294967295" type="body"/>
          </p:nvPr>
        </p:nvSpPr>
        <p:spPr>
          <a:xfrm>
            <a:off x="259900" y="155950"/>
            <a:ext cx="3857700" cy="3582900"/>
          </a:xfrm>
          <a:prstGeom prst="rect">
            <a:avLst/>
          </a:prstGeom>
          <a:noFill/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🞆"/>
            </a:pPr>
            <a:r>
              <a:rPr lang="en" sz="1600"/>
              <a:t>Precisamos definir duas coisas:</a:t>
            </a:r>
            <a:endParaRPr sz="16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🞆"/>
            </a:pPr>
            <a:r>
              <a:rPr lang="en" sz="1400"/>
              <a:t>Função de perda (loss)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🞆"/>
            </a:pPr>
            <a:r>
              <a:rPr lang="en" sz="1400"/>
              <a:t>Gradiente: quanto está mudando?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54" name="Google Shape;454;p59"/>
          <p:cNvSpPr/>
          <p:nvPr/>
        </p:nvSpPr>
        <p:spPr>
          <a:xfrm>
            <a:off x="4188275" y="-68975"/>
            <a:ext cx="5426700" cy="26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55" name="Google Shape;455;p59"/>
          <p:cNvGrpSpPr/>
          <p:nvPr/>
        </p:nvGrpSpPr>
        <p:grpSpPr>
          <a:xfrm>
            <a:off x="4188275" y="22900"/>
            <a:ext cx="6293550" cy="2548856"/>
            <a:chOff x="2346875" y="2571750"/>
            <a:chExt cx="6293550" cy="2548856"/>
          </a:xfrm>
        </p:grpSpPr>
        <p:pic>
          <p:nvPicPr>
            <p:cNvPr id="456" name="Google Shape;456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7044" y="2571750"/>
              <a:ext cx="3315625" cy="248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59"/>
            <p:cNvSpPr txBox="1"/>
            <p:nvPr/>
          </p:nvSpPr>
          <p:spPr>
            <a:xfrm>
              <a:off x="6422675" y="2746200"/>
              <a:ext cx="9084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58" name="Google Shape;458;p59"/>
            <p:cNvSpPr txBox="1"/>
            <p:nvPr/>
          </p:nvSpPr>
          <p:spPr>
            <a:xfrm>
              <a:off x="5967725" y="4118400"/>
              <a:ext cx="26727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59" name="Google Shape;459;p59"/>
            <p:cNvSpPr txBox="1"/>
            <p:nvPr/>
          </p:nvSpPr>
          <p:spPr>
            <a:xfrm>
              <a:off x="5891500" y="4118400"/>
              <a:ext cx="17229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Perda mínima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60" name="Google Shape;460;p59"/>
            <p:cNvSpPr txBox="1"/>
            <p:nvPr/>
          </p:nvSpPr>
          <p:spPr>
            <a:xfrm>
              <a:off x="2346875" y="2896700"/>
              <a:ext cx="1089000" cy="61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Loss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(quão ruim)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61" name="Google Shape;461;p59"/>
            <p:cNvSpPr txBox="1"/>
            <p:nvPr/>
          </p:nvSpPr>
          <p:spPr>
            <a:xfrm>
              <a:off x="4395712" y="4720406"/>
              <a:ext cx="7383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62" name="Google Shape;462;p59"/>
            <p:cNvSpPr txBox="1"/>
            <p:nvPr/>
          </p:nvSpPr>
          <p:spPr>
            <a:xfrm>
              <a:off x="4616250" y="2615775"/>
              <a:ext cx="105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 inicial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63" name="Google Shape;463;p59"/>
            <p:cNvSpPr txBox="1"/>
            <p:nvPr/>
          </p:nvSpPr>
          <p:spPr>
            <a:xfrm>
              <a:off x="3742151" y="3217223"/>
              <a:ext cx="114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Passos do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treinamento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464" name="Google Shape;464;p59"/>
          <p:cNvSpPr/>
          <p:nvPr/>
        </p:nvSpPr>
        <p:spPr>
          <a:xfrm>
            <a:off x="1196025" y="509650"/>
            <a:ext cx="2106900" cy="2745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5" name="Google Shape;465;p59"/>
          <p:cNvSpPr/>
          <p:nvPr/>
        </p:nvSpPr>
        <p:spPr>
          <a:xfrm>
            <a:off x="4329925" y="438825"/>
            <a:ext cx="929400" cy="469200"/>
          </a:xfrm>
          <a:prstGeom prst="rect">
            <a:avLst/>
          </a:prstGeom>
          <a:solidFill>
            <a:srgbClr val="EB9C5A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6" name="Google Shape;46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4000" y="2898550"/>
            <a:ext cx="4115747" cy="67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0"/>
          <p:cNvSpPr txBox="1"/>
          <p:nvPr>
            <p:ph idx="4294967295" type="body"/>
          </p:nvPr>
        </p:nvSpPr>
        <p:spPr>
          <a:xfrm>
            <a:off x="259900" y="155950"/>
            <a:ext cx="3857700" cy="3582900"/>
          </a:xfrm>
          <a:prstGeom prst="rect">
            <a:avLst/>
          </a:prstGeom>
          <a:noFill/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🞆"/>
            </a:pPr>
            <a:r>
              <a:rPr lang="en" sz="1600"/>
              <a:t>Precisamos definir duas coisas:</a:t>
            </a:r>
            <a:endParaRPr sz="16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🞆"/>
            </a:pPr>
            <a:r>
              <a:rPr lang="en" sz="1400"/>
              <a:t>Função de perda (loss)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🞆"/>
            </a:pPr>
            <a:r>
              <a:rPr lang="en" sz="1400"/>
              <a:t>Gradiente: quanto está mudando?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72" name="Google Shape;472;p60"/>
          <p:cNvSpPr/>
          <p:nvPr/>
        </p:nvSpPr>
        <p:spPr>
          <a:xfrm>
            <a:off x="4188275" y="-68975"/>
            <a:ext cx="5426700" cy="26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73" name="Google Shape;473;p60"/>
          <p:cNvGrpSpPr/>
          <p:nvPr/>
        </p:nvGrpSpPr>
        <p:grpSpPr>
          <a:xfrm>
            <a:off x="4188275" y="22900"/>
            <a:ext cx="6293550" cy="2548856"/>
            <a:chOff x="2346875" y="2571750"/>
            <a:chExt cx="6293550" cy="2548856"/>
          </a:xfrm>
        </p:grpSpPr>
        <p:pic>
          <p:nvPicPr>
            <p:cNvPr id="474" name="Google Shape;474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7044" y="2571750"/>
              <a:ext cx="3315625" cy="248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60"/>
            <p:cNvSpPr txBox="1"/>
            <p:nvPr/>
          </p:nvSpPr>
          <p:spPr>
            <a:xfrm>
              <a:off x="6422675" y="2746200"/>
              <a:ext cx="9084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76" name="Google Shape;476;p60"/>
            <p:cNvSpPr txBox="1"/>
            <p:nvPr/>
          </p:nvSpPr>
          <p:spPr>
            <a:xfrm>
              <a:off x="5967725" y="4118400"/>
              <a:ext cx="26727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77" name="Google Shape;477;p60"/>
            <p:cNvSpPr txBox="1"/>
            <p:nvPr/>
          </p:nvSpPr>
          <p:spPr>
            <a:xfrm>
              <a:off x="5891500" y="4118400"/>
              <a:ext cx="17229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Perda mínima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78" name="Google Shape;478;p60"/>
            <p:cNvSpPr txBox="1"/>
            <p:nvPr/>
          </p:nvSpPr>
          <p:spPr>
            <a:xfrm>
              <a:off x="2346875" y="2896700"/>
              <a:ext cx="1089000" cy="61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Loss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(quão ruim)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79" name="Google Shape;479;p60"/>
            <p:cNvSpPr txBox="1"/>
            <p:nvPr/>
          </p:nvSpPr>
          <p:spPr>
            <a:xfrm>
              <a:off x="4395712" y="4720406"/>
              <a:ext cx="7383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80" name="Google Shape;480;p60"/>
            <p:cNvSpPr txBox="1"/>
            <p:nvPr/>
          </p:nvSpPr>
          <p:spPr>
            <a:xfrm>
              <a:off x="4616250" y="2615775"/>
              <a:ext cx="105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 inicial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81" name="Google Shape;481;p60"/>
            <p:cNvSpPr txBox="1"/>
            <p:nvPr/>
          </p:nvSpPr>
          <p:spPr>
            <a:xfrm>
              <a:off x="3742151" y="3217223"/>
              <a:ext cx="114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Passos do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treinamento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482" name="Google Shape;482;p60"/>
          <p:cNvSpPr/>
          <p:nvPr/>
        </p:nvSpPr>
        <p:spPr>
          <a:xfrm>
            <a:off x="1222600" y="846050"/>
            <a:ext cx="2133600" cy="5490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p60"/>
          <p:cNvSpPr/>
          <p:nvPr/>
        </p:nvSpPr>
        <p:spPr>
          <a:xfrm>
            <a:off x="8313700" y="314875"/>
            <a:ext cx="830400" cy="230100"/>
          </a:xfrm>
          <a:prstGeom prst="rect">
            <a:avLst/>
          </a:prstGeom>
          <a:solidFill>
            <a:srgbClr val="EB9C5A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84" name="Google Shape;484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4000" y="2898550"/>
            <a:ext cx="4115747" cy="6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0"/>
          <p:cNvSpPr txBox="1"/>
          <p:nvPr/>
        </p:nvSpPr>
        <p:spPr>
          <a:xfrm>
            <a:off x="2604625" y="402112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 </a:t>
            </a:r>
            <a:r>
              <a:rPr lang="en" sz="2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gradiente?</a:t>
            </a:r>
            <a:endParaRPr sz="2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1"/>
          <p:cNvSpPr txBox="1"/>
          <p:nvPr>
            <p:ph idx="4294967295" type="body"/>
          </p:nvPr>
        </p:nvSpPr>
        <p:spPr>
          <a:xfrm>
            <a:off x="259900" y="155950"/>
            <a:ext cx="3857700" cy="3582900"/>
          </a:xfrm>
          <a:prstGeom prst="rect">
            <a:avLst/>
          </a:prstGeom>
          <a:noFill/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🞆"/>
            </a:pPr>
            <a:r>
              <a:rPr lang="en" sz="1600"/>
              <a:t>Precisamos definir duas coisas:</a:t>
            </a:r>
            <a:endParaRPr sz="16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🞆"/>
            </a:pPr>
            <a:r>
              <a:rPr lang="en" sz="1400"/>
              <a:t>Função de perda (loss)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🞆"/>
            </a:pPr>
            <a:r>
              <a:rPr lang="en" sz="1400"/>
              <a:t>Gradiente: quanto está mudando?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91" name="Google Shape;491;p61"/>
          <p:cNvSpPr/>
          <p:nvPr/>
        </p:nvSpPr>
        <p:spPr>
          <a:xfrm>
            <a:off x="4188275" y="-68975"/>
            <a:ext cx="5426700" cy="26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92" name="Google Shape;492;p61"/>
          <p:cNvGrpSpPr/>
          <p:nvPr/>
        </p:nvGrpSpPr>
        <p:grpSpPr>
          <a:xfrm>
            <a:off x="4188275" y="22900"/>
            <a:ext cx="6293550" cy="2548856"/>
            <a:chOff x="2346875" y="2571750"/>
            <a:chExt cx="6293550" cy="2548856"/>
          </a:xfrm>
        </p:grpSpPr>
        <p:pic>
          <p:nvPicPr>
            <p:cNvPr id="493" name="Google Shape;493;p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7044" y="2571750"/>
              <a:ext cx="3315625" cy="248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61"/>
            <p:cNvSpPr txBox="1"/>
            <p:nvPr/>
          </p:nvSpPr>
          <p:spPr>
            <a:xfrm>
              <a:off x="6422675" y="2746200"/>
              <a:ext cx="9084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95" name="Google Shape;495;p61"/>
            <p:cNvSpPr txBox="1"/>
            <p:nvPr/>
          </p:nvSpPr>
          <p:spPr>
            <a:xfrm>
              <a:off x="5967725" y="4118400"/>
              <a:ext cx="26727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96" name="Google Shape;496;p61"/>
            <p:cNvSpPr txBox="1"/>
            <p:nvPr/>
          </p:nvSpPr>
          <p:spPr>
            <a:xfrm>
              <a:off x="5891500" y="4118400"/>
              <a:ext cx="17229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Perda mínima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97" name="Google Shape;497;p61"/>
            <p:cNvSpPr txBox="1"/>
            <p:nvPr/>
          </p:nvSpPr>
          <p:spPr>
            <a:xfrm>
              <a:off x="2346875" y="2896700"/>
              <a:ext cx="1089000" cy="61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Loss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(quão ruim)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98" name="Google Shape;498;p61"/>
            <p:cNvSpPr txBox="1"/>
            <p:nvPr/>
          </p:nvSpPr>
          <p:spPr>
            <a:xfrm>
              <a:off x="4395712" y="4720406"/>
              <a:ext cx="7383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499" name="Google Shape;499;p61"/>
            <p:cNvSpPr txBox="1"/>
            <p:nvPr/>
          </p:nvSpPr>
          <p:spPr>
            <a:xfrm>
              <a:off x="4616250" y="2615775"/>
              <a:ext cx="105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 inicial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00" name="Google Shape;500;p61"/>
            <p:cNvSpPr txBox="1"/>
            <p:nvPr/>
          </p:nvSpPr>
          <p:spPr>
            <a:xfrm>
              <a:off x="3742151" y="3217223"/>
              <a:ext cx="114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Passos do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treinamento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501" name="Google Shape;501;p61"/>
          <p:cNvSpPr/>
          <p:nvPr/>
        </p:nvSpPr>
        <p:spPr>
          <a:xfrm>
            <a:off x="1222600" y="846050"/>
            <a:ext cx="2133600" cy="5490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2" name="Google Shape;502;p61"/>
          <p:cNvSpPr/>
          <p:nvPr/>
        </p:nvSpPr>
        <p:spPr>
          <a:xfrm>
            <a:off x="8313700" y="314875"/>
            <a:ext cx="830400" cy="230100"/>
          </a:xfrm>
          <a:prstGeom prst="rect">
            <a:avLst/>
          </a:prstGeom>
          <a:solidFill>
            <a:srgbClr val="EB9C5A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03" name="Google Shape;50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4000" y="2898550"/>
            <a:ext cx="4115747" cy="6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61"/>
          <p:cNvSpPr txBox="1"/>
          <p:nvPr/>
        </p:nvSpPr>
        <p:spPr>
          <a:xfrm>
            <a:off x="2604625" y="402112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 o gradiente?</a:t>
            </a:r>
            <a:endParaRPr sz="2300"/>
          </a:p>
        </p:txBody>
      </p:sp>
      <p:pic>
        <p:nvPicPr>
          <p:cNvPr id="505" name="Google Shape;505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9699" y="450950"/>
            <a:ext cx="3561900" cy="45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"/>
          <p:cNvSpPr/>
          <p:nvPr/>
        </p:nvSpPr>
        <p:spPr>
          <a:xfrm>
            <a:off x="169207" y="259248"/>
            <a:ext cx="8373398" cy="46250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11" name="Google Shape;511;p62"/>
          <p:cNvGrpSpPr/>
          <p:nvPr/>
        </p:nvGrpSpPr>
        <p:grpSpPr>
          <a:xfrm>
            <a:off x="169207" y="420167"/>
            <a:ext cx="8127791" cy="4353309"/>
            <a:chOff x="2346875" y="2571750"/>
            <a:chExt cx="5267525" cy="2485475"/>
          </a:xfrm>
        </p:grpSpPr>
        <p:pic>
          <p:nvPicPr>
            <p:cNvPr id="512" name="Google Shape;512;p6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7044" y="2571750"/>
              <a:ext cx="3315625" cy="248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62"/>
            <p:cNvSpPr txBox="1"/>
            <p:nvPr/>
          </p:nvSpPr>
          <p:spPr>
            <a:xfrm>
              <a:off x="6422675" y="2746200"/>
              <a:ext cx="908400" cy="22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14" name="Google Shape;514;p62"/>
            <p:cNvSpPr txBox="1"/>
            <p:nvPr/>
          </p:nvSpPr>
          <p:spPr>
            <a:xfrm>
              <a:off x="5967723" y="4118400"/>
              <a:ext cx="908400" cy="22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15" name="Google Shape;515;p62"/>
            <p:cNvSpPr txBox="1"/>
            <p:nvPr/>
          </p:nvSpPr>
          <p:spPr>
            <a:xfrm>
              <a:off x="5891500" y="4118400"/>
              <a:ext cx="1722900" cy="22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Perda mínima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16" name="Google Shape;516;p62"/>
            <p:cNvSpPr txBox="1"/>
            <p:nvPr/>
          </p:nvSpPr>
          <p:spPr>
            <a:xfrm>
              <a:off x="2346875" y="2896700"/>
              <a:ext cx="1089000" cy="351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Loss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(quão ruim)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17" name="Google Shape;517;p62"/>
            <p:cNvSpPr txBox="1"/>
            <p:nvPr/>
          </p:nvSpPr>
          <p:spPr>
            <a:xfrm>
              <a:off x="4395712" y="4720406"/>
              <a:ext cx="738300" cy="22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18" name="Google Shape;518;p62"/>
            <p:cNvSpPr txBox="1"/>
            <p:nvPr/>
          </p:nvSpPr>
          <p:spPr>
            <a:xfrm>
              <a:off x="4616250" y="2615775"/>
              <a:ext cx="1050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 inicial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19" name="Google Shape;519;p62"/>
            <p:cNvSpPr txBox="1"/>
            <p:nvPr/>
          </p:nvSpPr>
          <p:spPr>
            <a:xfrm>
              <a:off x="3742151" y="3217223"/>
              <a:ext cx="1143600" cy="35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Passos do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treinamento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520" name="Google Shape;520;p62"/>
          <p:cNvSpPr txBox="1"/>
          <p:nvPr/>
        </p:nvSpPr>
        <p:spPr>
          <a:xfrm>
            <a:off x="5560450" y="1497950"/>
            <a:ext cx="2982300" cy="15699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Essa linha de tendência </a:t>
            </a:r>
            <a:b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é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 que chamamos de</a:t>
            </a:r>
            <a:b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r>
              <a:rPr b="1"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erivada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neste caso </a:t>
            </a:r>
            <a:b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função </a:t>
            </a:r>
            <a:r>
              <a:rPr b="1"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Loss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 </a:t>
            </a:r>
            <a:b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espeito ao </a:t>
            </a:r>
            <a:r>
              <a:rPr b="1"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peso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3"/>
          <p:cNvSpPr/>
          <p:nvPr/>
        </p:nvSpPr>
        <p:spPr>
          <a:xfrm>
            <a:off x="169207" y="259248"/>
            <a:ext cx="8373300" cy="462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26" name="Google Shape;526;p63"/>
          <p:cNvGrpSpPr/>
          <p:nvPr/>
        </p:nvGrpSpPr>
        <p:grpSpPr>
          <a:xfrm>
            <a:off x="169207" y="420167"/>
            <a:ext cx="7690621" cy="4353309"/>
            <a:chOff x="2346875" y="2571750"/>
            <a:chExt cx="4984200" cy="2485475"/>
          </a:xfrm>
        </p:grpSpPr>
        <p:pic>
          <p:nvPicPr>
            <p:cNvPr id="527" name="Google Shape;527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7044" y="2571750"/>
              <a:ext cx="3315625" cy="248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63"/>
            <p:cNvSpPr txBox="1"/>
            <p:nvPr/>
          </p:nvSpPr>
          <p:spPr>
            <a:xfrm>
              <a:off x="6422675" y="2746200"/>
              <a:ext cx="908400" cy="22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29" name="Google Shape;529;p63"/>
            <p:cNvSpPr txBox="1"/>
            <p:nvPr/>
          </p:nvSpPr>
          <p:spPr>
            <a:xfrm>
              <a:off x="5967723" y="4118400"/>
              <a:ext cx="908400" cy="22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30" name="Google Shape;530;p63"/>
            <p:cNvSpPr txBox="1"/>
            <p:nvPr/>
          </p:nvSpPr>
          <p:spPr>
            <a:xfrm>
              <a:off x="2346875" y="2896700"/>
              <a:ext cx="1089000" cy="351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Loss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(quão ruim)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31" name="Google Shape;531;p63"/>
            <p:cNvSpPr txBox="1"/>
            <p:nvPr/>
          </p:nvSpPr>
          <p:spPr>
            <a:xfrm>
              <a:off x="4395712" y="4720406"/>
              <a:ext cx="738300" cy="22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32" name="Google Shape;532;p63"/>
            <p:cNvSpPr txBox="1"/>
            <p:nvPr/>
          </p:nvSpPr>
          <p:spPr>
            <a:xfrm>
              <a:off x="4616250" y="2615775"/>
              <a:ext cx="1050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 inicial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33" name="Google Shape;533;p63"/>
            <p:cNvSpPr txBox="1"/>
            <p:nvPr/>
          </p:nvSpPr>
          <p:spPr>
            <a:xfrm>
              <a:off x="3742151" y="3217223"/>
              <a:ext cx="1143600" cy="35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Passos do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treinamento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534" name="Google Shape;534;p63"/>
          <p:cNvSpPr txBox="1"/>
          <p:nvPr/>
        </p:nvSpPr>
        <p:spPr>
          <a:xfrm>
            <a:off x="5560450" y="1497950"/>
            <a:ext cx="2982300" cy="15699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Essa linha de tendência </a:t>
            </a:r>
            <a:b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é o que chamamos de</a:t>
            </a:r>
            <a:b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derivada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neste caso </a:t>
            </a:r>
            <a:b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 função </a:t>
            </a:r>
            <a:r>
              <a:rPr b="1"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Loss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 </a:t>
            </a:r>
            <a:b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respeito ao </a:t>
            </a:r>
            <a:r>
              <a:rPr b="1"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peso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5" name="Google Shape;535;p63"/>
          <p:cNvSpPr/>
          <p:nvPr/>
        </p:nvSpPr>
        <p:spPr>
          <a:xfrm>
            <a:off x="6720175" y="3339350"/>
            <a:ext cx="1478400" cy="1203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6" name="Google Shape;53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5277" y="3415000"/>
            <a:ext cx="1273926" cy="1082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4"/>
          <p:cNvSpPr/>
          <p:nvPr/>
        </p:nvSpPr>
        <p:spPr>
          <a:xfrm>
            <a:off x="169207" y="259248"/>
            <a:ext cx="8373300" cy="462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42" name="Google Shape;542;p64"/>
          <p:cNvGrpSpPr/>
          <p:nvPr/>
        </p:nvGrpSpPr>
        <p:grpSpPr>
          <a:xfrm>
            <a:off x="169207" y="420167"/>
            <a:ext cx="6988630" cy="4353309"/>
            <a:chOff x="2346875" y="2571750"/>
            <a:chExt cx="4529248" cy="2485475"/>
          </a:xfrm>
        </p:grpSpPr>
        <p:pic>
          <p:nvPicPr>
            <p:cNvPr id="543" name="Google Shape;543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7044" y="2571750"/>
              <a:ext cx="3315625" cy="248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64"/>
            <p:cNvSpPr txBox="1"/>
            <p:nvPr/>
          </p:nvSpPr>
          <p:spPr>
            <a:xfrm>
              <a:off x="5967723" y="4118400"/>
              <a:ext cx="908400" cy="22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45" name="Google Shape;545;p64"/>
            <p:cNvSpPr txBox="1"/>
            <p:nvPr/>
          </p:nvSpPr>
          <p:spPr>
            <a:xfrm>
              <a:off x="2346875" y="2896700"/>
              <a:ext cx="1089000" cy="351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Loss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(quão ruim)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46" name="Google Shape;546;p64"/>
            <p:cNvSpPr txBox="1"/>
            <p:nvPr/>
          </p:nvSpPr>
          <p:spPr>
            <a:xfrm>
              <a:off x="4395712" y="4720406"/>
              <a:ext cx="738300" cy="22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47" name="Google Shape;547;p64"/>
            <p:cNvSpPr txBox="1"/>
            <p:nvPr/>
          </p:nvSpPr>
          <p:spPr>
            <a:xfrm>
              <a:off x="4616250" y="2615775"/>
              <a:ext cx="1050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 inicial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548" name="Google Shape;548;p64"/>
            <p:cNvSpPr txBox="1"/>
            <p:nvPr/>
          </p:nvSpPr>
          <p:spPr>
            <a:xfrm>
              <a:off x="3742151" y="3217223"/>
              <a:ext cx="1143600" cy="35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Passos do</a:t>
              </a:r>
              <a:b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treinamento</a:t>
              </a:r>
              <a:endPara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549" name="Google Shape;549;p64"/>
          <p:cNvSpPr/>
          <p:nvPr/>
        </p:nvSpPr>
        <p:spPr>
          <a:xfrm>
            <a:off x="6720175" y="3339350"/>
            <a:ext cx="1478400" cy="1203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0" name="Google Shape;550;p64"/>
          <p:cNvSpPr txBox="1"/>
          <p:nvPr/>
        </p:nvSpPr>
        <p:spPr>
          <a:xfrm>
            <a:off x="5560450" y="1497950"/>
            <a:ext cx="2982300" cy="12930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eu descobrir a derivada consigo saber para que lado preciso ir e quanto!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51" name="Google Shape;55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5277" y="3415000"/>
            <a:ext cx="1273926" cy="1082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cxnSp>
        <p:nvCxnSpPr>
          <p:cNvPr id="552" name="Google Shape;552;p64"/>
          <p:cNvCxnSpPr/>
          <p:nvPr/>
        </p:nvCxnSpPr>
        <p:spPr>
          <a:xfrm flipH="1" rot="10800000">
            <a:off x="5312550" y="1126150"/>
            <a:ext cx="256800" cy="92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64"/>
          <p:cNvSpPr txBox="1"/>
          <p:nvPr/>
        </p:nvSpPr>
        <p:spPr>
          <a:xfrm>
            <a:off x="5471900" y="789750"/>
            <a:ext cx="10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aumenta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54" name="Google Shape;554;p64"/>
          <p:cNvCxnSpPr/>
          <p:nvPr/>
        </p:nvCxnSpPr>
        <p:spPr>
          <a:xfrm flipH="1" rot="10800000">
            <a:off x="4967297" y="2347836"/>
            <a:ext cx="256800" cy="92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55" name="Google Shape;555;p64"/>
          <p:cNvSpPr txBox="1"/>
          <p:nvPr/>
        </p:nvSpPr>
        <p:spPr>
          <a:xfrm>
            <a:off x="4967300" y="3098950"/>
            <a:ext cx="10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diminui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875" y="472875"/>
            <a:ext cx="4115747" cy="67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" name="Google Shape;561;p65"/>
          <p:cNvCxnSpPr/>
          <p:nvPr/>
        </p:nvCxnSpPr>
        <p:spPr>
          <a:xfrm flipH="1" rot="10800000">
            <a:off x="3506575" y="922375"/>
            <a:ext cx="97500" cy="947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65"/>
          <p:cNvCxnSpPr/>
          <p:nvPr/>
        </p:nvCxnSpPr>
        <p:spPr>
          <a:xfrm flipH="1" rot="10800000">
            <a:off x="3993475" y="940375"/>
            <a:ext cx="132900" cy="929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3" name="Google Shape;563;p65"/>
          <p:cNvSpPr txBox="1"/>
          <p:nvPr/>
        </p:nvSpPr>
        <p:spPr>
          <a:xfrm>
            <a:off x="2700975" y="1931750"/>
            <a:ext cx="5099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Eu só consigo derivar em respeito a       e </a:t>
            </a:r>
            <a:b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Porque só elas aparecem na função, não tem  </a:t>
            </a:r>
            <a:b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64" name="Google Shape;564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830" y="2018800"/>
            <a:ext cx="144704" cy="2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4742" y="2018800"/>
            <a:ext cx="178996" cy="2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65"/>
          <p:cNvSpPr/>
          <p:nvPr/>
        </p:nvSpPr>
        <p:spPr>
          <a:xfrm>
            <a:off x="3519550" y="3029500"/>
            <a:ext cx="1478400" cy="1203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67" name="Google Shape;567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1250" y="3157748"/>
            <a:ext cx="1114999" cy="94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pic>
        <p:nvPicPr>
          <p:cNvPr id="568" name="Google Shape;568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43466" y="2562897"/>
            <a:ext cx="359243" cy="2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6"/>
          <p:cNvSpPr txBox="1"/>
          <p:nvPr/>
        </p:nvSpPr>
        <p:spPr>
          <a:xfrm>
            <a:off x="70850" y="159350"/>
            <a:ext cx="8065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adicionar      eu posso usar do artifício matemático de colocar uma divisão dele por ele mesmo (resultado 1, não muda nada!)</a:t>
            </a:r>
            <a:endParaRPr/>
          </a:p>
        </p:txBody>
      </p:sp>
      <p:sp>
        <p:nvSpPr>
          <p:cNvPr id="574" name="Google Shape;574;p66"/>
          <p:cNvSpPr/>
          <p:nvPr/>
        </p:nvSpPr>
        <p:spPr>
          <a:xfrm>
            <a:off x="1151725" y="1090725"/>
            <a:ext cx="5471100" cy="131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75" name="Google Shape;57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369" y="269500"/>
            <a:ext cx="144704" cy="2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825" y="1290129"/>
            <a:ext cx="4868026" cy="9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7"/>
          <p:cNvSpPr txBox="1"/>
          <p:nvPr/>
        </p:nvSpPr>
        <p:spPr>
          <a:xfrm>
            <a:off x="70850" y="159350"/>
            <a:ext cx="8065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adicionar      eu posso usar do artifício matemático de colocar uma divisão dele por ele mesmo (resultado 1, não muda nada!)</a:t>
            </a:r>
            <a:endParaRPr/>
          </a:p>
        </p:txBody>
      </p:sp>
      <p:sp>
        <p:nvSpPr>
          <p:cNvPr id="582" name="Google Shape;582;p67"/>
          <p:cNvSpPr/>
          <p:nvPr/>
        </p:nvSpPr>
        <p:spPr>
          <a:xfrm>
            <a:off x="1151725" y="1090725"/>
            <a:ext cx="5471100" cy="131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83" name="Google Shape;58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369" y="269500"/>
            <a:ext cx="144704" cy="2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825" y="1290129"/>
            <a:ext cx="4868026" cy="9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7"/>
          <p:cNvSpPr txBox="1"/>
          <p:nvPr/>
        </p:nvSpPr>
        <p:spPr>
          <a:xfrm>
            <a:off x="70850" y="2693500"/>
            <a:ext cx="86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função para estimar       é a sigmóide</a:t>
            </a:r>
            <a:endParaRPr/>
          </a:p>
        </p:txBody>
      </p:sp>
      <p:pic>
        <p:nvPicPr>
          <p:cNvPr id="586" name="Google Shape;586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4250" y="2773650"/>
            <a:ext cx="190725" cy="2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7"/>
          <p:cNvPicPr preferRelativeResize="0"/>
          <p:nvPr/>
        </p:nvPicPr>
        <p:blipFill rotWithShape="1">
          <a:blip r:embed="rId6">
            <a:alphaModFix/>
          </a:blip>
          <a:srcRect b="69480" l="23165" r="26355" t="13391"/>
          <a:stretch/>
        </p:blipFill>
        <p:spPr>
          <a:xfrm>
            <a:off x="2710650" y="3458600"/>
            <a:ext cx="2528874" cy="90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8"/>
          <p:cNvSpPr txBox="1"/>
          <p:nvPr/>
        </p:nvSpPr>
        <p:spPr>
          <a:xfrm>
            <a:off x="70850" y="331300"/>
            <a:ext cx="86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função para estimar       é a logística</a:t>
            </a:r>
            <a:endParaRPr/>
          </a:p>
        </p:txBody>
      </p:sp>
      <p:pic>
        <p:nvPicPr>
          <p:cNvPr id="593" name="Google Shape;59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4250" y="411450"/>
            <a:ext cx="190725" cy="2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8"/>
          <p:cNvSpPr/>
          <p:nvPr/>
        </p:nvSpPr>
        <p:spPr>
          <a:xfrm>
            <a:off x="4966175" y="2480950"/>
            <a:ext cx="608100" cy="7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95" name="Google Shape;595;p68"/>
          <p:cNvPicPr preferRelativeResize="0"/>
          <p:nvPr/>
        </p:nvPicPr>
        <p:blipFill rotWithShape="1">
          <a:blip r:embed="rId4">
            <a:alphaModFix/>
          </a:blip>
          <a:srcRect b="0" l="84905" r="0" t="0"/>
          <a:stretch/>
        </p:blipFill>
        <p:spPr>
          <a:xfrm>
            <a:off x="5051690" y="2587959"/>
            <a:ext cx="394342" cy="52624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68"/>
          <p:cNvSpPr txBox="1"/>
          <p:nvPr/>
        </p:nvSpPr>
        <p:spPr>
          <a:xfrm>
            <a:off x="178950" y="2480950"/>
            <a:ext cx="8391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Também não tenho os pesos para derivar                  mas        é na realidade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97" name="Google Shape;597;p68"/>
          <p:cNvPicPr preferRelativeResize="0"/>
          <p:nvPr/>
        </p:nvPicPr>
        <p:blipFill rotWithShape="1">
          <a:blip r:embed="rId5">
            <a:alphaModFix/>
          </a:blip>
          <a:srcRect b="69480" l="23165" r="26355" t="13391"/>
          <a:stretch/>
        </p:blipFill>
        <p:spPr>
          <a:xfrm>
            <a:off x="2724500" y="1011575"/>
            <a:ext cx="2417451" cy="868156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8"/>
          <p:cNvSpPr/>
          <p:nvPr/>
        </p:nvSpPr>
        <p:spPr>
          <a:xfrm>
            <a:off x="1586025" y="3822425"/>
            <a:ext cx="5409000" cy="52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99" name="Google Shape;599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5442" y="3962926"/>
            <a:ext cx="5089524" cy="2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8525" y="2572350"/>
            <a:ext cx="242800" cy="2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9"/>
          <p:cNvSpPr txBox="1"/>
          <p:nvPr/>
        </p:nvSpPr>
        <p:spPr>
          <a:xfrm>
            <a:off x="70850" y="331300"/>
            <a:ext cx="86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Então por fim posso adicionar também derivada de </a:t>
            </a:r>
            <a:endParaRPr/>
          </a:p>
        </p:txBody>
      </p:sp>
      <p:sp>
        <p:nvSpPr>
          <p:cNvPr id="606" name="Google Shape;606;p69"/>
          <p:cNvSpPr txBox="1"/>
          <p:nvPr/>
        </p:nvSpPr>
        <p:spPr>
          <a:xfrm>
            <a:off x="178950" y="2480950"/>
            <a:ext cx="839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7" name="Google Shape;607;p69"/>
          <p:cNvSpPr/>
          <p:nvPr/>
        </p:nvSpPr>
        <p:spPr>
          <a:xfrm>
            <a:off x="1452700" y="966800"/>
            <a:ext cx="3611100" cy="122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08" name="Google Shape;60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201" y="1024396"/>
            <a:ext cx="2755703" cy="1109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0"/>
          <p:cNvSpPr txBox="1"/>
          <p:nvPr/>
        </p:nvSpPr>
        <p:spPr>
          <a:xfrm>
            <a:off x="70850" y="102700"/>
            <a:ext cx="8614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Vamos derivar as três partes: a derivada de Loss (vamos desconsiderar o somatório), e usar a propriedade do que estiver envolto por log vira divisão</a:t>
            </a:r>
            <a:endParaRPr/>
          </a:p>
        </p:txBody>
      </p:sp>
      <p:sp>
        <p:nvSpPr>
          <p:cNvPr id="614" name="Google Shape;614;p70"/>
          <p:cNvSpPr/>
          <p:nvPr/>
        </p:nvSpPr>
        <p:spPr>
          <a:xfrm>
            <a:off x="906675" y="3533500"/>
            <a:ext cx="3895200" cy="11598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15" name="Google Shape;61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75" y="1636453"/>
            <a:ext cx="4115747" cy="67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6" name="Google Shape;616;p70"/>
          <p:cNvGrpSpPr/>
          <p:nvPr/>
        </p:nvGrpSpPr>
        <p:grpSpPr>
          <a:xfrm>
            <a:off x="874473" y="2434800"/>
            <a:ext cx="4321200" cy="775500"/>
            <a:chOff x="1026873" y="2130000"/>
            <a:chExt cx="4321200" cy="775500"/>
          </a:xfrm>
        </p:grpSpPr>
        <p:sp>
          <p:nvSpPr>
            <p:cNvPr id="617" name="Google Shape;617;p70"/>
            <p:cNvSpPr/>
            <p:nvPr/>
          </p:nvSpPr>
          <p:spPr>
            <a:xfrm>
              <a:off x="1026873" y="2130000"/>
              <a:ext cx="4321200" cy="775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18" name="Google Shape;618;p70"/>
            <p:cNvPicPr preferRelativeResize="0"/>
            <p:nvPr/>
          </p:nvPicPr>
          <p:blipFill rotWithShape="1">
            <a:blip r:embed="rId4">
              <a:alphaModFix/>
            </a:blip>
            <a:srcRect b="0" l="0" r="25695" t="0"/>
            <a:stretch/>
          </p:blipFill>
          <p:spPr>
            <a:xfrm>
              <a:off x="1143000" y="2193750"/>
              <a:ext cx="4115343" cy="676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9" name="Google Shape;61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0238" y="3725652"/>
            <a:ext cx="2548079" cy="77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70"/>
          <p:cNvGrpSpPr/>
          <p:nvPr/>
        </p:nvGrpSpPr>
        <p:grpSpPr>
          <a:xfrm>
            <a:off x="906683" y="810699"/>
            <a:ext cx="1498200" cy="597300"/>
            <a:chOff x="902775" y="515725"/>
            <a:chExt cx="1498200" cy="597300"/>
          </a:xfrm>
        </p:grpSpPr>
        <p:sp>
          <p:nvSpPr>
            <p:cNvPr id="621" name="Google Shape;621;p70"/>
            <p:cNvSpPr/>
            <p:nvPr/>
          </p:nvSpPr>
          <p:spPr>
            <a:xfrm>
              <a:off x="902775" y="515725"/>
              <a:ext cx="1498200" cy="597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22" name="Google Shape;622;p7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48301" y="581947"/>
              <a:ext cx="1154139" cy="4647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3" name="Google Shape;623;p70"/>
          <p:cNvSpPr/>
          <p:nvPr/>
        </p:nvSpPr>
        <p:spPr>
          <a:xfrm>
            <a:off x="1043925" y="826275"/>
            <a:ext cx="557400" cy="567900"/>
          </a:xfrm>
          <a:prstGeom prst="rect">
            <a:avLst/>
          </a:prstGeom>
          <a:solidFill>
            <a:srgbClr val="DE4547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1"/>
          <p:cNvSpPr txBox="1"/>
          <p:nvPr/>
        </p:nvSpPr>
        <p:spPr>
          <a:xfrm>
            <a:off x="70850" y="102700"/>
            <a:ext cx="86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Derivada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da sigmóide é:</a:t>
            </a:r>
            <a:endParaRPr/>
          </a:p>
        </p:txBody>
      </p:sp>
      <p:sp>
        <p:nvSpPr>
          <p:cNvPr id="629" name="Google Shape;629;p71"/>
          <p:cNvSpPr/>
          <p:nvPr/>
        </p:nvSpPr>
        <p:spPr>
          <a:xfrm>
            <a:off x="6041325" y="142875"/>
            <a:ext cx="2890800" cy="8607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30" name="Google Shape;63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1183" y="285473"/>
            <a:ext cx="1890955" cy="5755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1" name="Google Shape;631;p71"/>
          <p:cNvGrpSpPr/>
          <p:nvPr/>
        </p:nvGrpSpPr>
        <p:grpSpPr>
          <a:xfrm>
            <a:off x="670850" y="4030800"/>
            <a:ext cx="2273400" cy="860700"/>
            <a:chOff x="670850" y="1514100"/>
            <a:chExt cx="2273400" cy="860700"/>
          </a:xfrm>
        </p:grpSpPr>
        <p:sp>
          <p:nvSpPr>
            <p:cNvPr id="632" name="Google Shape;632;p71"/>
            <p:cNvSpPr/>
            <p:nvPr/>
          </p:nvSpPr>
          <p:spPr>
            <a:xfrm>
              <a:off x="670850" y="1514100"/>
              <a:ext cx="2273400" cy="860700"/>
            </a:xfrm>
            <a:prstGeom prst="rect">
              <a:avLst/>
            </a:prstGeom>
            <a:solidFill>
              <a:schemeClr val="lt1"/>
            </a:solidFill>
            <a:ln cap="flat" cmpd="sng" w="762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33" name="Google Shape;633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50392" y="1624482"/>
              <a:ext cx="1771050" cy="629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4" name="Google Shape;634;p71"/>
          <p:cNvGrpSpPr/>
          <p:nvPr/>
        </p:nvGrpSpPr>
        <p:grpSpPr>
          <a:xfrm>
            <a:off x="670858" y="611274"/>
            <a:ext cx="1498200" cy="597300"/>
            <a:chOff x="902775" y="515725"/>
            <a:chExt cx="1498200" cy="597300"/>
          </a:xfrm>
        </p:grpSpPr>
        <p:sp>
          <p:nvSpPr>
            <p:cNvPr id="635" name="Google Shape;635;p71"/>
            <p:cNvSpPr/>
            <p:nvPr/>
          </p:nvSpPr>
          <p:spPr>
            <a:xfrm>
              <a:off x="902775" y="515725"/>
              <a:ext cx="1498200" cy="597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36" name="Google Shape;636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48301" y="581947"/>
              <a:ext cx="1154139" cy="4647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7" name="Google Shape;637;p71"/>
          <p:cNvSpPr/>
          <p:nvPr/>
        </p:nvSpPr>
        <p:spPr>
          <a:xfrm>
            <a:off x="1383625" y="625975"/>
            <a:ext cx="244200" cy="5679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8" name="Google Shape;638;p71"/>
          <p:cNvSpPr/>
          <p:nvPr/>
        </p:nvSpPr>
        <p:spPr>
          <a:xfrm>
            <a:off x="674125" y="2216711"/>
            <a:ext cx="3009600" cy="80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9" name="Google Shape;639;p71"/>
          <p:cNvSpPr/>
          <p:nvPr/>
        </p:nvSpPr>
        <p:spPr>
          <a:xfrm>
            <a:off x="5161775" y="3257400"/>
            <a:ext cx="1379400" cy="50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40" name="Google Shape;640;p71"/>
          <p:cNvPicPr preferRelativeResize="0"/>
          <p:nvPr/>
        </p:nvPicPr>
        <p:blipFill rotWithShape="1">
          <a:blip r:embed="rId6">
            <a:alphaModFix/>
          </a:blip>
          <a:srcRect b="69480" l="23165" r="26355" t="13391"/>
          <a:stretch/>
        </p:blipFill>
        <p:spPr>
          <a:xfrm>
            <a:off x="674113" y="1409500"/>
            <a:ext cx="1663230" cy="5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200" y="2307685"/>
            <a:ext cx="2807725" cy="6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72944" y="3343950"/>
            <a:ext cx="1151910" cy="32562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71"/>
          <p:cNvSpPr txBox="1"/>
          <p:nvPr/>
        </p:nvSpPr>
        <p:spPr>
          <a:xfrm>
            <a:off x="678925" y="3301350"/>
            <a:ext cx="425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</a:t>
            </a: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</a:t>
            </a: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estimado (   ) vai ser o resultado da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igmóide 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44" name="Google Shape;644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87885" y="3403379"/>
            <a:ext cx="141875" cy="23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51788" y="3635102"/>
            <a:ext cx="311518" cy="2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2"/>
          <p:cNvSpPr txBox="1"/>
          <p:nvPr/>
        </p:nvSpPr>
        <p:spPr>
          <a:xfrm>
            <a:off x="70850" y="102700"/>
            <a:ext cx="86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Derivada das variáveis pelos pesos</a:t>
            </a:r>
            <a:endParaRPr/>
          </a:p>
        </p:txBody>
      </p:sp>
      <p:sp>
        <p:nvSpPr>
          <p:cNvPr id="651" name="Google Shape;651;p72"/>
          <p:cNvSpPr/>
          <p:nvPr/>
        </p:nvSpPr>
        <p:spPr>
          <a:xfrm>
            <a:off x="6041325" y="142875"/>
            <a:ext cx="2890800" cy="8607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2" name="Google Shape;65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1183" y="285473"/>
            <a:ext cx="1890955" cy="575507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72"/>
          <p:cNvSpPr txBox="1"/>
          <p:nvPr/>
        </p:nvSpPr>
        <p:spPr>
          <a:xfrm>
            <a:off x="542075" y="2708650"/>
            <a:ext cx="751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Desconsiderando somatório, a derivada em relação a w é apenas:</a:t>
            </a:r>
            <a:endParaRPr/>
          </a:p>
        </p:txBody>
      </p:sp>
      <p:sp>
        <p:nvSpPr>
          <p:cNvPr id="654" name="Google Shape;654;p72"/>
          <p:cNvSpPr/>
          <p:nvPr/>
        </p:nvSpPr>
        <p:spPr>
          <a:xfrm>
            <a:off x="439475" y="1988750"/>
            <a:ext cx="2154300" cy="42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5" name="Google Shape;655;p72"/>
          <p:cNvSpPr/>
          <p:nvPr/>
        </p:nvSpPr>
        <p:spPr>
          <a:xfrm>
            <a:off x="439475" y="1365775"/>
            <a:ext cx="3839400" cy="37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6" name="Google Shape;65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728" y="1465503"/>
            <a:ext cx="3612583" cy="187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789" y="2046196"/>
            <a:ext cx="1931149" cy="33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8" name="Google Shape;658;p72"/>
          <p:cNvGrpSpPr/>
          <p:nvPr/>
        </p:nvGrpSpPr>
        <p:grpSpPr>
          <a:xfrm>
            <a:off x="682525" y="3613800"/>
            <a:ext cx="1735200" cy="1195200"/>
            <a:chOff x="682525" y="3613800"/>
            <a:chExt cx="1735200" cy="1195200"/>
          </a:xfrm>
        </p:grpSpPr>
        <p:sp>
          <p:nvSpPr>
            <p:cNvPr id="659" name="Google Shape;659;p72"/>
            <p:cNvSpPr/>
            <p:nvPr/>
          </p:nvSpPr>
          <p:spPr>
            <a:xfrm>
              <a:off x="682525" y="3613800"/>
              <a:ext cx="1735200" cy="1195200"/>
            </a:xfrm>
            <a:prstGeom prst="rect">
              <a:avLst/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60" name="Google Shape;660;p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8800" y="3803687"/>
              <a:ext cx="1365150" cy="815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1" name="Google Shape;661;p72"/>
          <p:cNvGrpSpPr/>
          <p:nvPr/>
        </p:nvGrpSpPr>
        <p:grpSpPr>
          <a:xfrm>
            <a:off x="439483" y="584749"/>
            <a:ext cx="1498200" cy="597300"/>
            <a:chOff x="902775" y="515725"/>
            <a:chExt cx="1498200" cy="597300"/>
          </a:xfrm>
        </p:grpSpPr>
        <p:sp>
          <p:nvSpPr>
            <p:cNvPr id="662" name="Google Shape;662;p72"/>
            <p:cNvSpPr/>
            <p:nvPr/>
          </p:nvSpPr>
          <p:spPr>
            <a:xfrm>
              <a:off x="902775" y="515725"/>
              <a:ext cx="1498200" cy="597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63" name="Google Shape;663;p7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48301" y="581947"/>
              <a:ext cx="1154139" cy="4647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4" name="Google Shape;664;p72"/>
          <p:cNvGrpSpPr/>
          <p:nvPr/>
        </p:nvGrpSpPr>
        <p:grpSpPr>
          <a:xfrm>
            <a:off x="6987885" y="1151109"/>
            <a:ext cx="1957170" cy="740977"/>
            <a:chOff x="670850" y="1514100"/>
            <a:chExt cx="2273400" cy="860700"/>
          </a:xfrm>
        </p:grpSpPr>
        <p:sp>
          <p:nvSpPr>
            <p:cNvPr id="665" name="Google Shape;665;p72"/>
            <p:cNvSpPr/>
            <p:nvPr/>
          </p:nvSpPr>
          <p:spPr>
            <a:xfrm>
              <a:off x="670850" y="1514100"/>
              <a:ext cx="2273400" cy="860700"/>
            </a:xfrm>
            <a:prstGeom prst="rect">
              <a:avLst/>
            </a:prstGeom>
            <a:solidFill>
              <a:schemeClr val="lt1"/>
            </a:solidFill>
            <a:ln cap="flat" cmpd="sng" w="762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66" name="Google Shape;666;p7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50392" y="1624482"/>
              <a:ext cx="1771050" cy="629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3"/>
          <p:cNvSpPr txBox="1"/>
          <p:nvPr/>
        </p:nvSpPr>
        <p:spPr>
          <a:xfrm>
            <a:off x="70850" y="102700"/>
            <a:ext cx="86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Substituindo os três</a:t>
            </a:r>
            <a:endParaRPr/>
          </a:p>
        </p:txBody>
      </p:sp>
      <p:sp>
        <p:nvSpPr>
          <p:cNvPr id="672" name="Google Shape;672;p73"/>
          <p:cNvSpPr/>
          <p:nvPr/>
        </p:nvSpPr>
        <p:spPr>
          <a:xfrm>
            <a:off x="6041325" y="142875"/>
            <a:ext cx="2890800" cy="8607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73" name="Google Shape;67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1183" y="285473"/>
            <a:ext cx="1890955" cy="575507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73"/>
          <p:cNvSpPr/>
          <p:nvPr/>
        </p:nvSpPr>
        <p:spPr>
          <a:xfrm>
            <a:off x="589875" y="1321650"/>
            <a:ext cx="2730900" cy="86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75" name="Google Shape;675;p73"/>
          <p:cNvPicPr preferRelativeResize="0"/>
          <p:nvPr/>
        </p:nvPicPr>
        <p:blipFill rotWithShape="1">
          <a:blip r:embed="rId3">
            <a:alphaModFix/>
          </a:blip>
          <a:srcRect b="0" l="53052" r="0" t="0"/>
          <a:stretch/>
        </p:blipFill>
        <p:spPr>
          <a:xfrm>
            <a:off x="830469" y="1464225"/>
            <a:ext cx="887776" cy="57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73"/>
          <p:cNvPicPr preferRelativeResize="0"/>
          <p:nvPr/>
        </p:nvPicPr>
        <p:blipFill rotWithShape="1">
          <a:blip r:embed="rId4">
            <a:alphaModFix/>
          </a:blip>
          <a:srcRect b="0" l="40744" r="0" t="0"/>
          <a:stretch/>
        </p:blipFill>
        <p:spPr>
          <a:xfrm>
            <a:off x="1876934" y="1487513"/>
            <a:ext cx="887776" cy="5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73"/>
          <p:cNvPicPr preferRelativeResize="0"/>
          <p:nvPr/>
        </p:nvPicPr>
        <p:blipFill rotWithShape="1">
          <a:blip r:embed="rId5">
            <a:alphaModFix/>
          </a:blip>
          <a:srcRect b="0" l="76983" r="0" t="0"/>
          <a:stretch/>
        </p:blipFill>
        <p:spPr>
          <a:xfrm>
            <a:off x="2884975" y="1442075"/>
            <a:ext cx="229225" cy="61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73"/>
          <p:cNvSpPr/>
          <p:nvPr/>
        </p:nvSpPr>
        <p:spPr>
          <a:xfrm>
            <a:off x="1178275" y="2578000"/>
            <a:ext cx="5515200" cy="2186700"/>
          </a:xfrm>
          <a:prstGeom prst="rect">
            <a:avLst/>
          </a:prstGeom>
          <a:solidFill>
            <a:schemeClr val="lt1"/>
          </a:solidFill>
          <a:ln cap="flat" cmpd="sng" w="1143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79" name="Google Shape;679;p73"/>
          <p:cNvCxnSpPr/>
          <p:nvPr/>
        </p:nvCxnSpPr>
        <p:spPr>
          <a:xfrm flipH="1" rot="10800000">
            <a:off x="1913075" y="1630700"/>
            <a:ext cx="832200" cy="309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73"/>
          <p:cNvCxnSpPr/>
          <p:nvPr/>
        </p:nvCxnSpPr>
        <p:spPr>
          <a:xfrm flipH="1" rot="10800000">
            <a:off x="830475" y="1752000"/>
            <a:ext cx="832200" cy="309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81" name="Google Shape;681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3812" y="3128800"/>
            <a:ext cx="4159800" cy="118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2" name="Google Shape;682;p73"/>
          <p:cNvGrpSpPr/>
          <p:nvPr/>
        </p:nvGrpSpPr>
        <p:grpSpPr>
          <a:xfrm>
            <a:off x="7606581" y="2040660"/>
            <a:ext cx="1334716" cy="919348"/>
            <a:chOff x="682525" y="3613800"/>
            <a:chExt cx="1735200" cy="1195200"/>
          </a:xfrm>
        </p:grpSpPr>
        <p:sp>
          <p:nvSpPr>
            <p:cNvPr id="683" name="Google Shape;683;p73"/>
            <p:cNvSpPr/>
            <p:nvPr/>
          </p:nvSpPr>
          <p:spPr>
            <a:xfrm>
              <a:off x="682525" y="3613800"/>
              <a:ext cx="1735200" cy="1195200"/>
            </a:xfrm>
            <a:prstGeom prst="rect">
              <a:avLst/>
            </a:prstGeom>
            <a:solidFill>
              <a:schemeClr val="lt1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84" name="Google Shape;684;p7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48800" y="3803687"/>
              <a:ext cx="1365150" cy="815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5" name="Google Shape;685;p73"/>
          <p:cNvGrpSpPr/>
          <p:nvPr/>
        </p:nvGrpSpPr>
        <p:grpSpPr>
          <a:xfrm>
            <a:off x="603283" y="531649"/>
            <a:ext cx="1498200" cy="597300"/>
            <a:chOff x="902775" y="515725"/>
            <a:chExt cx="1498200" cy="597300"/>
          </a:xfrm>
        </p:grpSpPr>
        <p:sp>
          <p:nvSpPr>
            <p:cNvPr id="686" name="Google Shape;686;p73"/>
            <p:cNvSpPr/>
            <p:nvPr/>
          </p:nvSpPr>
          <p:spPr>
            <a:xfrm>
              <a:off x="902775" y="515725"/>
              <a:ext cx="1498200" cy="597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87" name="Google Shape;687;p7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48301" y="581947"/>
              <a:ext cx="1154139" cy="4647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8" name="Google Shape;688;p73"/>
          <p:cNvGrpSpPr/>
          <p:nvPr/>
        </p:nvGrpSpPr>
        <p:grpSpPr>
          <a:xfrm>
            <a:off x="6987885" y="1151109"/>
            <a:ext cx="1957170" cy="740977"/>
            <a:chOff x="670850" y="1514100"/>
            <a:chExt cx="2273400" cy="860700"/>
          </a:xfrm>
        </p:grpSpPr>
        <p:sp>
          <p:nvSpPr>
            <p:cNvPr id="689" name="Google Shape;689;p73"/>
            <p:cNvSpPr/>
            <p:nvPr/>
          </p:nvSpPr>
          <p:spPr>
            <a:xfrm>
              <a:off x="670850" y="1514100"/>
              <a:ext cx="2273400" cy="860700"/>
            </a:xfrm>
            <a:prstGeom prst="rect">
              <a:avLst/>
            </a:prstGeom>
            <a:solidFill>
              <a:schemeClr val="lt1"/>
            </a:solidFill>
            <a:ln cap="flat" cmpd="sng" w="762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90" name="Google Shape;690;p7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50392" y="1624482"/>
              <a:ext cx="1771050" cy="629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4"/>
          <p:cNvSpPr txBox="1"/>
          <p:nvPr/>
        </p:nvSpPr>
        <p:spPr>
          <a:xfrm>
            <a:off x="70850" y="102700"/>
            <a:ext cx="86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Isso é ótimo, porque já temos tudo!</a:t>
            </a:r>
            <a:endParaRPr/>
          </a:p>
        </p:txBody>
      </p:sp>
      <p:sp>
        <p:nvSpPr>
          <p:cNvPr id="696" name="Google Shape;696;p74"/>
          <p:cNvSpPr/>
          <p:nvPr/>
        </p:nvSpPr>
        <p:spPr>
          <a:xfrm>
            <a:off x="2692400" y="656950"/>
            <a:ext cx="3371700" cy="1336800"/>
          </a:xfrm>
          <a:prstGeom prst="rect">
            <a:avLst/>
          </a:prstGeom>
          <a:solidFill>
            <a:schemeClr val="lt1"/>
          </a:solidFill>
          <a:ln cap="flat" cmpd="sng" w="1143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97" name="Google Shape;69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922" y="993672"/>
            <a:ext cx="2543006" cy="7271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8" name="Google Shape;698;p74"/>
          <p:cNvGraphicFramePr/>
          <p:nvPr/>
        </p:nvGraphicFramePr>
        <p:xfrm>
          <a:off x="519575" y="23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699" name="Google Shape;69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6231" y="2232750"/>
            <a:ext cx="689575" cy="25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8147" y="2232747"/>
            <a:ext cx="608786" cy="25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5"/>
          <p:cNvSpPr txBox="1"/>
          <p:nvPr/>
        </p:nvSpPr>
        <p:spPr>
          <a:xfrm>
            <a:off x="70850" y="102700"/>
            <a:ext cx="86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Isso é ótimo, porque já temos tudo!</a:t>
            </a:r>
            <a:endParaRPr/>
          </a:p>
        </p:txBody>
      </p:sp>
      <p:sp>
        <p:nvSpPr>
          <p:cNvPr id="706" name="Google Shape;706;p75"/>
          <p:cNvSpPr/>
          <p:nvPr/>
        </p:nvSpPr>
        <p:spPr>
          <a:xfrm>
            <a:off x="2692400" y="656950"/>
            <a:ext cx="3371700" cy="1336800"/>
          </a:xfrm>
          <a:prstGeom prst="rect">
            <a:avLst/>
          </a:prstGeom>
          <a:solidFill>
            <a:schemeClr val="lt1"/>
          </a:solidFill>
          <a:ln cap="flat" cmpd="sng" w="1143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07" name="Google Shape;70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922" y="993672"/>
            <a:ext cx="2543006" cy="7271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8" name="Google Shape;708;p75"/>
          <p:cNvGraphicFramePr/>
          <p:nvPr/>
        </p:nvGraphicFramePr>
        <p:xfrm>
          <a:off x="519575" y="23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709" name="Google Shape;70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6231" y="2232750"/>
            <a:ext cx="689575" cy="25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8147" y="2232747"/>
            <a:ext cx="608786" cy="25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75"/>
          <p:cNvSpPr/>
          <p:nvPr/>
        </p:nvSpPr>
        <p:spPr>
          <a:xfrm>
            <a:off x="4365300" y="1081875"/>
            <a:ext cx="1000500" cy="5046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2" name="Google Shape;712;p75"/>
          <p:cNvSpPr/>
          <p:nvPr/>
        </p:nvSpPr>
        <p:spPr>
          <a:xfrm>
            <a:off x="7628150" y="2231250"/>
            <a:ext cx="608700" cy="25569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6"/>
          <p:cNvSpPr txBox="1"/>
          <p:nvPr/>
        </p:nvSpPr>
        <p:spPr>
          <a:xfrm>
            <a:off x="70850" y="102700"/>
            <a:ext cx="86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Isso é ótimo, porque já temos tudo!</a:t>
            </a:r>
            <a:endParaRPr/>
          </a:p>
        </p:txBody>
      </p:sp>
      <p:sp>
        <p:nvSpPr>
          <p:cNvPr id="718" name="Google Shape;718;p76"/>
          <p:cNvSpPr/>
          <p:nvPr/>
        </p:nvSpPr>
        <p:spPr>
          <a:xfrm>
            <a:off x="2692400" y="656950"/>
            <a:ext cx="3371700" cy="1336800"/>
          </a:xfrm>
          <a:prstGeom prst="rect">
            <a:avLst/>
          </a:prstGeom>
          <a:solidFill>
            <a:schemeClr val="lt1"/>
          </a:solidFill>
          <a:ln cap="flat" cmpd="sng" w="1143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19" name="Google Shape;71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922" y="993672"/>
            <a:ext cx="2543006" cy="7271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0" name="Google Shape;720;p76"/>
          <p:cNvGraphicFramePr/>
          <p:nvPr/>
        </p:nvGraphicFramePr>
        <p:xfrm>
          <a:off x="519575" y="232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721" name="Google Shape;72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6231" y="2232750"/>
            <a:ext cx="689575" cy="25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8147" y="2232747"/>
            <a:ext cx="608786" cy="25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76"/>
          <p:cNvSpPr/>
          <p:nvPr/>
        </p:nvSpPr>
        <p:spPr>
          <a:xfrm>
            <a:off x="4365300" y="1081875"/>
            <a:ext cx="1000500" cy="5046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4" name="Google Shape;724;p76"/>
          <p:cNvSpPr/>
          <p:nvPr/>
        </p:nvSpPr>
        <p:spPr>
          <a:xfrm>
            <a:off x="5374525" y="1081875"/>
            <a:ext cx="283200" cy="5046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5" name="Google Shape;725;p76"/>
          <p:cNvSpPr/>
          <p:nvPr/>
        </p:nvSpPr>
        <p:spPr>
          <a:xfrm>
            <a:off x="7628150" y="2231250"/>
            <a:ext cx="608700" cy="25569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6" name="Google Shape;726;p76"/>
          <p:cNvSpPr/>
          <p:nvPr/>
        </p:nvSpPr>
        <p:spPr>
          <a:xfrm>
            <a:off x="519575" y="2319450"/>
            <a:ext cx="5269800" cy="24687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atualizar o peso pelo gradiente descendente?</a:t>
            </a:r>
            <a:endParaRPr/>
          </a:p>
        </p:txBody>
      </p:sp>
      <p:sp>
        <p:nvSpPr>
          <p:cNvPr id="732" name="Google Shape;732;p77"/>
          <p:cNvSpPr/>
          <p:nvPr/>
        </p:nvSpPr>
        <p:spPr>
          <a:xfrm>
            <a:off x="1333690" y="1478675"/>
            <a:ext cx="4567200" cy="9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3" name="Google Shape;733;p77"/>
          <p:cNvSpPr txBox="1"/>
          <p:nvPr/>
        </p:nvSpPr>
        <p:spPr>
          <a:xfrm>
            <a:off x="877289" y="2967539"/>
            <a:ext cx="509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: peso inicial aleatório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34" name="Google Shape;73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275" y="2979650"/>
            <a:ext cx="11144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275" y="3580400"/>
            <a:ext cx="34290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77"/>
          <p:cNvSpPr txBox="1"/>
          <p:nvPr/>
        </p:nvSpPr>
        <p:spPr>
          <a:xfrm>
            <a:off x="877303" y="3554325"/>
            <a:ext cx="63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: taxa de aprendizado (normalmente &lt; 1)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7" name="Google Shape;737;p77"/>
          <p:cNvSpPr txBox="1"/>
          <p:nvPr/>
        </p:nvSpPr>
        <p:spPr>
          <a:xfrm>
            <a:off x="1417300" y="4011425"/>
            <a:ext cx="578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variável para cada linha (i) e coluna (j)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8" name="Google Shape;738;p77"/>
          <p:cNvSpPr txBox="1"/>
          <p:nvPr/>
        </p:nvSpPr>
        <p:spPr>
          <a:xfrm>
            <a:off x="1603253" y="4497075"/>
            <a:ext cx="63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: erro (resíduo)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39" name="Google Shape;73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1900" y="3051089"/>
            <a:ext cx="361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7"/>
          <p:cNvSpPr txBox="1"/>
          <p:nvPr/>
        </p:nvSpPr>
        <p:spPr>
          <a:xfrm>
            <a:off x="5611650" y="2970797"/>
            <a:ext cx="363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: número de linhas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41" name="Google Shape;741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498" y="4522075"/>
            <a:ext cx="113511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2273" y="4100625"/>
            <a:ext cx="41211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81275" y="1575525"/>
            <a:ext cx="4272053" cy="7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atualizando coluna Idade</a:t>
            </a:r>
            <a:endParaRPr/>
          </a:p>
        </p:txBody>
      </p:sp>
      <p:sp>
        <p:nvSpPr>
          <p:cNvPr id="749" name="Google Shape;749;p78"/>
          <p:cNvSpPr/>
          <p:nvPr/>
        </p:nvSpPr>
        <p:spPr>
          <a:xfrm>
            <a:off x="190690" y="1478675"/>
            <a:ext cx="4567200" cy="9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50" name="Google Shape;75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50" y="2700775"/>
            <a:ext cx="6474800" cy="21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30" y="1578626"/>
            <a:ext cx="4323624" cy="7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7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atualizando coluna Idade</a:t>
            </a:r>
            <a:endParaRPr/>
          </a:p>
        </p:txBody>
      </p:sp>
      <p:sp>
        <p:nvSpPr>
          <p:cNvPr id="757" name="Google Shape;757;p79"/>
          <p:cNvSpPr/>
          <p:nvPr/>
        </p:nvSpPr>
        <p:spPr>
          <a:xfrm>
            <a:off x="190690" y="1478675"/>
            <a:ext cx="4567200" cy="9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58" name="Google Shape;75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50" y="2700775"/>
            <a:ext cx="6474800" cy="21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30" y="1578626"/>
            <a:ext cx="4323624" cy="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79"/>
          <p:cNvSpPr/>
          <p:nvPr/>
        </p:nvSpPr>
        <p:spPr>
          <a:xfrm>
            <a:off x="3079500" y="1640025"/>
            <a:ext cx="422700" cy="3057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1" name="Google Shape;761;p79"/>
          <p:cNvSpPr/>
          <p:nvPr/>
        </p:nvSpPr>
        <p:spPr>
          <a:xfrm>
            <a:off x="190700" y="3373150"/>
            <a:ext cx="303300" cy="14394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2" name="Google Shape;762;p79"/>
          <p:cNvSpPr/>
          <p:nvPr/>
        </p:nvSpPr>
        <p:spPr>
          <a:xfrm>
            <a:off x="3532700" y="1527450"/>
            <a:ext cx="1145700" cy="4182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3" name="Google Shape;763;p79"/>
          <p:cNvSpPr/>
          <p:nvPr/>
        </p:nvSpPr>
        <p:spPr>
          <a:xfrm>
            <a:off x="6132375" y="3373150"/>
            <a:ext cx="473700" cy="14394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4" name="Google Shape;764;p79"/>
          <p:cNvSpPr txBox="1"/>
          <p:nvPr/>
        </p:nvSpPr>
        <p:spPr>
          <a:xfrm>
            <a:off x="5091600" y="1239825"/>
            <a:ext cx="34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Multiplica idades * erros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5" name="Google Shape;765;p79"/>
          <p:cNvSpPr/>
          <p:nvPr/>
        </p:nvSpPr>
        <p:spPr>
          <a:xfrm>
            <a:off x="336600" y="2563801"/>
            <a:ext cx="6037275" cy="823625"/>
          </a:xfrm>
          <a:custGeom>
            <a:rect b="b" l="l" r="r" t="t"/>
            <a:pathLst>
              <a:path extrusionOk="0" h="32945" w="241491">
                <a:moveTo>
                  <a:pt x="0" y="32660"/>
                </a:moveTo>
                <a:cubicBezTo>
                  <a:pt x="21724" y="27217"/>
                  <a:pt x="90094" y="-45"/>
                  <a:pt x="130342" y="3"/>
                </a:cubicBezTo>
                <a:cubicBezTo>
                  <a:pt x="170591" y="51"/>
                  <a:pt x="222966" y="27456"/>
                  <a:pt x="241491" y="32946"/>
                </a:cubicBez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6" name="Google Shape;766;p79"/>
          <p:cNvSpPr txBox="1"/>
          <p:nvPr/>
        </p:nvSpPr>
        <p:spPr>
          <a:xfrm>
            <a:off x="6762600" y="3862150"/>
            <a:ext cx="30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endParaRPr/>
          </a:p>
        </p:txBody>
      </p:sp>
      <p:graphicFrame>
        <p:nvGraphicFramePr>
          <p:cNvPr id="767" name="Google Shape;767;p79"/>
          <p:cNvGraphicFramePr/>
          <p:nvPr/>
        </p:nvGraphicFramePr>
        <p:xfrm>
          <a:off x="7170750" y="2662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1184250"/>
              </a:tblGrid>
              <a:tr h="48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 * Erro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-12,33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-1,52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38,13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-0,17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5,69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atualizando coluna Idade</a:t>
            </a:r>
            <a:endParaRPr/>
          </a:p>
        </p:txBody>
      </p:sp>
      <p:sp>
        <p:nvSpPr>
          <p:cNvPr id="773" name="Google Shape;773;p80"/>
          <p:cNvSpPr/>
          <p:nvPr/>
        </p:nvSpPr>
        <p:spPr>
          <a:xfrm>
            <a:off x="190690" y="1478675"/>
            <a:ext cx="4567200" cy="9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74" name="Google Shape;77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50" y="2700775"/>
            <a:ext cx="6474800" cy="21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30" y="1578626"/>
            <a:ext cx="4323624" cy="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80"/>
          <p:cNvSpPr txBox="1"/>
          <p:nvPr/>
        </p:nvSpPr>
        <p:spPr>
          <a:xfrm>
            <a:off x="5091600" y="1239825"/>
            <a:ext cx="383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Multiplica idades * erros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Tira a média (soma e divide por n)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777" name="Google Shape;777;p80"/>
          <p:cNvGraphicFramePr/>
          <p:nvPr/>
        </p:nvGraphicFramePr>
        <p:xfrm>
          <a:off x="6658835" y="2662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1184250"/>
              </a:tblGrid>
              <a:tr h="48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 * Erro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-12,33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-1,52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38,13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-0,17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5,69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778" name="Google Shape;778;p80"/>
          <p:cNvSpPr/>
          <p:nvPr/>
        </p:nvSpPr>
        <p:spPr>
          <a:xfrm>
            <a:off x="3064200" y="1478675"/>
            <a:ext cx="1614300" cy="4908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9" name="Google Shape;779;p80"/>
          <p:cNvSpPr/>
          <p:nvPr/>
        </p:nvSpPr>
        <p:spPr>
          <a:xfrm>
            <a:off x="7005187" y="3136750"/>
            <a:ext cx="558600" cy="18510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80" name="Google Shape;780;p80"/>
          <p:cNvCxnSpPr/>
          <p:nvPr/>
        </p:nvCxnSpPr>
        <p:spPr>
          <a:xfrm>
            <a:off x="7563787" y="4062250"/>
            <a:ext cx="672000" cy="12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781" name="Google Shape;781;p80"/>
          <p:cNvGraphicFramePr/>
          <p:nvPr/>
        </p:nvGraphicFramePr>
        <p:xfrm>
          <a:off x="8303508" y="3841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6720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5,96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82" name="Google Shape;782;p80"/>
          <p:cNvSpPr txBox="1"/>
          <p:nvPr/>
        </p:nvSpPr>
        <p:spPr>
          <a:xfrm>
            <a:off x="8303500" y="3441075"/>
            <a:ext cx="7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Média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8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atualizando coluna Idade</a:t>
            </a:r>
            <a:endParaRPr/>
          </a:p>
        </p:txBody>
      </p:sp>
      <p:sp>
        <p:nvSpPr>
          <p:cNvPr id="788" name="Google Shape;788;p81"/>
          <p:cNvSpPr/>
          <p:nvPr/>
        </p:nvSpPr>
        <p:spPr>
          <a:xfrm>
            <a:off x="190690" y="1478675"/>
            <a:ext cx="4567200" cy="9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89" name="Google Shape;789;p81"/>
          <p:cNvPicPr preferRelativeResize="0"/>
          <p:nvPr/>
        </p:nvPicPr>
        <p:blipFill rotWithShape="1">
          <a:blip r:embed="rId3">
            <a:alphaModFix/>
          </a:blip>
          <a:srcRect b="-8060" l="-46050" r="46050" t="8060"/>
          <a:stretch/>
        </p:blipFill>
        <p:spPr>
          <a:xfrm>
            <a:off x="-1636020" y="1635926"/>
            <a:ext cx="4323624" cy="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81"/>
          <p:cNvSpPr txBox="1"/>
          <p:nvPr/>
        </p:nvSpPr>
        <p:spPr>
          <a:xfrm>
            <a:off x="5091600" y="1239825"/>
            <a:ext cx="383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Multiplica idades * erros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Tira a média (soma e divide por n)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791" name="Google Shape;791;p81"/>
          <p:cNvGraphicFramePr/>
          <p:nvPr/>
        </p:nvGraphicFramePr>
        <p:xfrm>
          <a:off x="6147858" y="22556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6720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5,96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92" name="Google Shape;792;p81"/>
          <p:cNvSpPr txBox="1"/>
          <p:nvPr/>
        </p:nvSpPr>
        <p:spPr>
          <a:xfrm>
            <a:off x="6147850" y="1855425"/>
            <a:ext cx="7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Média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93" name="Google Shape;79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9508" y="1817951"/>
            <a:ext cx="637825" cy="29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81"/>
          <p:cNvSpPr txBox="1"/>
          <p:nvPr/>
        </p:nvSpPr>
        <p:spPr>
          <a:xfrm>
            <a:off x="264975" y="2692775"/>
            <a:ext cx="46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Supondo taxa de aprendizado 0,3 (     ) 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Peso inicial da idade era 0,1 (            )   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5" name="Google Shape;795;p81"/>
          <p:cNvSpPr/>
          <p:nvPr/>
        </p:nvSpPr>
        <p:spPr>
          <a:xfrm>
            <a:off x="235675" y="3308375"/>
            <a:ext cx="45672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96" name="Google Shape;79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2865" y="2779638"/>
            <a:ext cx="205388" cy="21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81"/>
          <p:cNvSpPr/>
          <p:nvPr/>
        </p:nvSpPr>
        <p:spPr>
          <a:xfrm>
            <a:off x="322275" y="4296700"/>
            <a:ext cx="1640100" cy="3369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98" name="Google Shape;798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8598" y="2996785"/>
            <a:ext cx="558600" cy="237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774" y="3516300"/>
            <a:ext cx="2514965" cy="2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81"/>
          <p:cNvPicPr preferRelativeResize="0"/>
          <p:nvPr/>
        </p:nvPicPr>
        <p:blipFill rotWithShape="1">
          <a:blip r:embed="rId8">
            <a:alphaModFix/>
          </a:blip>
          <a:srcRect b="0" l="16402" r="0" t="0"/>
          <a:stretch/>
        </p:blipFill>
        <p:spPr>
          <a:xfrm>
            <a:off x="694673" y="3948718"/>
            <a:ext cx="1695001" cy="2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6676" y="4352845"/>
            <a:ext cx="1540411" cy="2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81"/>
          <p:cNvSpPr txBox="1"/>
          <p:nvPr/>
        </p:nvSpPr>
        <p:spPr>
          <a:xfrm>
            <a:off x="1963063" y="4271513"/>
            <a:ext cx="41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Novo peso para coluna idade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2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Resumo: recapitulando aprendizado de máquina</a:t>
            </a:r>
            <a:endParaRPr/>
          </a:p>
        </p:txBody>
      </p:sp>
      <p:sp>
        <p:nvSpPr>
          <p:cNvPr id="808" name="Google Shape;808;p82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riter writing a novel | Public domain vectors" id="809" name="Google Shape;80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225" y="143550"/>
            <a:ext cx="1908748" cy="1908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aprendizado de máquina?</a:t>
            </a:r>
            <a:endParaRPr/>
          </a:p>
        </p:txBody>
      </p:sp>
      <p:sp>
        <p:nvSpPr>
          <p:cNvPr id="815" name="Google Shape;815;p83"/>
          <p:cNvSpPr txBox="1"/>
          <p:nvPr>
            <p:ph idx="1" type="body"/>
          </p:nvPr>
        </p:nvSpPr>
        <p:spPr>
          <a:xfrm>
            <a:off x="233025" y="1369625"/>
            <a:ext cx="79290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🤔Definição do problema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⛏️Coleta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📊Tratamento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🔎Seleção de variáveis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🤖Escolha e treinamento do modelo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🎯Validação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👩🏻‍🔬Teste</a:t>
            </a:r>
            <a:endParaRPr sz="24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aprendizado de máquina?</a:t>
            </a:r>
            <a:endParaRPr/>
          </a:p>
        </p:txBody>
      </p:sp>
      <p:sp>
        <p:nvSpPr>
          <p:cNvPr id="821" name="Google Shape;821;p84"/>
          <p:cNvSpPr txBox="1"/>
          <p:nvPr>
            <p:ph idx="1" type="body"/>
          </p:nvPr>
        </p:nvSpPr>
        <p:spPr>
          <a:xfrm>
            <a:off x="233025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🤔Definição do problema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⛏️Coleta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📊Tratamento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🔎Seleção de variáveis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🤖Escolha e treinamento do modelo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🎯Validação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👩🏻‍🔬Teste</a:t>
            </a:r>
            <a:endParaRPr sz="2400"/>
          </a:p>
        </p:txBody>
      </p:sp>
      <p:sp>
        <p:nvSpPr>
          <p:cNvPr id="822" name="Google Shape;822;p84"/>
          <p:cNvSpPr/>
          <p:nvPr/>
        </p:nvSpPr>
        <p:spPr>
          <a:xfrm>
            <a:off x="186425" y="1860925"/>
            <a:ext cx="5108100" cy="29745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3" name="Google Shape;823;p84"/>
          <p:cNvSpPr txBox="1"/>
          <p:nvPr/>
        </p:nvSpPr>
        <p:spPr>
          <a:xfrm>
            <a:off x="5339125" y="1506825"/>
            <a:ext cx="38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4" name="Google Shape;824;p84"/>
          <p:cNvSpPr txBox="1"/>
          <p:nvPr>
            <p:ph idx="1" type="body"/>
          </p:nvPr>
        </p:nvSpPr>
        <p:spPr>
          <a:xfrm>
            <a:off x="4199100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🤔Prever risco de ataque cardíaco</a:t>
            </a:r>
            <a:endParaRPr sz="2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8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aprendizado de máquina?</a:t>
            </a:r>
            <a:endParaRPr/>
          </a:p>
        </p:txBody>
      </p:sp>
      <p:sp>
        <p:nvSpPr>
          <p:cNvPr id="830" name="Google Shape;830;p85"/>
          <p:cNvSpPr txBox="1"/>
          <p:nvPr>
            <p:ph idx="1" type="body"/>
          </p:nvPr>
        </p:nvSpPr>
        <p:spPr>
          <a:xfrm>
            <a:off x="233025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🤔Definição do problema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⛏️Coleta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📊Tratamento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🔎Seleção de variáveis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🤖Escolha e treinamento do modelo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🎯Validação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👩🏻‍🔬Teste</a:t>
            </a:r>
            <a:endParaRPr sz="2400"/>
          </a:p>
        </p:txBody>
      </p:sp>
      <p:sp>
        <p:nvSpPr>
          <p:cNvPr id="831" name="Google Shape;831;p85"/>
          <p:cNvSpPr/>
          <p:nvPr/>
        </p:nvSpPr>
        <p:spPr>
          <a:xfrm>
            <a:off x="186425" y="2321275"/>
            <a:ext cx="5108100" cy="25143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2" name="Google Shape;832;p85"/>
          <p:cNvSpPr txBox="1"/>
          <p:nvPr/>
        </p:nvSpPr>
        <p:spPr>
          <a:xfrm>
            <a:off x="5339125" y="1506825"/>
            <a:ext cx="38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3" name="Google Shape;833;p85"/>
          <p:cNvSpPr txBox="1"/>
          <p:nvPr>
            <p:ph idx="1" type="body"/>
          </p:nvPr>
        </p:nvSpPr>
        <p:spPr>
          <a:xfrm>
            <a:off x="4199100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🤔Prever risco de ataque cardíaco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⛏️Da internet (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Heart Disease Dataset</a:t>
            </a:r>
            <a:r>
              <a:rPr lang="en" sz="2400"/>
              <a:t>)</a:t>
            </a:r>
            <a:endParaRPr sz="2400"/>
          </a:p>
        </p:txBody>
      </p:sp>
      <p:sp>
        <p:nvSpPr>
          <p:cNvPr id="834" name="Google Shape;834;p85"/>
          <p:cNvSpPr/>
          <p:nvPr/>
        </p:nvSpPr>
        <p:spPr>
          <a:xfrm>
            <a:off x="186425" y="1303200"/>
            <a:ext cx="3975300" cy="5223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8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aprendizado de máquina?</a:t>
            </a:r>
            <a:endParaRPr/>
          </a:p>
        </p:txBody>
      </p:sp>
      <p:sp>
        <p:nvSpPr>
          <p:cNvPr id="840" name="Google Shape;840;p86"/>
          <p:cNvSpPr txBox="1"/>
          <p:nvPr>
            <p:ph idx="1" type="body"/>
          </p:nvPr>
        </p:nvSpPr>
        <p:spPr>
          <a:xfrm>
            <a:off x="233025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🤔Definição do problema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⛏️Coleta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📊Tratamento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🔎Seleção de variáveis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🤖Escolha e treinamento do modelo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🎯Validação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👩🏻‍🔬Teste</a:t>
            </a:r>
            <a:endParaRPr sz="2400"/>
          </a:p>
        </p:txBody>
      </p:sp>
      <p:sp>
        <p:nvSpPr>
          <p:cNvPr id="841" name="Google Shape;841;p86"/>
          <p:cNvSpPr/>
          <p:nvPr/>
        </p:nvSpPr>
        <p:spPr>
          <a:xfrm>
            <a:off x="186425" y="2834750"/>
            <a:ext cx="5108100" cy="20007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2" name="Google Shape;842;p86"/>
          <p:cNvSpPr txBox="1"/>
          <p:nvPr/>
        </p:nvSpPr>
        <p:spPr>
          <a:xfrm>
            <a:off x="5339125" y="1506825"/>
            <a:ext cx="38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3" name="Google Shape;843;p86"/>
          <p:cNvSpPr txBox="1"/>
          <p:nvPr>
            <p:ph idx="1" type="body"/>
          </p:nvPr>
        </p:nvSpPr>
        <p:spPr>
          <a:xfrm>
            <a:off x="4199100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🤔Prever risco de ataque cardíaco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⛏️Da internet (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Heart Disease Dataset</a:t>
            </a:r>
            <a:r>
              <a:rPr lang="en" sz="2400"/>
              <a:t>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📊Regressão logística vai precisar...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44" name="Google Shape;844;p86"/>
          <p:cNvSpPr/>
          <p:nvPr/>
        </p:nvSpPr>
        <p:spPr>
          <a:xfrm>
            <a:off x="186425" y="1303200"/>
            <a:ext cx="3975300" cy="9738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aprendizado de máquina?</a:t>
            </a:r>
            <a:endParaRPr/>
          </a:p>
        </p:txBody>
      </p:sp>
      <p:sp>
        <p:nvSpPr>
          <p:cNvPr id="850" name="Google Shape;850;p87"/>
          <p:cNvSpPr txBox="1"/>
          <p:nvPr>
            <p:ph idx="1" type="body"/>
          </p:nvPr>
        </p:nvSpPr>
        <p:spPr>
          <a:xfrm>
            <a:off x="233025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🤔Definição do problema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⛏️Coleta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📊Tratamento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🔎Seleção de variáveis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🤖Escolha e treinamento do modelo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🎯Validação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👩🏻‍🔬Teste</a:t>
            </a:r>
            <a:endParaRPr sz="2400"/>
          </a:p>
        </p:txBody>
      </p:sp>
      <p:sp>
        <p:nvSpPr>
          <p:cNvPr id="851" name="Google Shape;851;p87"/>
          <p:cNvSpPr/>
          <p:nvPr/>
        </p:nvSpPr>
        <p:spPr>
          <a:xfrm>
            <a:off x="186425" y="3374775"/>
            <a:ext cx="5108100" cy="14607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2" name="Google Shape;852;p87"/>
          <p:cNvSpPr txBox="1"/>
          <p:nvPr/>
        </p:nvSpPr>
        <p:spPr>
          <a:xfrm>
            <a:off x="5339125" y="1506825"/>
            <a:ext cx="38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3" name="Google Shape;853;p87"/>
          <p:cNvSpPr txBox="1"/>
          <p:nvPr>
            <p:ph idx="1" type="body"/>
          </p:nvPr>
        </p:nvSpPr>
        <p:spPr>
          <a:xfrm>
            <a:off x="4199100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🤔Prever risco de ataque cardíaco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⛏️Da internet (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Heart Disease Dataset</a:t>
            </a:r>
            <a:r>
              <a:rPr lang="en" sz="2400"/>
              <a:t>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📊Regressão logística vai precisar...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🔎Podemos pular, máquina aprende</a:t>
            </a:r>
            <a:endParaRPr sz="2400"/>
          </a:p>
        </p:txBody>
      </p:sp>
      <p:sp>
        <p:nvSpPr>
          <p:cNvPr id="854" name="Google Shape;854;p87"/>
          <p:cNvSpPr/>
          <p:nvPr/>
        </p:nvSpPr>
        <p:spPr>
          <a:xfrm>
            <a:off x="186425" y="1303200"/>
            <a:ext cx="3975300" cy="14961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8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aprendizado de máquina?</a:t>
            </a:r>
            <a:endParaRPr/>
          </a:p>
        </p:txBody>
      </p:sp>
      <p:sp>
        <p:nvSpPr>
          <p:cNvPr id="860" name="Google Shape;860;p88"/>
          <p:cNvSpPr txBox="1"/>
          <p:nvPr>
            <p:ph idx="1" type="body"/>
          </p:nvPr>
        </p:nvSpPr>
        <p:spPr>
          <a:xfrm>
            <a:off x="233025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🤔Definição do problema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⛏️Coleta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📊Tratamento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🔎Seleção de variáveis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🤖Escolha e treinamento do modelo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🎯Validação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👩🏻‍🔬Teste</a:t>
            </a:r>
            <a:endParaRPr sz="2400"/>
          </a:p>
        </p:txBody>
      </p:sp>
      <p:sp>
        <p:nvSpPr>
          <p:cNvPr id="861" name="Google Shape;861;p88"/>
          <p:cNvSpPr/>
          <p:nvPr/>
        </p:nvSpPr>
        <p:spPr>
          <a:xfrm>
            <a:off x="186425" y="3790850"/>
            <a:ext cx="5108100" cy="10446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2" name="Google Shape;862;p88"/>
          <p:cNvSpPr txBox="1"/>
          <p:nvPr/>
        </p:nvSpPr>
        <p:spPr>
          <a:xfrm>
            <a:off x="5339125" y="1506825"/>
            <a:ext cx="38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3" name="Google Shape;863;p88"/>
          <p:cNvSpPr txBox="1"/>
          <p:nvPr>
            <p:ph idx="1" type="body"/>
          </p:nvPr>
        </p:nvSpPr>
        <p:spPr>
          <a:xfrm>
            <a:off x="4199100" y="1369625"/>
            <a:ext cx="5415900" cy="35211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🤔Prever risco de ataque cardíaco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⛏️Da internet (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Heart Disease Dataset</a:t>
            </a:r>
            <a:r>
              <a:rPr lang="en" sz="2400"/>
              <a:t>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📊Regressão logística vai precisar...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🔎Podemos pular, máquina aprende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 Regressão logística</a:t>
            </a:r>
            <a:endParaRPr sz="2400"/>
          </a:p>
        </p:txBody>
      </p:sp>
      <p:sp>
        <p:nvSpPr>
          <p:cNvPr id="864" name="Google Shape;864;p88"/>
          <p:cNvSpPr/>
          <p:nvPr/>
        </p:nvSpPr>
        <p:spPr>
          <a:xfrm>
            <a:off x="186425" y="1303200"/>
            <a:ext cx="3975300" cy="20184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8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aprendizado de máquina?</a:t>
            </a:r>
            <a:endParaRPr/>
          </a:p>
        </p:txBody>
      </p:sp>
      <p:sp>
        <p:nvSpPr>
          <p:cNvPr id="870" name="Google Shape;870;p89"/>
          <p:cNvSpPr txBox="1"/>
          <p:nvPr>
            <p:ph idx="1" type="body"/>
          </p:nvPr>
        </p:nvSpPr>
        <p:spPr>
          <a:xfrm>
            <a:off x="233025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🤔Definição do problema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⛏️Coleta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📊Tratamento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🔎Seleção de variáveis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🤖Escolha e treinamento do modelo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🎯Validação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👩🏻‍🔬Teste</a:t>
            </a:r>
            <a:endParaRPr sz="2400"/>
          </a:p>
        </p:txBody>
      </p:sp>
      <p:sp>
        <p:nvSpPr>
          <p:cNvPr id="871" name="Google Shape;871;p89"/>
          <p:cNvSpPr/>
          <p:nvPr/>
        </p:nvSpPr>
        <p:spPr>
          <a:xfrm>
            <a:off x="186425" y="4295475"/>
            <a:ext cx="5108100" cy="5400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2" name="Google Shape;872;p89"/>
          <p:cNvSpPr txBox="1"/>
          <p:nvPr/>
        </p:nvSpPr>
        <p:spPr>
          <a:xfrm>
            <a:off x="5339125" y="1506825"/>
            <a:ext cx="38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3" name="Google Shape;873;p89"/>
          <p:cNvSpPr txBox="1"/>
          <p:nvPr>
            <p:ph idx="1" type="body"/>
          </p:nvPr>
        </p:nvSpPr>
        <p:spPr>
          <a:xfrm>
            <a:off x="4199100" y="1369625"/>
            <a:ext cx="5415900" cy="3521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🤔Prever risco de ataque cardíaco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⛏️Da internet (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Heart Disease Dataset</a:t>
            </a:r>
            <a:r>
              <a:rPr lang="en" sz="2400"/>
              <a:t>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📊Regressão logística vai precisar...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🔎Podemos pular, máquina aprende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 Regressão logística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🎯Verificar a hora de parar treino</a:t>
            </a:r>
            <a:endParaRPr sz="2400"/>
          </a:p>
        </p:txBody>
      </p:sp>
      <p:sp>
        <p:nvSpPr>
          <p:cNvPr id="874" name="Google Shape;874;p89"/>
          <p:cNvSpPr/>
          <p:nvPr/>
        </p:nvSpPr>
        <p:spPr>
          <a:xfrm>
            <a:off x="186425" y="1303200"/>
            <a:ext cx="3975300" cy="24717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9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 aprendizado de máquina?</a:t>
            </a:r>
            <a:endParaRPr/>
          </a:p>
        </p:txBody>
      </p:sp>
      <p:sp>
        <p:nvSpPr>
          <p:cNvPr id="880" name="Google Shape;880;p90"/>
          <p:cNvSpPr txBox="1"/>
          <p:nvPr>
            <p:ph idx="1" type="body"/>
          </p:nvPr>
        </p:nvSpPr>
        <p:spPr>
          <a:xfrm>
            <a:off x="233025" y="1369625"/>
            <a:ext cx="5415900" cy="3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🤔Definição do problema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⛏️Coleta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📊Tratamento de dados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🔎Seleção de variáveis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🤖Escolha e treinamento do modelo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🎯Validação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👩🏻‍🔬Teste</a:t>
            </a:r>
            <a:endParaRPr sz="2400"/>
          </a:p>
        </p:txBody>
      </p:sp>
      <p:sp>
        <p:nvSpPr>
          <p:cNvPr id="881" name="Google Shape;881;p90"/>
          <p:cNvSpPr txBox="1"/>
          <p:nvPr/>
        </p:nvSpPr>
        <p:spPr>
          <a:xfrm>
            <a:off x="5339125" y="1506825"/>
            <a:ext cx="38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2" name="Google Shape;882;p90"/>
          <p:cNvSpPr txBox="1"/>
          <p:nvPr>
            <p:ph idx="1" type="body"/>
          </p:nvPr>
        </p:nvSpPr>
        <p:spPr>
          <a:xfrm>
            <a:off x="4199100" y="1369625"/>
            <a:ext cx="5415900" cy="35211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🤔Prever risco de ataque cardíaco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⛏️Da internet (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Heart Disease Dataset</a:t>
            </a:r>
            <a:r>
              <a:rPr lang="en" sz="2400"/>
              <a:t>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📊Regressão logística vai precisar...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🔎Podemos pular, máquina aprende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🤖 Regressão logística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🎯Verificar a hora de parar treino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👩🏻‍🔬</a:t>
            </a:r>
            <a:r>
              <a:rPr lang="en" sz="2400"/>
              <a:t>Resultado final bom?</a:t>
            </a:r>
            <a:endParaRPr sz="2400"/>
          </a:p>
        </p:txBody>
      </p:sp>
      <p:sp>
        <p:nvSpPr>
          <p:cNvPr id="883" name="Google Shape;883;p90"/>
          <p:cNvSpPr/>
          <p:nvPr/>
        </p:nvSpPr>
        <p:spPr>
          <a:xfrm>
            <a:off x="186425" y="1303200"/>
            <a:ext cx="3975300" cy="30012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9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r>
              <a:rPr lang="en"/>
              <a:t>⛏️Coleta de dados</a:t>
            </a:r>
            <a:endParaRPr/>
          </a:p>
        </p:txBody>
      </p:sp>
      <p:sp>
        <p:nvSpPr>
          <p:cNvPr id="889" name="Google Shape;889;p91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Baixar: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Da internet (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Heart Disease Dataset</a:t>
            </a:r>
            <a:r>
              <a:rPr lang="en" sz="2400"/>
              <a:t>)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.📊Tratamento de dados</a:t>
            </a:r>
            <a:endParaRPr/>
          </a:p>
        </p:txBody>
      </p:sp>
      <p:sp>
        <p:nvSpPr>
          <p:cNvPr id="895" name="Google Shape;895;p92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/>
              <a:t>Vamos precisar fazer alguns ajustes nos dados:</a:t>
            </a:r>
            <a:endParaRPr sz="26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Transformar variáveis categóricas (textos ou números não são quantidades ou medidas, mas diferentes categorias)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Para o gradiente descendente precisamos deixar todas as variáveis numéricas na mesma escala, idealmente de 0 a 1.</a:t>
            </a:r>
            <a:endParaRPr sz="2400"/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SzPts val="2100"/>
              <a:buAutoNum type="alphaLcPeriod"/>
            </a:pPr>
            <a:r>
              <a:rPr lang="en" sz="2100"/>
              <a:t>Caso contrário o valor do erro vai ficar muito diferente entre as colunas atrapalhando o ajuste dos pesos.</a:t>
            </a:r>
            <a:endParaRPr sz="21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9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3.📊Transformar variáveis categóricas</a:t>
            </a:r>
            <a:endParaRPr/>
          </a:p>
        </p:txBody>
      </p:sp>
      <p:graphicFrame>
        <p:nvGraphicFramePr>
          <p:cNvPr id="901" name="Google Shape;901;p93"/>
          <p:cNvGraphicFramePr/>
          <p:nvPr/>
        </p:nvGraphicFramePr>
        <p:xfrm>
          <a:off x="1219475" y="21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9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3.📊Transformar variáveis categóricas</a:t>
            </a:r>
            <a:endParaRPr/>
          </a:p>
        </p:txBody>
      </p:sp>
      <p:graphicFrame>
        <p:nvGraphicFramePr>
          <p:cNvPr id="907" name="Google Shape;907;p94"/>
          <p:cNvGraphicFramePr/>
          <p:nvPr/>
        </p:nvGraphicFramePr>
        <p:xfrm>
          <a:off x="1219475" y="21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cxnSp>
        <p:nvCxnSpPr>
          <p:cNvPr id="908" name="Google Shape;908;p94"/>
          <p:cNvCxnSpPr/>
          <p:nvPr/>
        </p:nvCxnSpPr>
        <p:spPr>
          <a:xfrm>
            <a:off x="2010600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9" name="Google Shape;909;p94"/>
          <p:cNvCxnSpPr/>
          <p:nvPr/>
        </p:nvCxnSpPr>
        <p:spPr>
          <a:xfrm>
            <a:off x="6100625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0" name="Google Shape;910;p94"/>
          <p:cNvCxnSpPr/>
          <p:nvPr/>
        </p:nvCxnSpPr>
        <p:spPr>
          <a:xfrm>
            <a:off x="6870825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9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3.📊Transformar variáveis categóricas</a:t>
            </a:r>
            <a:endParaRPr/>
          </a:p>
        </p:txBody>
      </p:sp>
      <p:graphicFrame>
        <p:nvGraphicFramePr>
          <p:cNvPr id="916" name="Google Shape;916;p95"/>
          <p:cNvGraphicFramePr/>
          <p:nvPr/>
        </p:nvGraphicFramePr>
        <p:xfrm>
          <a:off x="1219475" y="21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cxnSp>
        <p:nvCxnSpPr>
          <p:cNvPr id="917" name="Google Shape;917;p95"/>
          <p:cNvCxnSpPr/>
          <p:nvPr/>
        </p:nvCxnSpPr>
        <p:spPr>
          <a:xfrm>
            <a:off x="2010600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8" name="Google Shape;918;p95"/>
          <p:cNvCxnSpPr/>
          <p:nvPr/>
        </p:nvCxnSpPr>
        <p:spPr>
          <a:xfrm>
            <a:off x="6100625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9" name="Google Shape;919;p95"/>
          <p:cNvCxnSpPr/>
          <p:nvPr/>
        </p:nvCxnSpPr>
        <p:spPr>
          <a:xfrm>
            <a:off x="6870825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9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3.📊Transformar variáveis categóricas</a:t>
            </a:r>
            <a:endParaRPr/>
          </a:p>
        </p:txBody>
      </p:sp>
      <p:sp>
        <p:nvSpPr>
          <p:cNvPr id="925" name="Google Shape;925;p96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 que fizemos?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Se as categorias são duas (sim/não, masculino/feminino): 0/1, 0 representa uma categoria e 1 representa a outra categoria</a:t>
            </a:r>
            <a:endParaRPr/>
          </a:p>
        </p:txBody>
      </p:sp>
      <p:pic>
        <p:nvPicPr>
          <p:cNvPr id="926" name="Google Shape;92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613" y="3308625"/>
            <a:ext cx="4296225" cy="17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3.📊One-Hot-Encoding</a:t>
            </a:r>
            <a:endParaRPr/>
          </a:p>
        </p:txBody>
      </p:sp>
      <p:sp>
        <p:nvSpPr>
          <p:cNvPr id="932" name="Google Shape;932;p97"/>
          <p:cNvSpPr txBox="1"/>
          <p:nvPr>
            <p:ph idx="1" type="body"/>
          </p:nvPr>
        </p:nvSpPr>
        <p:spPr>
          <a:xfrm>
            <a:off x="614025" y="3392475"/>
            <a:ext cx="7929000" cy="1655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Crio uma coluna para cada categoria</a:t>
            </a:r>
            <a:endParaRPr/>
          </a:p>
        </p:txBody>
      </p:sp>
      <p:pic>
        <p:nvPicPr>
          <p:cNvPr id="933" name="Google Shape;93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450" y="1282826"/>
            <a:ext cx="685800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9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3.📊One-Hot-Encoding</a:t>
            </a:r>
            <a:endParaRPr/>
          </a:p>
        </p:txBody>
      </p:sp>
      <p:sp>
        <p:nvSpPr>
          <p:cNvPr id="939" name="Google Shape;939;p98"/>
          <p:cNvSpPr txBox="1"/>
          <p:nvPr>
            <p:ph idx="1" type="body"/>
          </p:nvPr>
        </p:nvSpPr>
        <p:spPr>
          <a:xfrm>
            <a:off x="614025" y="3392475"/>
            <a:ext cx="7929000" cy="1655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Crio uma coluna para cada categoria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Perceba que posso tirar a primeira coluna, pois se as outras estiverem 0 já informa que só pode ser ela</a:t>
            </a:r>
            <a:endParaRPr/>
          </a:p>
        </p:txBody>
      </p:sp>
      <p:pic>
        <p:nvPicPr>
          <p:cNvPr id="940" name="Google Shape;94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450" y="1282826"/>
            <a:ext cx="6858000" cy="1924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1" name="Google Shape;941;p98"/>
          <p:cNvCxnSpPr/>
          <p:nvPr/>
        </p:nvCxnSpPr>
        <p:spPr>
          <a:xfrm>
            <a:off x="4799125" y="1515675"/>
            <a:ext cx="885300" cy="1452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98"/>
          <p:cNvCxnSpPr/>
          <p:nvPr/>
        </p:nvCxnSpPr>
        <p:spPr>
          <a:xfrm flipH="1">
            <a:off x="4799125" y="1515675"/>
            <a:ext cx="885300" cy="1452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98"/>
          <p:cNvSpPr/>
          <p:nvPr/>
        </p:nvSpPr>
        <p:spPr>
          <a:xfrm>
            <a:off x="6065075" y="1860925"/>
            <a:ext cx="1106700" cy="168300"/>
          </a:xfrm>
          <a:prstGeom prst="roundRect">
            <a:avLst>
              <a:gd fmla="val 16667" name="adj"/>
            </a:avLst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9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3.📊Padronizar variáveis numéricas</a:t>
            </a:r>
            <a:endParaRPr/>
          </a:p>
        </p:txBody>
      </p:sp>
      <p:graphicFrame>
        <p:nvGraphicFramePr>
          <p:cNvPr id="949" name="Google Shape;949;p99"/>
          <p:cNvGraphicFramePr/>
          <p:nvPr/>
        </p:nvGraphicFramePr>
        <p:xfrm>
          <a:off x="1219475" y="21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cxnSp>
        <p:nvCxnSpPr>
          <p:cNvPr id="950" name="Google Shape;950;p99"/>
          <p:cNvCxnSpPr/>
          <p:nvPr/>
        </p:nvCxnSpPr>
        <p:spPr>
          <a:xfrm>
            <a:off x="1477200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1" name="Google Shape;951;p99"/>
          <p:cNvCxnSpPr/>
          <p:nvPr/>
        </p:nvCxnSpPr>
        <p:spPr>
          <a:xfrm>
            <a:off x="2747825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2" name="Google Shape;952;p99"/>
          <p:cNvCxnSpPr/>
          <p:nvPr/>
        </p:nvCxnSpPr>
        <p:spPr>
          <a:xfrm>
            <a:off x="4432425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3" name="Google Shape;953;p99"/>
          <p:cNvCxnSpPr/>
          <p:nvPr/>
        </p:nvCxnSpPr>
        <p:spPr>
          <a:xfrm>
            <a:off x="3554500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4" name="Google Shape;954;p99"/>
          <p:cNvCxnSpPr/>
          <p:nvPr/>
        </p:nvCxnSpPr>
        <p:spPr>
          <a:xfrm>
            <a:off x="5255725" y="1444875"/>
            <a:ext cx="0" cy="6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00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Para regressão logística se usa o máximo e mínimo para ajustar para 0-1</a:t>
            </a:r>
            <a:endParaRPr/>
          </a:p>
        </p:txBody>
      </p:sp>
      <p:sp>
        <p:nvSpPr>
          <p:cNvPr id="960" name="Google Shape;960;p10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3.📊Padronizar variáveis numéricas</a:t>
            </a:r>
            <a:endParaRPr/>
          </a:p>
        </p:txBody>
      </p:sp>
      <p:graphicFrame>
        <p:nvGraphicFramePr>
          <p:cNvPr id="961" name="Google Shape;961;p100"/>
          <p:cNvGraphicFramePr/>
          <p:nvPr/>
        </p:nvGraphicFramePr>
        <p:xfrm>
          <a:off x="1325700" y="250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962" name="Google Shape;962;p100"/>
          <p:cNvSpPr/>
          <p:nvPr/>
        </p:nvSpPr>
        <p:spPr>
          <a:xfrm>
            <a:off x="2940025" y="1763550"/>
            <a:ext cx="2558400" cy="61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63" name="Google Shape;96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325" y="1816842"/>
            <a:ext cx="2289401" cy="510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01"/>
          <p:cNvSpPr txBox="1"/>
          <p:nvPr>
            <p:ph idx="1" type="body"/>
          </p:nvPr>
        </p:nvSpPr>
        <p:spPr>
          <a:xfrm>
            <a:off x="614025" y="1369625"/>
            <a:ext cx="7929000" cy="371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Para regressão logística se usa o máximo e mínimo para ajustar para 0-1</a:t>
            </a:r>
            <a:endParaRPr/>
          </a:p>
        </p:txBody>
      </p:sp>
      <p:sp>
        <p:nvSpPr>
          <p:cNvPr id="969" name="Google Shape;969;p10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3.📊Padronizar variáveis numéricas</a:t>
            </a:r>
            <a:endParaRPr/>
          </a:p>
        </p:txBody>
      </p:sp>
      <p:graphicFrame>
        <p:nvGraphicFramePr>
          <p:cNvPr id="970" name="Google Shape;970;p101"/>
          <p:cNvGraphicFramePr/>
          <p:nvPr/>
        </p:nvGraphicFramePr>
        <p:xfrm>
          <a:off x="182700" y="250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pSp>
        <p:nvGrpSpPr>
          <p:cNvPr id="971" name="Google Shape;971;p101"/>
          <p:cNvGrpSpPr/>
          <p:nvPr/>
        </p:nvGrpSpPr>
        <p:grpSpPr>
          <a:xfrm>
            <a:off x="3016225" y="1763550"/>
            <a:ext cx="2372700" cy="619800"/>
            <a:chOff x="2940025" y="1763550"/>
            <a:chExt cx="2372700" cy="619800"/>
          </a:xfrm>
        </p:grpSpPr>
        <p:sp>
          <p:nvSpPr>
            <p:cNvPr id="972" name="Google Shape;972;p101"/>
            <p:cNvSpPr/>
            <p:nvPr/>
          </p:nvSpPr>
          <p:spPr>
            <a:xfrm>
              <a:off x="2940025" y="1763550"/>
              <a:ext cx="2372700" cy="61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973" name="Google Shape;973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1200" y="1827701"/>
              <a:ext cx="2176301" cy="497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4" name="Google Shape;974;p101"/>
          <p:cNvSpPr/>
          <p:nvPr/>
        </p:nvSpPr>
        <p:spPr>
          <a:xfrm>
            <a:off x="6490000" y="2480625"/>
            <a:ext cx="2292900" cy="172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75" name="Google Shape;975;p101"/>
          <p:cNvPicPr preferRelativeResize="0"/>
          <p:nvPr/>
        </p:nvPicPr>
        <p:blipFill rotWithShape="1">
          <a:blip r:embed="rId4">
            <a:alphaModFix/>
          </a:blip>
          <a:srcRect b="0" l="0" r="43052" t="0"/>
          <a:stretch/>
        </p:blipFill>
        <p:spPr>
          <a:xfrm>
            <a:off x="6588400" y="2679884"/>
            <a:ext cx="1840373" cy="5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101"/>
          <p:cNvPicPr preferRelativeResize="0"/>
          <p:nvPr/>
        </p:nvPicPr>
        <p:blipFill rotWithShape="1">
          <a:blip r:embed="rId4">
            <a:alphaModFix/>
          </a:blip>
          <a:srcRect b="0" l="56509" r="0" t="0"/>
          <a:stretch/>
        </p:blipFill>
        <p:spPr>
          <a:xfrm>
            <a:off x="7180525" y="3443134"/>
            <a:ext cx="1405599" cy="5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101"/>
          <p:cNvSpPr/>
          <p:nvPr/>
        </p:nvSpPr>
        <p:spPr>
          <a:xfrm>
            <a:off x="4047625" y="1763550"/>
            <a:ext cx="309900" cy="2745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8" name="Google Shape;978;p101"/>
          <p:cNvSpPr/>
          <p:nvPr/>
        </p:nvSpPr>
        <p:spPr>
          <a:xfrm>
            <a:off x="304125" y="3224025"/>
            <a:ext cx="309900" cy="2745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9" name="Google Shape;979;p101"/>
          <p:cNvSpPr/>
          <p:nvPr/>
        </p:nvSpPr>
        <p:spPr>
          <a:xfrm>
            <a:off x="4572000" y="1763550"/>
            <a:ext cx="510300" cy="274500"/>
          </a:xfrm>
          <a:prstGeom prst="rect">
            <a:avLst/>
          </a:prstGeom>
          <a:solidFill>
            <a:srgbClr val="4472C4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0" name="Google Shape;980;p101"/>
          <p:cNvSpPr/>
          <p:nvPr/>
        </p:nvSpPr>
        <p:spPr>
          <a:xfrm>
            <a:off x="4734075" y="2108850"/>
            <a:ext cx="510300" cy="274500"/>
          </a:xfrm>
          <a:prstGeom prst="rect">
            <a:avLst/>
          </a:prstGeom>
          <a:solidFill>
            <a:srgbClr val="4472C4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1" name="Google Shape;981;p101"/>
          <p:cNvSpPr/>
          <p:nvPr/>
        </p:nvSpPr>
        <p:spPr>
          <a:xfrm>
            <a:off x="293025" y="4667300"/>
            <a:ext cx="309900" cy="274500"/>
          </a:xfrm>
          <a:prstGeom prst="rect">
            <a:avLst/>
          </a:prstGeom>
          <a:solidFill>
            <a:srgbClr val="4472C4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2" name="Google Shape;982;p101"/>
          <p:cNvSpPr/>
          <p:nvPr/>
        </p:nvSpPr>
        <p:spPr>
          <a:xfrm>
            <a:off x="3956278" y="2108850"/>
            <a:ext cx="510300" cy="2745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3" name="Google Shape;983;p101"/>
          <p:cNvSpPr/>
          <p:nvPr/>
        </p:nvSpPr>
        <p:spPr>
          <a:xfrm>
            <a:off x="293026" y="3945675"/>
            <a:ext cx="309900" cy="2745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02"/>
          <p:cNvSpPr txBox="1"/>
          <p:nvPr>
            <p:ph idx="1" type="body"/>
          </p:nvPr>
        </p:nvSpPr>
        <p:spPr>
          <a:xfrm>
            <a:off x="614025" y="1369625"/>
            <a:ext cx="7929000" cy="371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Para regressão logística se usa o máximo e mínimo para ajustar para 0-1</a:t>
            </a:r>
            <a:endParaRPr/>
          </a:p>
        </p:txBody>
      </p:sp>
      <p:sp>
        <p:nvSpPr>
          <p:cNvPr id="989" name="Google Shape;989;p10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3.📊Padronizar variáveis numéricas</a:t>
            </a:r>
            <a:endParaRPr/>
          </a:p>
        </p:txBody>
      </p:sp>
      <p:graphicFrame>
        <p:nvGraphicFramePr>
          <p:cNvPr id="990" name="Google Shape;990;p102"/>
          <p:cNvGraphicFramePr/>
          <p:nvPr/>
        </p:nvGraphicFramePr>
        <p:xfrm>
          <a:off x="182700" y="250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pSp>
        <p:nvGrpSpPr>
          <p:cNvPr id="991" name="Google Shape;991;p102"/>
          <p:cNvGrpSpPr/>
          <p:nvPr/>
        </p:nvGrpSpPr>
        <p:grpSpPr>
          <a:xfrm>
            <a:off x="3016225" y="1763550"/>
            <a:ext cx="2372700" cy="619800"/>
            <a:chOff x="2940025" y="1763550"/>
            <a:chExt cx="2372700" cy="619800"/>
          </a:xfrm>
        </p:grpSpPr>
        <p:sp>
          <p:nvSpPr>
            <p:cNvPr id="992" name="Google Shape;992;p102"/>
            <p:cNvSpPr/>
            <p:nvPr/>
          </p:nvSpPr>
          <p:spPr>
            <a:xfrm>
              <a:off x="2940025" y="1763550"/>
              <a:ext cx="2372700" cy="61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993" name="Google Shape;993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1200" y="1827701"/>
              <a:ext cx="2176301" cy="497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4" name="Google Shape;994;p102"/>
          <p:cNvSpPr/>
          <p:nvPr/>
        </p:nvSpPr>
        <p:spPr>
          <a:xfrm>
            <a:off x="6490000" y="2480625"/>
            <a:ext cx="2292900" cy="172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95" name="Google Shape;995;p102"/>
          <p:cNvPicPr preferRelativeResize="0"/>
          <p:nvPr/>
        </p:nvPicPr>
        <p:blipFill rotWithShape="1">
          <a:blip r:embed="rId4">
            <a:alphaModFix/>
          </a:blip>
          <a:srcRect b="0" l="0" r="43052" t="0"/>
          <a:stretch/>
        </p:blipFill>
        <p:spPr>
          <a:xfrm>
            <a:off x="6588400" y="2679884"/>
            <a:ext cx="1840373" cy="5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102"/>
          <p:cNvPicPr preferRelativeResize="0"/>
          <p:nvPr/>
        </p:nvPicPr>
        <p:blipFill rotWithShape="1">
          <a:blip r:embed="rId4">
            <a:alphaModFix/>
          </a:blip>
          <a:srcRect b="0" l="56509" r="0" t="0"/>
          <a:stretch/>
        </p:blipFill>
        <p:spPr>
          <a:xfrm>
            <a:off x="7180525" y="3443134"/>
            <a:ext cx="1405599" cy="5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102"/>
          <p:cNvSpPr/>
          <p:nvPr/>
        </p:nvSpPr>
        <p:spPr>
          <a:xfrm>
            <a:off x="257625" y="3259675"/>
            <a:ext cx="356400" cy="230100"/>
          </a:xfrm>
          <a:prstGeom prst="rect">
            <a:avLst/>
          </a:prstGeom>
          <a:solidFill>
            <a:srgbClr val="FFFF00">
              <a:alpha val="30000"/>
            </a:srgbClr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8" name="Google Shape;998;p102"/>
          <p:cNvSpPr/>
          <p:nvPr/>
        </p:nvSpPr>
        <p:spPr>
          <a:xfrm>
            <a:off x="8110100" y="3552425"/>
            <a:ext cx="513300" cy="354300"/>
          </a:xfrm>
          <a:prstGeom prst="rect">
            <a:avLst/>
          </a:prstGeom>
          <a:solidFill>
            <a:srgbClr val="FFFF00">
              <a:alpha val="30000"/>
            </a:srgbClr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0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3.📊Padronizar variáveis numéricas</a:t>
            </a:r>
            <a:endParaRPr/>
          </a:p>
        </p:txBody>
      </p:sp>
      <p:graphicFrame>
        <p:nvGraphicFramePr>
          <p:cNvPr id="1004" name="Google Shape;1004;p103"/>
          <p:cNvGraphicFramePr/>
          <p:nvPr/>
        </p:nvGraphicFramePr>
        <p:xfrm>
          <a:off x="182700" y="250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0,3333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0,1429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0,6667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0,1667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0,07143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pSp>
        <p:nvGrpSpPr>
          <p:cNvPr id="1005" name="Google Shape;1005;p103"/>
          <p:cNvGrpSpPr/>
          <p:nvPr/>
        </p:nvGrpSpPr>
        <p:grpSpPr>
          <a:xfrm>
            <a:off x="3016225" y="1763550"/>
            <a:ext cx="2372700" cy="619800"/>
            <a:chOff x="2940025" y="1763550"/>
            <a:chExt cx="2372700" cy="619800"/>
          </a:xfrm>
        </p:grpSpPr>
        <p:sp>
          <p:nvSpPr>
            <p:cNvPr id="1006" name="Google Shape;1006;p103"/>
            <p:cNvSpPr/>
            <p:nvPr/>
          </p:nvSpPr>
          <p:spPr>
            <a:xfrm>
              <a:off x="2940025" y="1763550"/>
              <a:ext cx="2372700" cy="61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007" name="Google Shape;1007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1200" y="1827701"/>
              <a:ext cx="2176301" cy="497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04"/>
          <p:cNvSpPr txBox="1"/>
          <p:nvPr>
            <p:ph type="title"/>
          </p:nvPr>
        </p:nvSpPr>
        <p:spPr>
          <a:xfrm>
            <a:off x="607500" y="183525"/>
            <a:ext cx="54606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3.📊Adicionar coluna viés com valor 1</a:t>
            </a:r>
            <a:endParaRPr/>
          </a:p>
        </p:txBody>
      </p:sp>
      <p:graphicFrame>
        <p:nvGraphicFramePr>
          <p:cNvPr id="1013" name="Google Shape;1013;p104"/>
          <p:cNvGraphicFramePr/>
          <p:nvPr/>
        </p:nvGraphicFramePr>
        <p:xfrm>
          <a:off x="182700" y="250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0,3333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0,1429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0,6667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0,1667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0,07143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1014" name="Google Shape;1014;p104"/>
          <p:cNvPicPr preferRelativeResize="0"/>
          <p:nvPr/>
        </p:nvPicPr>
        <p:blipFill rotWithShape="1">
          <a:blip r:embed="rId3">
            <a:alphaModFix/>
          </a:blip>
          <a:srcRect b="0" l="0" r="0" t="4544"/>
          <a:stretch/>
        </p:blipFill>
        <p:spPr>
          <a:xfrm>
            <a:off x="6445450" y="2500925"/>
            <a:ext cx="903375" cy="24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104"/>
          <p:cNvSpPr txBox="1"/>
          <p:nvPr/>
        </p:nvSpPr>
        <p:spPr>
          <a:xfrm>
            <a:off x="182700" y="1349300"/>
            <a:ext cx="576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todos tiverem relação inversamente proporcional, viés permite estabelecer a linha de base positiva para ainda dar certo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16" name="Google Shape;1016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100" y="0"/>
            <a:ext cx="3306275" cy="230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0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</a:t>
            </a:r>
            <a:r>
              <a:rPr lang="en"/>
              <a:t>🤖 Regressão logística e treinamento</a:t>
            </a:r>
            <a:endParaRPr/>
          </a:p>
        </p:txBody>
      </p:sp>
      <p:sp>
        <p:nvSpPr>
          <p:cNvPr id="1022" name="Google Shape;1022;p105"/>
          <p:cNvSpPr txBox="1"/>
          <p:nvPr>
            <p:ph idx="1" type="body"/>
          </p:nvPr>
        </p:nvSpPr>
        <p:spPr>
          <a:xfrm>
            <a:off x="614025" y="1369625"/>
            <a:ext cx="7929000" cy="357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Escolher pesos aleatórios</a:t>
            </a:r>
            <a:endParaRPr/>
          </a:p>
        </p:txBody>
      </p:sp>
      <p:graphicFrame>
        <p:nvGraphicFramePr>
          <p:cNvPr id="1023" name="Google Shape;1023;p105"/>
          <p:cNvGraphicFramePr/>
          <p:nvPr/>
        </p:nvGraphicFramePr>
        <p:xfrm>
          <a:off x="408200" y="201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723425"/>
                <a:gridCol w="692325"/>
                <a:gridCol w="1156000"/>
                <a:gridCol w="1056725"/>
                <a:gridCol w="1210225"/>
                <a:gridCol w="1695450"/>
                <a:gridCol w="1006450"/>
                <a:gridCol w="717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Viés</a:t>
                      </a:r>
                      <a:endParaRPr b="1" sz="1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0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🤖 Regressão logística e treinamento</a:t>
            </a:r>
            <a:endParaRPr/>
          </a:p>
        </p:txBody>
      </p:sp>
      <p:graphicFrame>
        <p:nvGraphicFramePr>
          <p:cNvPr id="1029" name="Google Shape;1029;p106"/>
          <p:cNvGraphicFramePr/>
          <p:nvPr/>
        </p:nvGraphicFramePr>
        <p:xfrm>
          <a:off x="1567200" y="186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84100"/>
                <a:gridCol w="559000"/>
                <a:gridCol w="933350"/>
                <a:gridCol w="853200"/>
                <a:gridCol w="977125"/>
                <a:gridCol w="1368925"/>
                <a:gridCol w="812600"/>
                <a:gridCol w="579375"/>
              </a:tblGrid>
              <a:tr h="32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Viés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1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pSp>
        <p:nvGrpSpPr>
          <p:cNvPr id="1030" name="Google Shape;1030;p106"/>
          <p:cNvGrpSpPr/>
          <p:nvPr/>
        </p:nvGrpSpPr>
        <p:grpSpPr>
          <a:xfrm>
            <a:off x="3561085" y="1277025"/>
            <a:ext cx="5409000" cy="526200"/>
            <a:chOff x="1596625" y="2502950"/>
            <a:chExt cx="5409000" cy="526200"/>
          </a:xfrm>
        </p:grpSpPr>
        <p:sp>
          <p:nvSpPr>
            <p:cNvPr id="1031" name="Google Shape;1031;p106"/>
            <p:cNvSpPr/>
            <p:nvPr/>
          </p:nvSpPr>
          <p:spPr>
            <a:xfrm>
              <a:off x="1596625" y="2502950"/>
              <a:ext cx="5409000" cy="5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032" name="Google Shape;1032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66042" y="2643451"/>
              <a:ext cx="5089524" cy="2636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033" name="Google Shape;1033;p106"/>
          <p:cNvGraphicFramePr/>
          <p:nvPr/>
        </p:nvGraphicFramePr>
        <p:xfrm>
          <a:off x="1567200" y="280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0,3333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0,1429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34" name="Google Shape;1034;p106"/>
          <p:cNvSpPr/>
          <p:nvPr/>
        </p:nvSpPr>
        <p:spPr>
          <a:xfrm>
            <a:off x="1632575" y="3512650"/>
            <a:ext cx="465900" cy="3195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5" name="Google Shape;1035;p106"/>
          <p:cNvSpPr/>
          <p:nvPr/>
        </p:nvSpPr>
        <p:spPr>
          <a:xfrm>
            <a:off x="5285300" y="1358125"/>
            <a:ext cx="308100" cy="4086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6" name="Google Shape;1036;p106"/>
          <p:cNvSpPr/>
          <p:nvPr/>
        </p:nvSpPr>
        <p:spPr>
          <a:xfrm>
            <a:off x="1592175" y="2412000"/>
            <a:ext cx="465900" cy="3195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7" name="Google Shape;1037;p106"/>
          <p:cNvSpPr txBox="1"/>
          <p:nvPr>
            <p:ph idx="1" type="body"/>
          </p:nvPr>
        </p:nvSpPr>
        <p:spPr>
          <a:xfrm>
            <a:off x="614025" y="1369625"/>
            <a:ext cx="3181500" cy="408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Calcular a soma ponderada</a:t>
            </a:r>
            <a:endParaRPr/>
          </a:p>
        </p:txBody>
      </p:sp>
      <p:sp>
        <p:nvSpPr>
          <p:cNvPr id="1038" name="Google Shape;1038;p106"/>
          <p:cNvSpPr/>
          <p:nvPr/>
        </p:nvSpPr>
        <p:spPr>
          <a:xfrm>
            <a:off x="5629050" y="1358125"/>
            <a:ext cx="308100" cy="4086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0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🤖 Regressão logística e treinamento</a:t>
            </a:r>
            <a:endParaRPr/>
          </a:p>
        </p:txBody>
      </p:sp>
      <p:graphicFrame>
        <p:nvGraphicFramePr>
          <p:cNvPr id="1044" name="Google Shape;1044;p107"/>
          <p:cNvGraphicFramePr/>
          <p:nvPr/>
        </p:nvGraphicFramePr>
        <p:xfrm>
          <a:off x="1567200" y="186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84100"/>
                <a:gridCol w="559000"/>
                <a:gridCol w="933350"/>
                <a:gridCol w="853200"/>
                <a:gridCol w="977125"/>
                <a:gridCol w="1368925"/>
                <a:gridCol w="812600"/>
                <a:gridCol w="579375"/>
              </a:tblGrid>
              <a:tr h="32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Viés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1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pSp>
        <p:nvGrpSpPr>
          <p:cNvPr id="1045" name="Google Shape;1045;p107"/>
          <p:cNvGrpSpPr/>
          <p:nvPr/>
        </p:nvGrpSpPr>
        <p:grpSpPr>
          <a:xfrm>
            <a:off x="3561085" y="1277025"/>
            <a:ext cx="5409000" cy="526200"/>
            <a:chOff x="1596625" y="2502950"/>
            <a:chExt cx="5409000" cy="526200"/>
          </a:xfrm>
        </p:grpSpPr>
        <p:sp>
          <p:nvSpPr>
            <p:cNvPr id="1046" name="Google Shape;1046;p107"/>
            <p:cNvSpPr/>
            <p:nvPr/>
          </p:nvSpPr>
          <p:spPr>
            <a:xfrm>
              <a:off x="1596625" y="2502950"/>
              <a:ext cx="5409000" cy="5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047" name="Google Shape;1047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66042" y="2643451"/>
              <a:ext cx="5089524" cy="2636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048" name="Google Shape;1048;p107"/>
          <p:cNvGraphicFramePr/>
          <p:nvPr/>
        </p:nvGraphicFramePr>
        <p:xfrm>
          <a:off x="1567200" y="280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0,3333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0,1429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49" name="Google Shape;1049;p107"/>
          <p:cNvSpPr/>
          <p:nvPr/>
        </p:nvSpPr>
        <p:spPr>
          <a:xfrm>
            <a:off x="1632575" y="3512650"/>
            <a:ext cx="465900" cy="3195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0" name="Google Shape;1050;p107"/>
          <p:cNvSpPr/>
          <p:nvPr/>
        </p:nvSpPr>
        <p:spPr>
          <a:xfrm>
            <a:off x="5285300" y="1358125"/>
            <a:ext cx="308100" cy="4086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1" name="Google Shape;1051;p107"/>
          <p:cNvSpPr/>
          <p:nvPr/>
        </p:nvSpPr>
        <p:spPr>
          <a:xfrm>
            <a:off x="1592175" y="2412000"/>
            <a:ext cx="465900" cy="3195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2" name="Google Shape;1052;p107"/>
          <p:cNvSpPr txBox="1"/>
          <p:nvPr>
            <p:ph idx="1" type="body"/>
          </p:nvPr>
        </p:nvSpPr>
        <p:spPr>
          <a:xfrm>
            <a:off x="614025" y="1369625"/>
            <a:ext cx="3181500" cy="408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Calcular a soma ponderada</a:t>
            </a:r>
            <a:endParaRPr/>
          </a:p>
        </p:txBody>
      </p:sp>
      <p:sp>
        <p:nvSpPr>
          <p:cNvPr id="1053" name="Google Shape;1053;p107"/>
          <p:cNvSpPr/>
          <p:nvPr/>
        </p:nvSpPr>
        <p:spPr>
          <a:xfrm>
            <a:off x="5629050" y="1358125"/>
            <a:ext cx="308100" cy="4086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4" name="Google Shape;1054;p107"/>
          <p:cNvSpPr/>
          <p:nvPr/>
        </p:nvSpPr>
        <p:spPr>
          <a:xfrm>
            <a:off x="211475" y="4361383"/>
            <a:ext cx="8641500" cy="67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55" name="Google Shape;1055;p107"/>
          <p:cNvPicPr preferRelativeResize="0"/>
          <p:nvPr/>
        </p:nvPicPr>
        <p:blipFill rotWithShape="1">
          <a:blip r:embed="rId4">
            <a:alphaModFix/>
          </a:blip>
          <a:srcRect b="0" l="2610" r="0" t="-27162"/>
          <a:stretch/>
        </p:blipFill>
        <p:spPr>
          <a:xfrm>
            <a:off x="523075" y="4370925"/>
            <a:ext cx="8258499" cy="2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107"/>
          <p:cNvSpPr/>
          <p:nvPr/>
        </p:nvSpPr>
        <p:spPr>
          <a:xfrm>
            <a:off x="1379300" y="4370925"/>
            <a:ext cx="391500" cy="3195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7" name="Google Shape;1057;p107"/>
          <p:cNvSpPr/>
          <p:nvPr/>
        </p:nvSpPr>
        <p:spPr>
          <a:xfrm>
            <a:off x="758075" y="4370925"/>
            <a:ext cx="465900" cy="3195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58" name="Google Shape;1058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076" y="4793498"/>
            <a:ext cx="1044124" cy="2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107"/>
          <p:cNvPicPr preferRelativeResize="0"/>
          <p:nvPr/>
        </p:nvPicPr>
        <p:blipFill rotWithShape="1">
          <a:blip r:embed="rId3">
            <a:alphaModFix/>
          </a:blip>
          <a:srcRect b="0" l="0" r="95663" t="0"/>
          <a:stretch/>
        </p:blipFill>
        <p:spPr>
          <a:xfrm>
            <a:off x="302352" y="4372807"/>
            <a:ext cx="220726" cy="2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107"/>
          <p:cNvPicPr preferRelativeResize="0"/>
          <p:nvPr/>
        </p:nvPicPr>
        <p:blipFill rotWithShape="1">
          <a:blip r:embed="rId3">
            <a:alphaModFix/>
          </a:blip>
          <a:srcRect b="0" l="0" r="95663" t="0"/>
          <a:stretch/>
        </p:blipFill>
        <p:spPr>
          <a:xfrm>
            <a:off x="302352" y="4726240"/>
            <a:ext cx="220726" cy="2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0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🤖 Regressão logística e treinamento</a:t>
            </a:r>
            <a:endParaRPr/>
          </a:p>
        </p:txBody>
      </p:sp>
      <p:sp>
        <p:nvSpPr>
          <p:cNvPr id="1066" name="Google Shape;1066;p108"/>
          <p:cNvSpPr txBox="1"/>
          <p:nvPr>
            <p:ph idx="1" type="body"/>
          </p:nvPr>
        </p:nvSpPr>
        <p:spPr>
          <a:xfrm>
            <a:off x="614025" y="1369625"/>
            <a:ext cx="7929000" cy="357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Aplicar sigmóide para calcular o </a:t>
            </a:r>
            <a:r>
              <a:rPr b="1" lang="en"/>
              <a:t>estimado</a:t>
            </a:r>
            <a:endParaRPr b="1"/>
          </a:p>
        </p:txBody>
      </p:sp>
      <p:graphicFrame>
        <p:nvGraphicFramePr>
          <p:cNvPr id="1067" name="Google Shape;1067;p108"/>
          <p:cNvGraphicFramePr/>
          <p:nvPr/>
        </p:nvGraphicFramePr>
        <p:xfrm>
          <a:off x="271800" y="186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84100"/>
                <a:gridCol w="559000"/>
                <a:gridCol w="933350"/>
                <a:gridCol w="853200"/>
                <a:gridCol w="977125"/>
                <a:gridCol w="1368925"/>
                <a:gridCol w="812600"/>
                <a:gridCol w="579375"/>
              </a:tblGrid>
              <a:tr h="32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Viés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1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8" name="Google Shape;1068;p108"/>
          <p:cNvGraphicFramePr/>
          <p:nvPr/>
        </p:nvGraphicFramePr>
        <p:xfrm>
          <a:off x="271800" y="280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0,3333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0,1429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69" name="Google Shape;1069;p108"/>
          <p:cNvSpPr/>
          <p:nvPr/>
        </p:nvSpPr>
        <p:spPr>
          <a:xfrm>
            <a:off x="211475" y="4361383"/>
            <a:ext cx="8641500" cy="67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70" name="Google Shape;1070;p108"/>
          <p:cNvPicPr preferRelativeResize="0"/>
          <p:nvPr/>
        </p:nvPicPr>
        <p:blipFill rotWithShape="1">
          <a:blip r:embed="rId3">
            <a:alphaModFix/>
          </a:blip>
          <a:srcRect b="69480" l="23165" r="26355" t="13391"/>
          <a:stretch/>
        </p:blipFill>
        <p:spPr>
          <a:xfrm>
            <a:off x="5179663" y="1158825"/>
            <a:ext cx="1663230" cy="5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076" y="4633937"/>
            <a:ext cx="1044124" cy="2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108"/>
          <p:cNvPicPr preferRelativeResize="0"/>
          <p:nvPr/>
        </p:nvPicPr>
        <p:blipFill rotWithShape="1">
          <a:blip r:embed="rId5">
            <a:alphaModFix/>
          </a:blip>
          <a:srcRect b="0" l="0" r="95663" t="0"/>
          <a:stretch/>
        </p:blipFill>
        <p:spPr>
          <a:xfrm>
            <a:off x="302352" y="4566678"/>
            <a:ext cx="220726" cy="2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6875" y="4423649"/>
            <a:ext cx="3356249" cy="541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4" name="Google Shape;1074;p108"/>
          <p:cNvGraphicFramePr/>
          <p:nvPr/>
        </p:nvGraphicFramePr>
        <p:xfrm>
          <a:off x="6668050" y="280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1066350"/>
              </a:tblGrid>
              <a:tr h="69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Estimado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0,7479823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0,96714041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🤖 Regressão logística e treinamento</a:t>
            </a:r>
            <a:endParaRPr/>
          </a:p>
        </p:txBody>
      </p:sp>
      <p:sp>
        <p:nvSpPr>
          <p:cNvPr id="1080" name="Google Shape;1080;p109"/>
          <p:cNvSpPr txBox="1"/>
          <p:nvPr>
            <p:ph idx="1" type="body"/>
          </p:nvPr>
        </p:nvSpPr>
        <p:spPr>
          <a:xfrm>
            <a:off x="614025" y="1369625"/>
            <a:ext cx="7929000" cy="357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Calcular o erro</a:t>
            </a:r>
            <a:endParaRPr/>
          </a:p>
        </p:txBody>
      </p:sp>
      <p:graphicFrame>
        <p:nvGraphicFramePr>
          <p:cNvPr id="1081" name="Google Shape;1081;p109"/>
          <p:cNvGraphicFramePr/>
          <p:nvPr/>
        </p:nvGraphicFramePr>
        <p:xfrm>
          <a:off x="6668050" y="280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1066350"/>
                <a:gridCol w="968125"/>
              </a:tblGrid>
              <a:tr h="69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Estimado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0,7479823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-0,252018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6E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0,96714041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-0,03286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2" name="Google Shape;1082;p109"/>
          <p:cNvGraphicFramePr/>
          <p:nvPr/>
        </p:nvGraphicFramePr>
        <p:xfrm>
          <a:off x="271800" y="186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84100"/>
                <a:gridCol w="559000"/>
                <a:gridCol w="933350"/>
                <a:gridCol w="853200"/>
                <a:gridCol w="977125"/>
                <a:gridCol w="1368925"/>
                <a:gridCol w="812600"/>
                <a:gridCol w="579375"/>
              </a:tblGrid>
              <a:tr h="32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Viés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1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3" name="Google Shape;1083;p109"/>
          <p:cNvGraphicFramePr/>
          <p:nvPr/>
        </p:nvGraphicFramePr>
        <p:xfrm>
          <a:off x="271800" y="280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0,3333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0,1429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1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🤖 Regressão logística e treinamento</a:t>
            </a:r>
            <a:endParaRPr/>
          </a:p>
        </p:txBody>
      </p:sp>
      <p:sp>
        <p:nvSpPr>
          <p:cNvPr id="1089" name="Google Shape;1089;p110"/>
          <p:cNvSpPr txBox="1"/>
          <p:nvPr>
            <p:ph idx="1" type="body"/>
          </p:nvPr>
        </p:nvSpPr>
        <p:spPr>
          <a:xfrm>
            <a:off x="614025" y="1369625"/>
            <a:ext cx="7929000" cy="357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Calcular o erro</a:t>
            </a:r>
            <a:endParaRPr/>
          </a:p>
        </p:txBody>
      </p:sp>
      <p:graphicFrame>
        <p:nvGraphicFramePr>
          <p:cNvPr id="1090" name="Google Shape;1090;p110"/>
          <p:cNvGraphicFramePr/>
          <p:nvPr/>
        </p:nvGraphicFramePr>
        <p:xfrm>
          <a:off x="6668050" y="280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1066350"/>
                <a:gridCol w="968125"/>
              </a:tblGrid>
              <a:tr h="69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Estimado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0,7480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-0,2520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6E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0,9671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-0,0329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1" name="Google Shape;1091;p110"/>
          <p:cNvGraphicFramePr/>
          <p:nvPr/>
        </p:nvGraphicFramePr>
        <p:xfrm>
          <a:off x="271800" y="186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84100"/>
                <a:gridCol w="559000"/>
                <a:gridCol w="933350"/>
                <a:gridCol w="853200"/>
                <a:gridCol w="977125"/>
                <a:gridCol w="1368925"/>
                <a:gridCol w="812600"/>
                <a:gridCol w="579375"/>
              </a:tblGrid>
              <a:tr h="32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Viés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1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2" name="Google Shape;1092;p110"/>
          <p:cNvGraphicFramePr/>
          <p:nvPr/>
        </p:nvGraphicFramePr>
        <p:xfrm>
          <a:off x="271800" y="280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549100"/>
                <a:gridCol w="549700"/>
                <a:gridCol w="873600"/>
                <a:gridCol w="866100"/>
                <a:gridCol w="850475"/>
                <a:gridCol w="862400"/>
                <a:gridCol w="787450"/>
                <a:gridCol w="771525"/>
              </a:tblGrid>
              <a:tr h="39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Ataque Cardíaco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0,3333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0,1429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1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atualizando coluna Idade</a:t>
            </a:r>
            <a:endParaRPr/>
          </a:p>
        </p:txBody>
      </p:sp>
      <p:sp>
        <p:nvSpPr>
          <p:cNvPr id="1098" name="Google Shape;1098;p111"/>
          <p:cNvSpPr/>
          <p:nvPr/>
        </p:nvSpPr>
        <p:spPr>
          <a:xfrm>
            <a:off x="190690" y="1319113"/>
            <a:ext cx="4567200" cy="9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99" name="Google Shape;1099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30" y="1419065"/>
            <a:ext cx="4323624" cy="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111"/>
          <p:cNvSpPr/>
          <p:nvPr/>
        </p:nvSpPr>
        <p:spPr>
          <a:xfrm>
            <a:off x="3064200" y="1319113"/>
            <a:ext cx="444900" cy="4908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01" name="Google Shape;1101;p111"/>
          <p:cNvPicPr preferRelativeResize="0"/>
          <p:nvPr/>
        </p:nvPicPr>
        <p:blipFill rotWithShape="1">
          <a:blip r:embed="rId4">
            <a:alphaModFix/>
          </a:blip>
          <a:srcRect b="0" l="0" r="9877" t="0"/>
          <a:stretch/>
        </p:blipFill>
        <p:spPr>
          <a:xfrm>
            <a:off x="176974" y="2659125"/>
            <a:ext cx="5836724" cy="22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111"/>
          <p:cNvSpPr/>
          <p:nvPr/>
        </p:nvSpPr>
        <p:spPr>
          <a:xfrm>
            <a:off x="176975" y="3366600"/>
            <a:ext cx="558600" cy="15000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3" name="Google Shape;1103;p111"/>
          <p:cNvSpPr/>
          <p:nvPr/>
        </p:nvSpPr>
        <p:spPr>
          <a:xfrm>
            <a:off x="5455100" y="3366600"/>
            <a:ext cx="558600" cy="15000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4" name="Google Shape;1104;p111"/>
          <p:cNvSpPr/>
          <p:nvPr/>
        </p:nvSpPr>
        <p:spPr>
          <a:xfrm>
            <a:off x="3509100" y="1319113"/>
            <a:ext cx="1169400" cy="447900"/>
          </a:xfrm>
          <a:prstGeom prst="rect">
            <a:avLst/>
          </a:prstGeom>
          <a:solidFill>
            <a:srgbClr val="EB9C5A">
              <a:alpha val="297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5" name="Google Shape;1105;p111"/>
          <p:cNvSpPr/>
          <p:nvPr/>
        </p:nvSpPr>
        <p:spPr>
          <a:xfrm>
            <a:off x="422550" y="2570950"/>
            <a:ext cx="5149228" cy="795664"/>
          </a:xfrm>
          <a:custGeom>
            <a:rect b="b" l="l" r="r" t="t"/>
            <a:pathLst>
              <a:path extrusionOk="0" h="31227" w="212844">
                <a:moveTo>
                  <a:pt x="0" y="30942"/>
                </a:moveTo>
                <a:cubicBezTo>
                  <a:pt x="17236" y="25786"/>
                  <a:pt x="67940" y="-45"/>
                  <a:pt x="103414" y="3"/>
                </a:cubicBezTo>
                <a:cubicBezTo>
                  <a:pt x="138888" y="51"/>
                  <a:pt x="194606" y="26024"/>
                  <a:pt x="212844" y="31228"/>
                </a:cubicBez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6" name="Google Shape;1106;p111"/>
          <p:cNvSpPr txBox="1"/>
          <p:nvPr/>
        </p:nvSpPr>
        <p:spPr>
          <a:xfrm>
            <a:off x="3757875" y="2328875"/>
            <a:ext cx="41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Multiplica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07" name="Google Shape;1107;p111"/>
          <p:cNvPicPr preferRelativeResize="0"/>
          <p:nvPr/>
        </p:nvPicPr>
        <p:blipFill rotWithShape="1">
          <a:blip r:embed="rId4">
            <a:alphaModFix/>
          </a:blip>
          <a:srcRect b="0" l="90366" r="0" t="0"/>
          <a:stretch/>
        </p:blipFill>
        <p:spPr>
          <a:xfrm>
            <a:off x="6764593" y="2653325"/>
            <a:ext cx="623900" cy="22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111"/>
          <p:cNvSpPr txBox="1"/>
          <p:nvPr/>
        </p:nvSpPr>
        <p:spPr>
          <a:xfrm>
            <a:off x="6252117" y="3767025"/>
            <a:ext cx="28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1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atualizando coluna Idade</a:t>
            </a:r>
            <a:endParaRPr/>
          </a:p>
        </p:txBody>
      </p:sp>
      <p:sp>
        <p:nvSpPr>
          <p:cNvPr id="1114" name="Google Shape;1114;p112"/>
          <p:cNvSpPr/>
          <p:nvPr/>
        </p:nvSpPr>
        <p:spPr>
          <a:xfrm>
            <a:off x="190690" y="1319113"/>
            <a:ext cx="4567200" cy="9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15" name="Google Shape;1115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30" y="1419065"/>
            <a:ext cx="4323624" cy="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112"/>
          <p:cNvSpPr/>
          <p:nvPr/>
        </p:nvSpPr>
        <p:spPr>
          <a:xfrm>
            <a:off x="3064200" y="1319113"/>
            <a:ext cx="1614300" cy="4908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17" name="Google Shape;1117;p112"/>
          <p:cNvCxnSpPr/>
          <p:nvPr/>
        </p:nvCxnSpPr>
        <p:spPr>
          <a:xfrm>
            <a:off x="6703305" y="4067825"/>
            <a:ext cx="11529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18" name="Google Shape;1118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968" y="2659125"/>
            <a:ext cx="6476199" cy="22074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9" name="Google Shape;1119;p112"/>
          <p:cNvGraphicFramePr/>
          <p:nvPr/>
        </p:nvGraphicFramePr>
        <p:xfrm>
          <a:off x="7899183" y="3841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10763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0,1275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20" name="Google Shape;1120;p112"/>
          <p:cNvSpPr txBox="1"/>
          <p:nvPr/>
        </p:nvSpPr>
        <p:spPr>
          <a:xfrm>
            <a:off x="7383663" y="3441075"/>
            <a:ext cx="1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Média do erro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1" name="Google Shape;1121;p112"/>
          <p:cNvSpPr/>
          <p:nvPr/>
        </p:nvSpPr>
        <p:spPr>
          <a:xfrm>
            <a:off x="6067000" y="3373150"/>
            <a:ext cx="558600" cy="15000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13"/>
          <p:cNvSpPr txBox="1"/>
          <p:nvPr/>
        </p:nvSpPr>
        <p:spPr>
          <a:xfrm>
            <a:off x="5020325" y="1339225"/>
            <a:ext cx="4125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= 0,3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= 0,7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7" name="Google Shape;1127;p113"/>
          <p:cNvSpPr/>
          <p:nvPr/>
        </p:nvSpPr>
        <p:spPr>
          <a:xfrm>
            <a:off x="190700" y="3485182"/>
            <a:ext cx="4567200" cy="147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8" name="Google Shape;1128;p11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atualizando coluna Idade</a:t>
            </a:r>
            <a:endParaRPr/>
          </a:p>
        </p:txBody>
      </p:sp>
      <p:sp>
        <p:nvSpPr>
          <p:cNvPr id="1129" name="Google Shape;1129;p113"/>
          <p:cNvSpPr/>
          <p:nvPr/>
        </p:nvSpPr>
        <p:spPr>
          <a:xfrm>
            <a:off x="190690" y="1319113"/>
            <a:ext cx="4567200" cy="9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30" name="Google Shape;1130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30" y="1419065"/>
            <a:ext cx="4323624" cy="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113"/>
          <p:cNvSpPr/>
          <p:nvPr/>
        </p:nvSpPr>
        <p:spPr>
          <a:xfrm>
            <a:off x="5444725" y="1642125"/>
            <a:ext cx="1222800" cy="4908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132" name="Google Shape;1132;p113"/>
          <p:cNvGraphicFramePr/>
          <p:nvPr/>
        </p:nvGraphicFramePr>
        <p:xfrm>
          <a:off x="515625" y="23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676300"/>
                <a:gridCol w="647225"/>
                <a:gridCol w="1080675"/>
                <a:gridCol w="987875"/>
                <a:gridCol w="1131375"/>
                <a:gridCol w="1584975"/>
                <a:gridCol w="940875"/>
                <a:gridCol w="670825"/>
              </a:tblGrid>
              <a:tr h="45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Viés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30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1133" name="Google Shape;1133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9022" y="1339225"/>
            <a:ext cx="278250" cy="3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4725" y="1754600"/>
            <a:ext cx="675250" cy="2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113"/>
          <p:cNvSpPr/>
          <p:nvPr/>
        </p:nvSpPr>
        <p:spPr>
          <a:xfrm>
            <a:off x="515625" y="2865450"/>
            <a:ext cx="675300" cy="3639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136" name="Google Shape;1136;p113"/>
          <p:cNvGraphicFramePr/>
          <p:nvPr/>
        </p:nvGraphicFramePr>
        <p:xfrm>
          <a:off x="7869858" y="1661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10763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0,1275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37" name="Google Shape;1137;p113"/>
          <p:cNvSpPr txBox="1"/>
          <p:nvPr/>
        </p:nvSpPr>
        <p:spPr>
          <a:xfrm>
            <a:off x="7354338" y="1261075"/>
            <a:ext cx="1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Média do erro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38" name="Google Shape;1138;p113"/>
          <p:cNvPicPr preferRelativeResize="0"/>
          <p:nvPr/>
        </p:nvPicPr>
        <p:blipFill rotWithShape="1">
          <a:blip r:embed="rId6">
            <a:alphaModFix/>
          </a:blip>
          <a:srcRect b="0" l="0" r="53488" t="0"/>
          <a:stretch/>
        </p:blipFill>
        <p:spPr>
          <a:xfrm>
            <a:off x="381000" y="3610350"/>
            <a:ext cx="2461598" cy="20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113"/>
          <p:cNvPicPr preferRelativeResize="0"/>
          <p:nvPr/>
        </p:nvPicPr>
        <p:blipFill rotWithShape="1">
          <a:blip r:embed="rId6">
            <a:alphaModFix/>
          </a:blip>
          <a:srcRect b="0" l="46512" r="20210" t="0"/>
          <a:stretch/>
        </p:blipFill>
        <p:spPr>
          <a:xfrm>
            <a:off x="701849" y="4138875"/>
            <a:ext cx="1761174" cy="20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113"/>
          <p:cNvPicPr preferRelativeResize="0"/>
          <p:nvPr/>
        </p:nvPicPr>
        <p:blipFill rotWithShape="1">
          <a:blip r:embed="rId6">
            <a:alphaModFix/>
          </a:blip>
          <a:srcRect b="0" l="0" r="89754" t="0"/>
          <a:stretch/>
        </p:blipFill>
        <p:spPr>
          <a:xfrm>
            <a:off x="381000" y="4667400"/>
            <a:ext cx="542277" cy="20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113"/>
          <p:cNvPicPr preferRelativeResize="0"/>
          <p:nvPr/>
        </p:nvPicPr>
        <p:blipFill rotWithShape="1">
          <a:blip r:embed="rId6">
            <a:alphaModFix/>
          </a:blip>
          <a:srcRect b="0" l="79662" r="0" t="0"/>
          <a:stretch/>
        </p:blipFill>
        <p:spPr>
          <a:xfrm>
            <a:off x="698474" y="4667400"/>
            <a:ext cx="1076324" cy="20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14"/>
          <p:cNvSpPr txBox="1"/>
          <p:nvPr/>
        </p:nvSpPr>
        <p:spPr>
          <a:xfrm>
            <a:off x="5020325" y="1339225"/>
            <a:ext cx="4125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= 0,3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= 0,7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7" name="Google Shape;1147;p114"/>
          <p:cNvSpPr/>
          <p:nvPr/>
        </p:nvSpPr>
        <p:spPr>
          <a:xfrm>
            <a:off x="190700" y="3485182"/>
            <a:ext cx="4567200" cy="147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8" name="Google Shape;1148;p11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atualizando coluna Idade</a:t>
            </a:r>
            <a:endParaRPr/>
          </a:p>
        </p:txBody>
      </p:sp>
      <p:sp>
        <p:nvSpPr>
          <p:cNvPr id="1149" name="Google Shape;1149;p114"/>
          <p:cNvSpPr/>
          <p:nvPr/>
        </p:nvSpPr>
        <p:spPr>
          <a:xfrm>
            <a:off x="190690" y="1319113"/>
            <a:ext cx="4567200" cy="9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50" name="Google Shape;1150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30" y="1419065"/>
            <a:ext cx="4323624" cy="710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1" name="Google Shape;1151;p114"/>
          <p:cNvGraphicFramePr/>
          <p:nvPr/>
        </p:nvGraphicFramePr>
        <p:xfrm>
          <a:off x="515625" y="23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676300"/>
                <a:gridCol w="647225"/>
                <a:gridCol w="1080675"/>
                <a:gridCol w="987875"/>
                <a:gridCol w="1131375"/>
                <a:gridCol w="1584975"/>
                <a:gridCol w="940875"/>
                <a:gridCol w="670825"/>
              </a:tblGrid>
              <a:tr h="45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Viés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30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3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pic>
        <p:nvPicPr>
          <p:cNvPr id="1152" name="Google Shape;1152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9022" y="1339225"/>
            <a:ext cx="278250" cy="3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4725" y="1754600"/>
            <a:ext cx="675250" cy="265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4" name="Google Shape;1154;p114"/>
          <p:cNvGraphicFramePr/>
          <p:nvPr/>
        </p:nvGraphicFramePr>
        <p:xfrm>
          <a:off x="7869858" y="1661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10763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0,1275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55" name="Google Shape;1155;p114"/>
          <p:cNvSpPr txBox="1"/>
          <p:nvPr/>
        </p:nvSpPr>
        <p:spPr>
          <a:xfrm>
            <a:off x="7354338" y="1261075"/>
            <a:ext cx="1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Média do erro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56" name="Google Shape;1156;p114"/>
          <p:cNvPicPr preferRelativeResize="0"/>
          <p:nvPr/>
        </p:nvPicPr>
        <p:blipFill rotWithShape="1">
          <a:blip r:embed="rId6">
            <a:alphaModFix/>
          </a:blip>
          <a:srcRect b="0" l="0" r="53488" t="0"/>
          <a:stretch/>
        </p:blipFill>
        <p:spPr>
          <a:xfrm>
            <a:off x="381000" y="3610350"/>
            <a:ext cx="2461598" cy="20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114"/>
          <p:cNvPicPr preferRelativeResize="0"/>
          <p:nvPr/>
        </p:nvPicPr>
        <p:blipFill rotWithShape="1">
          <a:blip r:embed="rId6">
            <a:alphaModFix/>
          </a:blip>
          <a:srcRect b="0" l="46512" r="20210" t="0"/>
          <a:stretch/>
        </p:blipFill>
        <p:spPr>
          <a:xfrm>
            <a:off x="701849" y="4138875"/>
            <a:ext cx="1761174" cy="20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114"/>
          <p:cNvPicPr preferRelativeResize="0"/>
          <p:nvPr/>
        </p:nvPicPr>
        <p:blipFill rotWithShape="1">
          <a:blip r:embed="rId6">
            <a:alphaModFix/>
          </a:blip>
          <a:srcRect b="0" l="0" r="89754" t="0"/>
          <a:stretch/>
        </p:blipFill>
        <p:spPr>
          <a:xfrm>
            <a:off x="381000" y="4667400"/>
            <a:ext cx="542277" cy="20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114"/>
          <p:cNvPicPr preferRelativeResize="0"/>
          <p:nvPr/>
        </p:nvPicPr>
        <p:blipFill rotWithShape="1">
          <a:blip r:embed="rId6">
            <a:alphaModFix/>
          </a:blip>
          <a:srcRect b="0" l="79662" r="0" t="0"/>
          <a:stretch/>
        </p:blipFill>
        <p:spPr>
          <a:xfrm>
            <a:off x="698474" y="4667400"/>
            <a:ext cx="1076324" cy="208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0" name="Google Shape;1160;p114"/>
          <p:cNvCxnSpPr/>
          <p:nvPr/>
        </p:nvCxnSpPr>
        <p:spPr>
          <a:xfrm rot="10800000">
            <a:off x="795036" y="3175200"/>
            <a:ext cx="441600" cy="14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1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🎯Verificar a hora de parar treino</a:t>
            </a:r>
            <a:endParaRPr/>
          </a:p>
        </p:txBody>
      </p:sp>
      <p:sp>
        <p:nvSpPr>
          <p:cNvPr id="1166" name="Google Shape;1166;p115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Ao trocar os pesos, um novo erro vai ser gerado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Se o erro não melhorar vamos parar de treinar!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Mas o erro não pode ser analisado contra o próprio treinamento, mas sim o conjunto validação!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1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👩🏻‍🔬Resultado final?</a:t>
            </a:r>
            <a:endParaRPr/>
          </a:p>
        </p:txBody>
      </p:sp>
      <p:sp>
        <p:nvSpPr>
          <p:cNvPr id="1172" name="Google Shape;1172;p116"/>
          <p:cNvSpPr txBox="1"/>
          <p:nvPr>
            <p:ph idx="1" type="body"/>
          </p:nvPr>
        </p:nvSpPr>
        <p:spPr>
          <a:xfrm>
            <a:off x="614025" y="2449275"/>
            <a:ext cx="7929000" cy="2700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Pelos valores de peso sabemos quais colunas têm maior importância!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No caso: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Batimentos cardíacos (-1,80)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Nível de açúcar no sangue (1,51)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Colesterol (1,11)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 Loss caiu de 3,5033 para 1,061</a:t>
            </a:r>
            <a:endParaRPr/>
          </a:p>
        </p:txBody>
      </p:sp>
      <p:graphicFrame>
        <p:nvGraphicFramePr>
          <p:cNvPr id="1173" name="Google Shape;1173;p116"/>
          <p:cNvGraphicFramePr/>
          <p:nvPr/>
        </p:nvGraphicFramePr>
        <p:xfrm>
          <a:off x="560600" y="144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{40B45FF4-3386-4E7A-84A1-796B9B40FB6F}</a:tableStyleId>
              </a:tblPr>
              <a:tblGrid>
                <a:gridCol w="759475"/>
                <a:gridCol w="567725"/>
                <a:gridCol w="1073100"/>
                <a:gridCol w="981725"/>
                <a:gridCol w="1256650"/>
                <a:gridCol w="1289375"/>
                <a:gridCol w="1297025"/>
                <a:gridCol w="899750"/>
              </a:tblGrid>
              <a:tr h="33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Idade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Pressão Sanguínea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Colesterol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Batimentos Cardíacos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Açúcar no Sangue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Familiar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Viés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316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-0,059166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-0,557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0,815216363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1,110260429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-1,80436733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1,513330922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0,350473197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0,24097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C6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1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</a:t>
            </a:r>
            <a:r>
              <a:rPr lang="en"/>
              <a:t>ão logística manual no colab</a:t>
            </a:r>
            <a:endParaRPr/>
          </a:p>
        </p:txBody>
      </p:sp>
      <p:sp>
        <p:nvSpPr>
          <p:cNvPr id="1179" name="Google Shape;1179;p117"/>
          <p:cNvSpPr txBox="1"/>
          <p:nvPr>
            <p:ph idx="1" type="body"/>
          </p:nvPr>
        </p:nvSpPr>
        <p:spPr>
          <a:xfrm>
            <a:off x="614025" y="1369625"/>
            <a:ext cx="7929000" cy="30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https://colab.research.google.com/drive/1tC__qZFGiXhd1ciCvbrxgyG-Hf3hOzPD#scrollTo=RfzgPu96RuLN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1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Prática</a:t>
            </a:r>
            <a:endParaRPr/>
          </a:p>
        </p:txBody>
      </p:sp>
      <p:sp>
        <p:nvSpPr>
          <p:cNvPr id="1185" name="Google Shape;1185;p118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https://docs.google.com/spreadsheets/d/17YQwqcjT9LXReF5_R630B75kYSxBKl3J9rsS5zxwbCI/edit?gid=2087758509#gid=2087758509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https://www.kaggle.com/datasets/johnsmith88/heart-disease-dataset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1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1191" name="Google Shape;1191;p119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https://spectrum.ieee.org/dartmouth-ai-workshop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https://www.cantorsparadise.org/the-birthplace-of-ai-9ab7d4e5fb00/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https://www.youtube.com/watch?v=a0_lo_GDcFw&amp;t=315s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https://timeline.historyofdatascience.com/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https://github.com/fastai/fastbook/blob/master/01_intro.ipynb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tável">
  <a:themeElements>
    <a:clrScheme name="Personalizada 1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359E45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